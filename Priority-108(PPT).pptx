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946" y="3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0A1F4A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5B647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80"/>
              </a:lnSpc>
            </a:pPr>
            <a:r>
              <a:rPr spc="-10" dirty="0"/>
              <a:t>INTELLATHON</a:t>
            </a:r>
            <a:r>
              <a:rPr spc="-15" dirty="0"/>
              <a:t> </a:t>
            </a:r>
            <a:r>
              <a:rPr dirty="0"/>
              <a:t>'26</a:t>
            </a:r>
            <a:r>
              <a:rPr spc="280" dirty="0"/>
              <a:t> </a:t>
            </a:r>
            <a:r>
              <a:rPr dirty="0"/>
              <a:t>|</a:t>
            </a:r>
            <a:r>
              <a:rPr spc="280" dirty="0"/>
              <a:t> </a:t>
            </a:r>
            <a:r>
              <a:rPr dirty="0"/>
              <a:t>PPT</a:t>
            </a:r>
            <a:r>
              <a:rPr spc="-10" dirty="0"/>
              <a:t> </a:t>
            </a:r>
            <a:r>
              <a:rPr dirty="0"/>
              <a:t>Submission</a:t>
            </a:r>
            <a:r>
              <a:rPr spc="-10" dirty="0"/>
              <a:t> 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1" i="0">
                <a:solidFill>
                  <a:srgbClr val="0A1F4A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5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0A1F4A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5B647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80"/>
              </a:lnSpc>
            </a:pPr>
            <a:r>
              <a:rPr spc="-10" dirty="0"/>
              <a:t>INTELLATHON</a:t>
            </a:r>
            <a:r>
              <a:rPr spc="-15" dirty="0"/>
              <a:t> </a:t>
            </a:r>
            <a:r>
              <a:rPr dirty="0"/>
              <a:t>'26</a:t>
            </a:r>
            <a:r>
              <a:rPr spc="280" dirty="0"/>
              <a:t> </a:t>
            </a:r>
            <a:r>
              <a:rPr dirty="0"/>
              <a:t>|</a:t>
            </a:r>
            <a:r>
              <a:rPr spc="280" dirty="0"/>
              <a:t> </a:t>
            </a:r>
            <a:r>
              <a:rPr dirty="0"/>
              <a:t>PPT</a:t>
            </a:r>
            <a:r>
              <a:rPr spc="-10" dirty="0"/>
              <a:t> </a:t>
            </a:r>
            <a:r>
              <a:rPr dirty="0"/>
              <a:t>Submission</a:t>
            </a:r>
            <a:r>
              <a:rPr spc="-10" dirty="0"/>
              <a:t> 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1" i="0">
                <a:solidFill>
                  <a:srgbClr val="0A1F4A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5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0A1F4A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5B647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80"/>
              </a:lnSpc>
            </a:pPr>
            <a:r>
              <a:rPr spc="-10" dirty="0"/>
              <a:t>INTELLATHON</a:t>
            </a:r>
            <a:r>
              <a:rPr spc="-15" dirty="0"/>
              <a:t> </a:t>
            </a:r>
            <a:r>
              <a:rPr dirty="0"/>
              <a:t>'26</a:t>
            </a:r>
            <a:r>
              <a:rPr spc="280" dirty="0"/>
              <a:t> </a:t>
            </a:r>
            <a:r>
              <a:rPr dirty="0"/>
              <a:t>|</a:t>
            </a:r>
            <a:r>
              <a:rPr spc="280" dirty="0"/>
              <a:t> </a:t>
            </a:r>
            <a:r>
              <a:rPr dirty="0"/>
              <a:t>PPT</a:t>
            </a:r>
            <a:r>
              <a:rPr spc="-10" dirty="0"/>
              <a:t> </a:t>
            </a:r>
            <a:r>
              <a:rPr dirty="0"/>
              <a:t>Submission</a:t>
            </a:r>
            <a:r>
              <a:rPr spc="-10" dirty="0"/>
              <a:t> Template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1" i="0">
                <a:solidFill>
                  <a:srgbClr val="0A1F4A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5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0A1F4A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5B647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80"/>
              </a:lnSpc>
            </a:pPr>
            <a:r>
              <a:rPr spc="-10" dirty="0"/>
              <a:t>INTELLATHON</a:t>
            </a:r>
            <a:r>
              <a:rPr spc="-15" dirty="0"/>
              <a:t> </a:t>
            </a:r>
            <a:r>
              <a:rPr dirty="0"/>
              <a:t>'26</a:t>
            </a:r>
            <a:r>
              <a:rPr spc="280" dirty="0"/>
              <a:t> </a:t>
            </a:r>
            <a:r>
              <a:rPr dirty="0"/>
              <a:t>|</a:t>
            </a:r>
            <a:r>
              <a:rPr spc="280" dirty="0"/>
              <a:t> </a:t>
            </a:r>
            <a:r>
              <a:rPr dirty="0"/>
              <a:t>PPT</a:t>
            </a:r>
            <a:r>
              <a:rPr spc="-10" dirty="0"/>
              <a:t> </a:t>
            </a:r>
            <a:r>
              <a:rPr dirty="0"/>
              <a:t>Submission</a:t>
            </a:r>
            <a:r>
              <a:rPr spc="-10" dirty="0"/>
              <a:t> Template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1" i="0">
                <a:solidFill>
                  <a:srgbClr val="0A1F4A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5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5B647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80"/>
              </a:lnSpc>
            </a:pPr>
            <a:r>
              <a:rPr spc="-10" dirty="0"/>
              <a:t>INTELLATHON</a:t>
            </a:r>
            <a:r>
              <a:rPr spc="-15" dirty="0"/>
              <a:t> </a:t>
            </a:r>
            <a:r>
              <a:rPr dirty="0"/>
              <a:t>'26</a:t>
            </a:r>
            <a:r>
              <a:rPr spc="280" dirty="0"/>
              <a:t> </a:t>
            </a:r>
            <a:r>
              <a:rPr dirty="0"/>
              <a:t>|</a:t>
            </a:r>
            <a:r>
              <a:rPr spc="280" dirty="0"/>
              <a:t> </a:t>
            </a:r>
            <a:r>
              <a:rPr dirty="0"/>
              <a:t>PPT</a:t>
            </a:r>
            <a:r>
              <a:rPr spc="-10" dirty="0"/>
              <a:t> </a:t>
            </a:r>
            <a:r>
              <a:rPr dirty="0"/>
              <a:t>Submission</a:t>
            </a:r>
            <a:r>
              <a:rPr spc="-10" dirty="0"/>
              <a:t> Template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1" i="0">
                <a:solidFill>
                  <a:srgbClr val="0A1F4A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5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1679" y="959230"/>
            <a:ext cx="9824085" cy="665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0A1F4A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41679" y="9706419"/>
            <a:ext cx="3276600" cy="196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5B647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80"/>
              </a:lnSpc>
            </a:pPr>
            <a:r>
              <a:rPr spc="-10" dirty="0"/>
              <a:t>INTELLATHON</a:t>
            </a:r>
            <a:r>
              <a:rPr spc="-15" dirty="0"/>
              <a:t> </a:t>
            </a:r>
            <a:r>
              <a:rPr dirty="0"/>
              <a:t>'26</a:t>
            </a:r>
            <a:r>
              <a:rPr spc="280" dirty="0"/>
              <a:t> </a:t>
            </a:r>
            <a:r>
              <a:rPr dirty="0"/>
              <a:t>|</a:t>
            </a:r>
            <a:r>
              <a:rPr spc="280" dirty="0"/>
              <a:t> </a:t>
            </a:r>
            <a:r>
              <a:rPr dirty="0"/>
              <a:t>PPT</a:t>
            </a:r>
            <a:r>
              <a:rPr spc="-10" dirty="0"/>
              <a:t> </a:t>
            </a:r>
            <a:r>
              <a:rPr dirty="0"/>
              <a:t>Submission</a:t>
            </a:r>
            <a:r>
              <a:rPr spc="-10" dirty="0"/>
              <a:t> 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396300" y="9692131"/>
            <a:ext cx="287655" cy="215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rgbClr val="0A1F4A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5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0.jpg"/><Relationship Id="rId7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2.png"/><Relationship Id="rId10" Type="http://schemas.openxmlformats.org/officeDocument/2006/relationships/image" Target="../media/image19.png"/><Relationship Id="rId4" Type="http://schemas.openxmlformats.org/officeDocument/2006/relationships/image" Target="../media/image11.jp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164592"/>
              <a:ext cx="18288000" cy="10122535"/>
            </a:xfrm>
            <a:custGeom>
              <a:avLst/>
              <a:gdLst/>
              <a:ahLst/>
              <a:cxnLst/>
              <a:rect l="l" t="t" r="r" b="b"/>
              <a:pathLst>
                <a:path w="18288000" h="10122535">
                  <a:moveTo>
                    <a:pt x="0" y="10122407"/>
                  </a:moveTo>
                  <a:lnTo>
                    <a:pt x="18287998" y="10122407"/>
                  </a:lnTo>
                  <a:lnTo>
                    <a:pt x="18287998" y="0"/>
                  </a:lnTo>
                  <a:lnTo>
                    <a:pt x="0" y="0"/>
                  </a:lnTo>
                  <a:lnTo>
                    <a:pt x="0" y="10122407"/>
                  </a:lnTo>
                  <a:close/>
                </a:path>
              </a:pathLst>
            </a:custGeom>
            <a:solidFill>
              <a:srgbClr val="131B4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8283555" cy="165100"/>
            </a:xfrm>
            <a:custGeom>
              <a:avLst/>
              <a:gdLst/>
              <a:ahLst/>
              <a:cxnLst/>
              <a:rect l="l" t="t" r="r" b="b"/>
              <a:pathLst>
                <a:path w="18283555" h="165100">
                  <a:moveTo>
                    <a:pt x="18283213" y="164592"/>
                  </a:moveTo>
                  <a:lnTo>
                    <a:pt x="0" y="164592"/>
                  </a:lnTo>
                  <a:lnTo>
                    <a:pt x="0" y="0"/>
                  </a:lnTo>
                  <a:lnTo>
                    <a:pt x="18283213" y="0"/>
                  </a:lnTo>
                  <a:lnTo>
                    <a:pt x="18283213" y="164592"/>
                  </a:lnTo>
                  <a:close/>
                </a:path>
              </a:pathLst>
            </a:custGeom>
            <a:solidFill>
              <a:srgbClr val="1D79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950439" y="0"/>
              <a:ext cx="3337560" cy="3566160"/>
            </a:xfrm>
            <a:custGeom>
              <a:avLst/>
              <a:gdLst/>
              <a:ahLst/>
              <a:cxnLst/>
              <a:rect l="l" t="t" r="r" b="b"/>
              <a:pathLst>
                <a:path w="3337559" h="3566160">
                  <a:moveTo>
                    <a:pt x="3259579" y="3553460"/>
                  </a:moveTo>
                  <a:lnTo>
                    <a:pt x="2501140" y="3553460"/>
                  </a:lnTo>
                  <a:lnTo>
                    <a:pt x="2408546" y="3528060"/>
                  </a:lnTo>
                  <a:lnTo>
                    <a:pt x="2362614" y="3528060"/>
                  </a:lnTo>
                  <a:lnTo>
                    <a:pt x="2271510" y="3502660"/>
                  </a:lnTo>
                  <a:lnTo>
                    <a:pt x="2226352" y="3502660"/>
                  </a:lnTo>
                  <a:lnTo>
                    <a:pt x="1918140" y="3413760"/>
                  </a:lnTo>
                  <a:lnTo>
                    <a:pt x="1875312" y="3388360"/>
                  </a:lnTo>
                  <a:lnTo>
                    <a:pt x="1790619" y="3362960"/>
                  </a:lnTo>
                  <a:lnTo>
                    <a:pt x="1748765" y="3337560"/>
                  </a:lnTo>
                  <a:lnTo>
                    <a:pt x="1707249" y="3324860"/>
                  </a:lnTo>
                  <a:lnTo>
                    <a:pt x="1666076" y="3299460"/>
                  </a:lnTo>
                  <a:lnTo>
                    <a:pt x="1625253" y="3286760"/>
                  </a:lnTo>
                  <a:lnTo>
                    <a:pt x="1584785" y="3261360"/>
                  </a:lnTo>
                  <a:lnTo>
                    <a:pt x="1544679" y="3248660"/>
                  </a:lnTo>
                  <a:lnTo>
                    <a:pt x="1465575" y="3197860"/>
                  </a:lnTo>
                  <a:lnTo>
                    <a:pt x="1426591" y="3185160"/>
                  </a:lnTo>
                  <a:lnTo>
                    <a:pt x="1349785" y="3134360"/>
                  </a:lnTo>
                  <a:lnTo>
                    <a:pt x="1274573" y="3083560"/>
                  </a:lnTo>
                  <a:lnTo>
                    <a:pt x="1201004" y="3032760"/>
                  </a:lnTo>
                  <a:lnTo>
                    <a:pt x="1129125" y="2981960"/>
                  </a:lnTo>
                  <a:lnTo>
                    <a:pt x="1093835" y="2956560"/>
                  </a:lnTo>
                  <a:lnTo>
                    <a:pt x="1058986" y="2918460"/>
                  </a:lnTo>
                  <a:lnTo>
                    <a:pt x="990635" y="2867660"/>
                  </a:lnTo>
                  <a:lnTo>
                    <a:pt x="957146" y="2842260"/>
                  </a:lnTo>
                  <a:lnTo>
                    <a:pt x="924123" y="2804160"/>
                  </a:lnTo>
                  <a:lnTo>
                    <a:pt x="891571" y="2778760"/>
                  </a:lnTo>
                  <a:lnTo>
                    <a:pt x="859497" y="2740660"/>
                  </a:lnTo>
                  <a:lnTo>
                    <a:pt x="827906" y="2715260"/>
                  </a:lnTo>
                  <a:lnTo>
                    <a:pt x="796806" y="2677160"/>
                  </a:lnTo>
                  <a:lnTo>
                    <a:pt x="766202" y="2651760"/>
                  </a:lnTo>
                  <a:lnTo>
                    <a:pt x="736100" y="2613660"/>
                  </a:lnTo>
                  <a:lnTo>
                    <a:pt x="706506" y="2575560"/>
                  </a:lnTo>
                  <a:lnTo>
                    <a:pt x="677427" y="2550160"/>
                  </a:lnTo>
                  <a:lnTo>
                    <a:pt x="648868" y="2512060"/>
                  </a:lnTo>
                  <a:lnTo>
                    <a:pt x="620836" y="2473960"/>
                  </a:lnTo>
                  <a:lnTo>
                    <a:pt x="593337" y="2448560"/>
                  </a:lnTo>
                  <a:lnTo>
                    <a:pt x="566376" y="2410460"/>
                  </a:lnTo>
                  <a:lnTo>
                    <a:pt x="539961" y="2372360"/>
                  </a:lnTo>
                  <a:lnTo>
                    <a:pt x="514097" y="2334260"/>
                  </a:lnTo>
                  <a:lnTo>
                    <a:pt x="488789" y="2296160"/>
                  </a:lnTo>
                  <a:lnTo>
                    <a:pt x="464046" y="2258060"/>
                  </a:lnTo>
                  <a:lnTo>
                    <a:pt x="439871" y="2219960"/>
                  </a:lnTo>
                  <a:lnTo>
                    <a:pt x="416272" y="2181860"/>
                  </a:lnTo>
                  <a:lnTo>
                    <a:pt x="393255" y="2143760"/>
                  </a:lnTo>
                  <a:lnTo>
                    <a:pt x="370826" y="2105660"/>
                  </a:lnTo>
                  <a:lnTo>
                    <a:pt x="348990" y="2067560"/>
                  </a:lnTo>
                  <a:lnTo>
                    <a:pt x="327754" y="2029460"/>
                  </a:lnTo>
                  <a:lnTo>
                    <a:pt x="307125" y="1991360"/>
                  </a:lnTo>
                  <a:lnTo>
                    <a:pt x="287108" y="1953260"/>
                  </a:lnTo>
                  <a:lnTo>
                    <a:pt x="267709" y="1902460"/>
                  </a:lnTo>
                  <a:lnTo>
                    <a:pt x="248934" y="1864360"/>
                  </a:lnTo>
                  <a:lnTo>
                    <a:pt x="230790" y="1826260"/>
                  </a:lnTo>
                  <a:lnTo>
                    <a:pt x="213283" y="1788160"/>
                  </a:lnTo>
                  <a:lnTo>
                    <a:pt x="196419" y="1737360"/>
                  </a:lnTo>
                  <a:lnTo>
                    <a:pt x="180203" y="1699260"/>
                  </a:lnTo>
                  <a:lnTo>
                    <a:pt x="164643" y="1648460"/>
                  </a:lnTo>
                  <a:lnTo>
                    <a:pt x="149743" y="1610360"/>
                  </a:lnTo>
                  <a:lnTo>
                    <a:pt x="135511" y="1572260"/>
                  </a:lnTo>
                  <a:lnTo>
                    <a:pt x="121952" y="1521460"/>
                  </a:lnTo>
                  <a:lnTo>
                    <a:pt x="109072" y="1483360"/>
                  </a:lnTo>
                  <a:lnTo>
                    <a:pt x="96878" y="1432560"/>
                  </a:lnTo>
                  <a:lnTo>
                    <a:pt x="85376" y="1394460"/>
                  </a:lnTo>
                  <a:lnTo>
                    <a:pt x="74572" y="1343660"/>
                  </a:lnTo>
                  <a:lnTo>
                    <a:pt x="64471" y="1305560"/>
                  </a:lnTo>
                  <a:lnTo>
                    <a:pt x="55081" y="1254760"/>
                  </a:lnTo>
                  <a:lnTo>
                    <a:pt x="46406" y="1203960"/>
                  </a:lnTo>
                  <a:lnTo>
                    <a:pt x="38454" y="1165860"/>
                  </a:lnTo>
                  <a:lnTo>
                    <a:pt x="31230" y="1115060"/>
                  </a:lnTo>
                  <a:lnTo>
                    <a:pt x="24741" y="1076960"/>
                  </a:lnTo>
                  <a:lnTo>
                    <a:pt x="18992" y="1026160"/>
                  </a:lnTo>
                  <a:lnTo>
                    <a:pt x="13990" y="975360"/>
                  </a:lnTo>
                  <a:lnTo>
                    <a:pt x="9740" y="924560"/>
                  </a:lnTo>
                  <a:lnTo>
                    <a:pt x="6250" y="886460"/>
                  </a:lnTo>
                  <a:lnTo>
                    <a:pt x="3525" y="835660"/>
                  </a:lnTo>
                  <a:lnTo>
                    <a:pt x="1570" y="784860"/>
                  </a:lnTo>
                  <a:lnTo>
                    <a:pt x="393" y="734060"/>
                  </a:lnTo>
                  <a:lnTo>
                    <a:pt x="0" y="695959"/>
                  </a:lnTo>
                  <a:lnTo>
                    <a:pt x="393" y="645159"/>
                  </a:lnTo>
                  <a:lnTo>
                    <a:pt x="1570" y="594359"/>
                  </a:lnTo>
                  <a:lnTo>
                    <a:pt x="3525" y="543559"/>
                  </a:lnTo>
                  <a:lnTo>
                    <a:pt x="6250" y="505459"/>
                  </a:lnTo>
                  <a:lnTo>
                    <a:pt x="9740" y="454659"/>
                  </a:lnTo>
                  <a:lnTo>
                    <a:pt x="13990" y="403859"/>
                  </a:lnTo>
                  <a:lnTo>
                    <a:pt x="18992" y="365759"/>
                  </a:lnTo>
                  <a:lnTo>
                    <a:pt x="24741" y="314959"/>
                  </a:lnTo>
                  <a:lnTo>
                    <a:pt x="31230" y="264159"/>
                  </a:lnTo>
                  <a:lnTo>
                    <a:pt x="38454" y="226059"/>
                  </a:lnTo>
                  <a:lnTo>
                    <a:pt x="46406" y="175259"/>
                  </a:lnTo>
                  <a:lnTo>
                    <a:pt x="55081" y="124459"/>
                  </a:lnTo>
                  <a:lnTo>
                    <a:pt x="64471" y="86359"/>
                  </a:lnTo>
                  <a:lnTo>
                    <a:pt x="74572" y="35559"/>
                  </a:lnTo>
                  <a:lnTo>
                    <a:pt x="84656" y="0"/>
                  </a:lnTo>
                  <a:lnTo>
                    <a:pt x="3337560" y="0"/>
                  </a:lnTo>
                  <a:lnTo>
                    <a:pt x="3337560" y="3532068"/>
                  </a:lnTo>
                  <a:lnTo>
                    <a:pt x="3259579" y="3553460"/>
                  </a:lnTo>
                  <a:close/>
                </a:path>
                <a:path w="3337559" h="3566160">
                  <a:moveTo>
                    <a:pt x="3118953" y="3566160"/>
                  </a:moveTo>
                  <a:lnTo>
                    <a:pt x="2641766" y="3566160"/>
                  </a:lnTo>
                  <a:lnTo>
                    <a:pt x="2594667" y="3553460"/>
                  </a:lnTo>
                  <a:lnTo>
                    <a:pt x="3166052" y="3553460"/>
                  </a:lnTo>
                  <a:lnTo>
                    <a:pt x="3118953" y="3566160"/>
                  </a:lnTo>
                  <a:close/>
                </a:path>
              </a:pathLst>
            </a:custGeom>
            <a:solidFill>
              <a:srgbClr val="1D2661">
                <a:alpha val="4862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7820660"/>
              <a:ext cx="2743200" cy="2466340"/>
            </a:xfrm>
            <a:custGeom>
              <a:avLst/>
              <a:gdLst/>
              <a:ahLst/>
              <a:cxnLst/>
              <a:rect l="l" t="t" r="r" b="b"/>
              <a:pathLst>
                <a:path w="2743200" h="2466340">
                  <a:moveTo>
                    <a:pt x="555284" y="12699"/>
                  </a:moveTo>
                  <a:lnTo>
                    <a:pt x="267675" y="12699"/>
                  </a:lnTo>
                  <a:lnTo>
                    <a:pt x="315366" y="0"/>
                  </a:lnTo>
                  <a:lnTo>
                    <a:pt x="507593" y="0"/>
                  </a:lnTo>
                  <a:lnTo>
                    <a:pt x="555284" y="12699"/>
                  </a:lnTo>
                  <a:close/>
                </a:path>
                <a:path w="2743200" h="2466340">
                  <a:moveTo>
                    <a:pt x="696778" y="25399"/>
                  </a:moveTo>
                  <a:lnTo>
                    <a:pt x="126181" y="25399"/>
                  </a:lnTo>
                  <a:lnTo>
                    <a:pt x="173074" y="12699"/>
                  </a:lnTo>
                  <a:lnTo>
                    <a:pt x="649885" y="12699"/>
                  </a:lnTo>
                  <a:lnTo>
                    <a:pt x="696778" y="25399"/>
                  </a:lnTo>
                  <a:close/>
                </a:path>
                <a:path w="2743200" h="2466340">
                  <a:moveTo>
                    <a:pt x="789698" y="38099"/>
                  </a:moveTo>
                  <a:lnTo>
                    <a:pt x="33261" y="38099"/>
                  </a:lnTo>
                  <a:lnTo>
                    <a:pt x="79574" y="25399"/>
                  </a:lnTo>
                  <a:lnTo>
                    <a:pt x="743385" y="25399"/>
                  </a:lnTo>
                  <a:lnTo>
                    <a:pt x="789698" y="38099"/>
                  </a:lnTo>
                  <a:close/>
                </a:path>
                <a:path w="2743200" h="2466340">
                  <a:moveTo>
                    <a:pt x="2739321" y="2466339"/>
                  </a:moveTo>
                  <a:lnTo>
                    <a:pt x="0" y="2466339"/>
                  </a:lnTo>
                  <a:lnTo>
                    <a:pt x="0" y="38099"/>
                  </a:lnTo>
                  <a:lnTo>
                    <a:pt x="835708" y="38099"/>
                  </a:lnTo>
                  <a:lnTo>
                    <a:pt x="926778" y="63499"/>
                  </a:lnTo>
                  <a:lnTo>
                    <a:pt x="1277042" y="165099"/>
                  </a:lnTo>
                  <a:lnTo>
                    <a:pt x="1319093" y="190499"/>
                  </a:lnTo>
                  <a:lnTo>
                    <a:pt x="1360728" y="203199"/>
                  </a:lnTo>
                  <a:lnTo>
                    <a:pt x="1401937" y="228599"/>
                  </a:lnTo>
                  <a:lnTo>
                    <a:pt x="1442712" y="241299"/>
                  </a:lnTo>
                  <a:lnTo>
                    <a:pt x="1483042" y="266699"/>
                  </a:lnTo>
                  <a:lnTo>
                    <a:pt x="1522919" y="279399"/>
                  </a:lnTo>
                  <a:lnTo>
                    <a:pt x="1562332" y="304799"/>
                  </a:lnTo>
                  <a:lnTo>
                    <a:pt x="1639733" y="355599"/>
                  </a:lnTo>
                  <a:lnTo>
                    <a:pt x="1715169" y="406399"/>
                  </a:lnTo>
                  <a:lnTo>
                    <a:pt x="1788566" y="457199"/>
                  </a:lnTo>
                  <a:lnTo>
                    <a:pt x="1824476" y="482599"/>
                  </a:lnTo>
                  <a:lnTo>
                    <a:pt x="1859848" y="507999"/>
                  </a:lnTo>
                  <a:lnTo>
                    <a:pt x="1894673" y="533399"/>
                  </a:lnTo>
                  <a:lnTo>
                    <a:pt x="1928940" y="558799"/>
                  </a:lnTo>
                  <a:lnTo>
                    <a:pt x="1962642" y="596899"/>
                  </a:lnTo>
                  <a:lnTo>
                    <a:pt x="1995768" y="622299"/>
                  </a:lnTo>
                  <a:lnTo>
                    <a:pt x="2028310" y="660399"/>
                  </a:lnTo>
                  <a:lnTo>
                    <a:pt x="2060257" y="685799"/>
                  </a:lnTo>
                  <a:lnTo>
                    <a:pt x="2091600" y="723899"/>
                  </a:lnTo>
                  <a:lnTo>
                    <a:pt x="2122331" y="749299"/>
                  </a:lnTo>
                  <a:lnTo>
                    <a:pt x="2152439" y="787399"/>
                  </a:lnTo>
                  <a:lnTo>
                    <a:pt x="2181915" y="812799"/>
                  </a:lnTo>
                  <a:lnTo>
                    <a:pt x="2210750" y="850899"/>
                  </a:lnTo>
                  <a:lnTo>
                    <a:pt x="2238935" y="888999"/>
                  </a:lnTo>
                  <a:lnTo>
                    <a:pt x="2266459" y="927099"/>
                  </a:lnTo>
                  <a:lnTo>
                    <a:pt x="2293315" y="952499"/>
                  </a:lnTo>
                  <a:lnTo>
                    <a:pt x="2319491" y="990599"/>
                  </a:lnTo>
                  <a:lnTo>
                    <a:pt x="2344980" y="1028699"/>
                  </a:lnTo>
                  <a:lnTo>
                    <a:pt x="2369771" y="1066799"/>
                  </a:lnTo>
                  <a:lnTo>
                    <a:pt x="2393856" y="1104899"/>
                  </a:lnTo>
                  <a:lnTo>
                    <a:pt x="2417224" y="1142999"/>
                  </a:lnTo>
                  <a:lnTo>
                    <a:pt x="2439867" y="1181099"/>
                  </a:lnTo>
                  <a:lnTo>
                    <a:pt x="2461775" y="1219199"/>
                  </a:lnTo>
                  <a:lnTo>
                    <a:pt x="2482938" y="1269999"/>
                  </a:lnTo>
                  <a:lnTo>
                    <a:pt x="2503348" y="1308099"/>
                  </a:lnTo>
                  <a:lnTo>
                    <a:pt x="2522995" y="1346199"/>
                  </a:lnTo>
                  <a:lnTo>
                    <a:pt x="2541870" y="1384299"/>
                  </a:lnTo>
                  <a:lnTo>
                    <a:pt x="2559962" y="1422399"/>
                  </a:lnTo>
                  <a:lnTo>
                    <a:pt x="2577264" y="1473199"/>
                  </a:lnTo>
                  <a:lnTo>
                    <a:pt x="2593765" y="1511299"/>
                  </a:lnTo>
                  <a:lnTo>
                    <a:pt x="2609456" y="1549399"/>
                  </a:lnTo>
                  <a:lnTo>
                    <a:pt x="2624327" y="1600199"/>
                  </a:lnTo>
                  <a:lnTo>
                    <a:pt x="2638370" y="1638299"/>
                  </a:lnTo>
                  <a:lnTo>
                    <a:pt x="2651575" y="1689099"/>
                  </a:lnTo>
                  <a:lnTo>
                    <a:pt x="2663933" y="1727199"/>
                  </a:lnTo>
                  <a:lnTo>
                    <a:pt x="2675434" y="1777999"/>
                  </a:lnTo>
                  <a:lnTo>
                    <a:pt x="2686068" y="1816099"/>
                  </a:lnTo>
                  <a:lnTo>
                    <a:pt x="2695827" y="1866899"/>
                  </a:lnTo>
                  <a:lnTo>
                    <a:pt x="2704701" y="1904999"/>
                  </a:lnTo>
                  <a:lnTo>
                    <a:pt x="2712681" y="1955799"/>
                  </a:lnTo>
                  <a:lnTo>
                    <a:pt x="2719757" y="2006599"/>
                  </a:lnTo>
                  <a:lnTo>
                    <a:pt x="2725920" y="2044699"/>
                  </a:lnTo>
                  <a:lnTo>
                    <a:pt x="2731161" y="2095499"/>
                  </a:lnTo>
                  <a:lnTo>
                    <a:pt x="2735470" y="2146299"/>
                  </a:lnTo>
                  <a:lnTo>
                    <a:pt x="2738837" y="2197099"/>
                  </a:lnTo>
                  <a:lnTo>
                    <a:pt x="2741254" y="2235199"/>
                  </a:lnTo>
                  <a:lnTo>
                    <a:pt x="2742712" y="2285999"/>
                  </a:lnTo>
                  <a:lnTo>
                    <a:pt x="2743199" y="2336799"/>
                  </a:lnTo>
                  <a:lnTo>
                    <a:pt x="2742712" y="2387599"/>
                  </a:lnTo>
                  <a:lnTo>
                    <a:pt x="2741254" y="2425699"/>
                  </a:lnTo>
                  <a:lnTo>
                    <a:pt x="2739321" y="2466339"/>
                  </a:lnTo>
                  <a:close/>
                </a:path>
              </a:pathLst>
            </a:custGeom>
            <a:solidFill>
              <a:srgbClr val="1D794B">
                <a:alpha val="470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197110" y="3545987"/>
            <a:ext cx="8364855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6600" b="1">
                <a:solidFill>
                  <a:schemeClr val="bg1"/>
                </a:solidFill>
              </a:rPr>
              <a:t>INTELLATHON </a:t>
            </a:r>
            <a:r>
              <a:rPr lang="en-IN" sz="6600" b="1" dirty="0">
                <a:solidFill>
                  <a:schemeClr val="bg1"/>
                </a:solidFill>
              </a:rPr>
              <a:t>-26</a:t>
            </a:r>
            <a:endParaRPr sz="6600" b="1" dirty="0">
              <a:solidFill>
                <a:schemeClr val="bg1"/>
              </a:solidFill>
              <a:latin typeface="Cambria"/>
              <a:cs typeface="Cambr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369084" y="576072"/>
            <a:ext cx="8585835" cy="6710680"/>
            <a:chOff x="3369084" y="576072"/>
            <a:chExt cx="8585835" cy="671068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1321" y="576072"/>
              <a:ext cx="1700783" cy="170078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892898" y="4946207"/>
              <a:ext cx="2498090" cy="19050"/>
            </a:xfrm>
            <a:custGeom>
              <a:avLst/>
              <a:gdLst/>
              <a:ahLst/>
              <a:cxnLst/>
              <a:rect l="l" t="t" r="r" b="b"/>
              <a:pathLst>
                <a:path w="2498090" h="19050">
                  <a:moveTo>
                    <a:pt x="0" y="0"/>
                  </a:moveTo>
                  <a:lnTo>
                    <a:pt x="2497621" y="18919"/>
                  </a:lnTo>
                </a:path>
              </a:pathLst>
            </a:custGeom>
            <a:ln w="19049">
              <a:solidFill>
                <a:srgbClr val="D5A3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373847" y="7106746"/>
              <a:ext cx="8576310" cy="175260"/>
            </a:xfrm>
            <a:custGeom>
              <a:avLst/>
              <a:gdLst/>
              <a:ahLst/>
              <a:cxnLst/>
              <a:rect l="l" t="t" r="r" b="b"/>
              <a:pathLst>
                <a:path w="8576310" h="175259">
                  <a:moveTo>
                    <a:pt x="0" y="0"/>
                  </a:moveTo>
                  <a:lnTo>
                    <a:pt x="8575705" y="174993"/>
                  </a:lnTo>
                </a:path>
              </a:pathLst>
            </a:custGeom>
            <a:ln w="9524">
              <a:solidFill>
                <a:srgbClr val="444F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789859" y="2449674"/>
            <a:ext cx="11894820" cy="901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01584" algn="l"/>
                <a:tab pos="7924165" algn="l"/>
              </a:tabLst>
            </a:pPr>
            <a:r>
              <a:rPr sz="1650" b="1" spc="130" dirty="0">
                <a:solidFill>
                  <a:srgbClr val="AAB1D5"/>
                </a:solidFill>
                <a:latin typeface="Calibri"/>
                <a:cs typeface="Calibri"/>
              </a:rPr>
              <a:t>DHANALAKSHMI</a:t>
            </a:r>
            <a:r>
              <a:rPr sz="1650" b="1" spc="315" dirty="0">
                <a:solidFill>
                  <a:srgbClr val="AAB1D5"/>
                </a:solidFill>
                <a:latin typeface="Calibri"/>
                <a:cs typeface="Calibri"/>
              </a:rPr>
              <a:t> </a:t>
            </a:r>
            <a:r>
              <a:rPr sz="1650" b="1" spc="130" dirty="0">
                <a:solidFill>
                  <a:srgbClr val="AAB1D5"/>
                </a:solidFill>
                <a:latin typeface="Calibri"/>
                <a:cs typeface="Calibri"/>
              </a:rPr>
              <a:t>SRINIVASAN</a:t>
            </a:r>
            <a:r>
              <a:rPr sz="1650" b="1" spc="315" dirty="0">
                <a:solidFill>
                  <a:srgbClr val="AAB1D5"/>
                </a:solidFill>
                <a:latin typeface="Calibri"/>
                <a:cs typeface="Calibri"/>
              </a:rPr>
              <a:t> </a:t>
            </a:r>
            <a:r>
              <a:rPr sz="1650" b="1" spc="130" dirty="0">
                <a:solidFill>
                  <a:srgbClr val="AAB1D5"/>
                </a:solidFill>
                <a:latin typeface="Calibri"/>
                <a:cs typeface="Calibri"/>
              </a:rPr>
              <a:t>INSTITUTE</a:t>
            </a:r>
            <a:r>
              <a:rPr sz="1650" b="1" spc="320" dirty="0">
                <a:solidFill>
                  <a:srgbClr val="AAB1D5"/>
                </a:solidFill>
                <a:latin typeface="Calibri"/>
                <a:cs typeface="Calibri"/>
              </a:rPr>
              <a:t> </a:t>
            </a:r>
            <a:r>
              <a:rPr sz="1650" b="1" spc="70" dirty="0">
                <a:solidFill>
                  <a:srgbClr val="AAB1D5"/>
                </a:solidFill>
                <a:latin typeface="Calibri"/>
                <a:cs typeface="Calibri"/>
              </a:rPr>
              <a:t>OF</a:t>
            </a:r>
            <a:r>
              <a:rPr sz="1650" b="1" spc="315" dirty="0">
                <a:solidFill>
                  <a:srgbClr val="AAB1D5"/>
                </a:solidFill>
                <a:latin typeface="Calibri"/>
                <a:cs typeface="Calibri"/>
              </a:rPr>
              <a:t> </a:t>
            </a:r>
            <a:r>
              <a:rPr sz="1650" b="1" spc="125" dirty="0">
                <a:solidFill>
                  <a:srgbClr val="AAB1D5"/>
                </a:solidFill>
                <a:latin typeface="Calibri"/>
                <a:cs typeface="Calibri"/>
              </a:rPr>
              <a:t>RESEARCH</a:t>
            </a:r>
            <a:r>
              <a:rPr sz="1650" b="1" spc="320" dirty="0">
                <a:solidFill>
                  <a:srgbClr val="AAB1D5"/>
                </a:solidFill>
                <a:latin typeface="Calibri"/>
                <a:cs typeface="Calibri"/>
              </a:rPr>
              <a:t> </a:t>
            </a:r>
            <a:r>
              <a:rPr sz="1650" b="1" dirty="0">
                <a:solidFill>
                  <a:srgbClr val="AAB1D5"/>
                </a:solidFill>
                <a:latin typeface="Calibri"/>
                <a:cs typeface="Calibri"/>
              </a:rPr>
              <a:t>&amp;</a:t>
            </a:r>
            <a:r>
              <a:rPr sz="1650" b="1" spc="315" dirty="0">
                <a:solidFill>
                  <a:srgbClr val="AAB1D5"/>
                </a:solidFill>
                <a:latin typeface="Calibri"/>
                <a:cs typeface="Calibri"/>
              </a:rPr>
              <a:t> </a:t>
            </a:r>
            <a:r>
              <a:rPr sz="1650" b="1" spc="120" dirty="0">
                <a:solidFill>
                  <a:srgbClr val="AAB1D5"/>
                </a:solidFill>
                <a:latin typeface="Calibri"/>
                <a:cs typeface="Calibri"/>
              </a:rPr>
              <a:t>TECHNOLOGY</a:t>
            </a:r>
            <a:r>
              <a:rPr sz="1650" b="1" dirty="0">
                <a:solidFill>
                  <a:srgbClr val="AAB1D5"/>
                </a:solidFill>
                <a:latin typeface="Calibri"/>
                <a:cs typeface="Calibri"/>
              </a:rPr>
              <a:t>	</a:t>
            </a:r>
            <a:r>
              <a:rPr sz="1650" b="1" spc="-50" dirty="0">
                <a:solidFill>
                  <a:srgbClr val="AAB1D5"/>
                </a:solidFill>
                <a:latin typeface="Calibri"/>
                <a:cs typeface="Calibri"/>
              </a:rPr>
              <a:t>×</a:t>
            </a:r>
            <a:r>
              <a:rPr sz="1650" b="1" dirty="0">
                <a:solidFill>
                  <a:srgbClr val="AAB1D5"/>
                </a:solidFill>
                <a:latin typeface="Calibri"/>
                <a:cs typeface="Calibri"/>
              </a:rPr>
              <a:t>	</a:t>
            </a:r>
            <a:r>
              <a:rPr sz="1650" b="1" spc="125" dirty="0">
                <a:solidFill>
                  <a:srgbClr val="AAB1D5"/>
                </a:solidFill>
                <a:latin typeface="Calibri"/>
                <a:cs typeface="Calibri"/>
              </a:rPr>
              <a:t>DONGGUK</a:t>
            </a:r>
            <a:r>
              <a:rPr sz="1650" b="1" spc="320" dirty="0">
                <a:solidFill>
                  <a:srgbClr val="AAB1D5"/>
                </a:solidFill>
                <a:latin typeface="Calibri"/>
                <a:cs typeface="Calibri"/>
              </a:rPr>
              <a:t> </a:t>
            </a:r>
            <a:r>
              <a:rPr sz="1650" b="1" spc="130" dirty="0">
                <a:solidFill>
                  <a:srgbClr val="AAB1D5"/>
                </a:solidFill>
                <a:latin typeface="Calibri"/>
                <a:cs typeface="Calibri"/>
              </a:rPr>
              <a:t>UNIVERSITY,</a:t>
            </a:r>
            <a:r>
              <a:rPr sz="1650" b="1" spc="320" dirty="0">
                <a:solidFill>
                  <a:srgbClr val="AAB1D5"/>
                </a:solidFill>
                <a:latin typeface="Calibri"/>
                <a:cs typeface="Calibri"/>
              </a:rPr>
              <a:t> </a:t>
            </a:r>
            <a:r>
              <a:rPr sz="1650" b="1" spc="120" dirty="0">
                <a:solidFill>
                  <a:srgbClr val="AAB1D5"/>
                </a:solidFill>
                <a:latin typeface="Calibri"/>
                <a:cs typeface="Calibri"/>
              </a:rPr>
              <a:t>SOUTH</a:t>
            </a:r>
            <a:r>
              <a:rPr sz="1650" b="1" spc="320" dirty="0">
                <a:solidFill>
                  <a:srgbClr val="AAB1D5"/>
                </a:solidFill>
                <a:latin typeface="Calibri"/>
                <a:cs typeface="Calibri"/>
              </a:rPr>
              <a:t> </a:t>
            </a:r>
            <a:r>
              <a:rPr sz="1650" b="1" spc="105" dirty="0">
                <a:solidFill>
                  <a:srgbClr val="AAB1D5"/>
                </a:solidFill>
                <a:latin typeface="Calibri"/>
                <a:cs typeface="Calibri"/>
              </a:rPr>
              <a:t>KOREA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650">
              <a:latin typeface="Calibri"/>
              <a:cs typeface="Calibri"/>
            </a:endParaRPr>
          </a:p>
          <a:p>
            <a:pPr marL="3279775">
              <a:lnSpc>
                <a:spcPct val="100000"/>
              </a:lnSpc>
            </a:pPr>
            <a:r>
              <a:rPr sz="1800" b="1" spc="-10" dirty="0">
                <a:solidFill>
                  <a:srgbClr val="D5A318"/>
                </a:solidFill>
                <a:latin typeface="Calibri"/>
                <a:cs typeface="Calibri"/>
              </a:rPr>
              <a:t>J</a:t>
            </a:r>
            <a:r>
              <a:rPr sz="1800" b="1" spc="-110" dirty="0">
                <a:solidFill>
                  <a:srgbClr val="D5A31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D5A318"/>
                </a:solidFill>
                <a:latin typeface="Calibri"/>
                <a:cs typeface="Calibri"/>
              </a:rPr>
              <a:t>O</a:t>
            </a:r>
            <a:r>
              <a:rPr sz="1800" b="1" spc="-110" dirty="0">
                <a:solidFill>
                  <a:srgbClr val="D5A31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D5A318"/>
                </a:solidFill>
                <a:latin typeface="Calibri"/>
                <a:cs typeface="Calibri"/>
              </a:rPr>
              <a:t>I</a:t>
            </a:r>
            <a:r>
              <a:rPr sz="1800" b="1" spc="-110" dirty="0">
                <a:solidFill>
                  <a:srgbClr val="D5A318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D5A318"/>
                </a:solidFill>
                <a:latin typeface="Calibri"/>
                <a:cs typeface="Calibri"/>
              </a:rPr>
              <a:t>N</a:t>
            </a:r>
            <a:r>
              <a:rPr sz="1800" b="1" spc="-105" dirty="0">
                <a:solidFill>
                  <a:srgbClr val="D5A31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D5A318"/>
                </a:solidFill>
                <a:latin typeface="Calibri"/>
                <a:cs typeface="Calibri"/>
              </a:rPr>
              <a:t>T</a:t>
            </a:r>
            <a:r>
              <a:rPr sz="1800" b="1" spc="-110" dirty="0">
                <a:solidFill>
                  <a:srgbClr val="D5A318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D5A318"/>
                </a:solidFill>
                <a:latin typeface="Calibri"/>
                <a:cs typeface="Calibri"/>
              </a:rPr>
              <a:t>L</a:t>
            </a:r>
            <a:r>
              <a:rPr sz="1800" b="1" spc="-110" dirty="0">
                <a:solidFill>
                  <a:srgbClr val="D5A31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D5A318"/>
                </a:solidFill>
                <a:latin typeface="Calibri"/>
                <a:cs typeface="Calibri"/>
              </a:rPr>
              <a:t>Y</a:t>
            </a:r>
            <a:r>
              <a:rPr sz="1800" b="1" spc="95" dirty="0">
                <a:solidFill>
                  <a:srgbClr val="D5A318"/>
                </a:solidFill>
                <a:latin typeface="Calibri"/>
                <a:cs typeface="Calibri"/>
              </a:rPr>
              <a:t>  </a:t>
            </a:r>
            <a:r>
              <a:rPr sz="1800" b="1" dirty="0">
                <a:solidFill>
                  <a:srgbClr val="D5A318"/>
                </a:solidFill>
                <a:latin typeface="Calibri"/>
                <a:cs typeface="Calibri"/>
              </a:rPr>
              <a:t>O</a:t>
            </a:r>
            <a:r>
              <a:rPr sz="1800" b="1" spc="-105" dirty="0">
                <a:solidFill>
                  <a:srgbClr val="D5A31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D5A318"/>
                </a:solidFill>
                <a:latin typeface="Calibri"/>
                <a:cs typeface="Calibri"/>
              </a:rPr>
              <a:t>R</a:t>
            </a:r>
            <a:r>
              <a:rPr sz="1800" b="1" spc="-110" dirty="0">
                <a:solidFill>
                  <a:srgbClr val="D5A318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D5A318"/>
                </a:solidFill>
                <a:latin typeface="Calibri"/>
                <a:cs typeface="Calibri"/>
              </a:rPr>
              <a:t>G</a:t>
            </a:r>
            <a:r>
              <a:rPr sz="1800" b="1" spc="-105" dirty="0">
                <a:solidFill>
                  <a:srgbClr val="D5A31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D5A318"/>
                </a:solidFill>
                <a:latin typeface="Calibri"/>
                <a:cs typeface="Calibri"/>
              </a:rPr>
              <a:t>A</a:t>
            </a:r>
            <a:r>
              <a:rPr sz="1800" b="1" spc="-110" dirty="0">
                <a:solidFill>
                  <a:srgbClr val="D5A318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D5A318"/>
                </a:solidFill>
                <a:latin typeface="Calibri"/>
                <a:cs typeface="Calibri"/>
              </a:rPr>
              <a:t>N</a:t>
            </a:r>
            <a:r>
              <a:rPr sz="1800" b="1" spc="-110" dirty="0">
                <a:solidFill>
                  <a:srgbClr val="D5A31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D5A318"/>
                </a:solidFill>
                <a:latin typeface="Calibri"/>
                <a:cs typeface="Calibri"/>
              </a:rPr>
              <a:t>I</a:t>
            </a:r>
            <a:r>
              <a:rPr sz="1800" b="1" spc="-105" dirty="0">
                <a:solidFill>
                  <a:srgbClr val="D5A318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D5A318"/>
                </a:solidFill>
                <a:latin typeface="Calibri"/>
                <a:cs typeface="Calibri"/>
              </a:rPr>
              <a:t>Z</a:t>
            </a:r>
            <a:r>
              <a:rPr sz="1800" b="1" spc="-110" dirty="0">
                <a:solidFill>
                  <a:srgbClr val="D5A31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D5A318"/>
                </a:solidFill>
                <a:latin typeface="Calibri"/>
                <a:cs typeface="Calibri"/>
              </a:rPr>
              <a:t>E</a:t>
            </a:r>
            <a:r>
              <a:rPr sz="1800" b="1" spc="-110" dirty="0">
                <a:solidFill>
                  <a:srgbClr val="D5A31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D5A318"/>
                </a:solidFill>
                <a:latin typeface="Calibri"/>
                <a:cs typeface="Calibri"/>
              </a:rPr>
              <a:t>D</a:t>
            </a:r>
            <a:r>
              <a:rPr sz="1800" b="1" spc="95" dirty="0">
                <a:solidFill>
                  <a:srgbClr val="D5A318"/>
                </a:solidFill>
                <a:latin typeface="Calibri"/>
                <a:cs typeface="Calibri"/>
              </a:rPr>
              <a:t>  </a:t>
            </a:r>
            <a:r>
              <a:rPr sz="1800" b="1" dirty="0">
                <a:solidFill>
                  <a:srgbClr val="D5A318"/>
                </a:solidFill>
                <a:latin typeface="Calibri"/>
                <a:cs typeface="Calibri"/>
              </a:rPr>
              <a:t>I</a:t>
            </a:r>
            <a:r>
              <a:rPr sz="1800" b="1" spc="-105" dirty="0">
                <a:solidFill>
                  <a:srgbClr val="D5A318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D5A318"/>
                </a:solidFill>
                <a:latin typeface="Calibri"/>
                <a:cs typeface="Calibri"/>
              </a:rPr>
              <a:t>N</a:t>
            </a:r>
            <a:r>
              <a:rPr sz="1800" b="1" spc="-110" dirty="0">
                <a:solidFill>
                  <a:srgbClr val="D5A31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D5A318"/>
                </a:solidFill>
                <a:latin typeface="Calibri"/>
                <a:cs typeface="Calibri"/>
              </a:rPr>
              <a:t>T</a:t>
            </a:r>
            <a:r>
              <a:rPr sz="1800" b="1" spc="-110" dirty="0">
                <a:solidFill>
                  <a:srgbClr val="D5A31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D5A318"/>
                </a:solidFill>
                <a:latin typeface="Calibri"/>
                <a:cs typeface="Calibri"/>
              </a:rPr>
              <a:t>E</a:t>
            </a:r>
            <a:r>
              <a:rPr sz="1800" b="1" spc="-105" dirty="0">
                <a:solidFill>
                  <a:srgbClr val="D5A31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D5A318"/>
                </a:solidFill>
                <a:latin typeface="Calibri"/>
                <a:cs typeface="Calibri"/>
              </a:rPr>
              <a:t>R</a:t>
            </a:r>
            <a:r>
              <a:rPr sz="1800" b="1" spc="-110" dirty="0">
                <a:solidFill>
                  <a:srgbClr val="D5A318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D5A318"/>
                </a:solidFill>
                <a:latin typeface="Calibri"/>
                <a:cs typeface="Calibri"/>
              </a:rPr>
              <a:t>N</a:t>
            </a:r>
            <a:r>
              <a:rPr sz="1800" b="1" spc="-110" dirty="0">
                <a:solidFill>
                  <a:srgbClr val="D5A31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D5A318"/>
                </a:solidFill>
                <a:latin typeface="Calibri"/>
                <a:cs typeface="Calibri"/>
              </a:rPr>
              <a:t>A</a:t>
            </a:r>
            <a:r>
              <a:rPr sz="1800" b="1" spc="-105" dirty="0">
                <a:solidFill>
                  <a:srgbClr val="D5A31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D5A318"/>
                </a:solidFill>
                <a:latin typeface="Calibri"/>
                <a:cs typeface="Calibri"/>
              </a:rPr>
              <a:t>T</a:t>
            </a:r>
            <a:r>
              <a:rPr sz="1800" b="1" spc="-110" dirty="0">
                <a:solidFill>
                  <a:srgbClr val="D5A31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D5A318"/>
                </a:solidFill>
                <a:latin typeface="Calibri"/>
                <a:cs typeface="Calibri"/>
              </a:rPr>
              <a:t>I</a:t>
            </a:r>
            <a:r>
              <a:rPr sz="1800" b="1" spc="-110" dirty="0">
                <a:solidFill>
                  <a:srgbClr val="D5A31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D5A318"/>
                </a:solidFill>
                <a:latin typeface="Calibri"/>
                <a:cs typeface="Calibri"/>
              </a:rPr>
              <a:t>O</a:t>
            </a:r>
            <a:r>
              <a:rPr sz="1800" b="1" spc="-105" dirty="0">
                <a:solidFill>
                  <a:srgbClr val="D5A318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D5A318"/>
                </a:solidFill>
                <a:latin typeface="Calibri"/>
                <a:cs typeface="Calibri"/>
              </a:rPr>
              <a:t>N</a:t>
            </a:r>
            <a:r>
              <a:rPr sz="1800" b="1" spc="-110" dirty="0">
                <a:solidFill>
                  <a:srgbClr val="D5A31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D5A318"/>
                </a:solidFill>
                <a:latin typeface="Calibri"/>
                <a:cs typeface="Calibri"/>
              </a:rPr>
              <a:t>A</a:t>
            </a:r>
            <a:r>
              <a:rPr sz="1800" b="1" spc="-110" dirty="0">
                <a:solidFill>
                  <a:srgbClr val="D5A31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D5A318"/>
                </a:solidFill>
                <a:latin typeface="Calibri"/>
                <a:cs typeface="Calibri"/>
              </a:rPr>
              <a:t>L</a:t>
            </a:r>
            <a:r>
              <a:rPr sz="1800" b="1" spc="95" dirty="0">
                <a:solidFill>
                  <a:srgbClr val="D5A318"/>
                </a:solidFill>
                <a:latin typeface="Calibri"/>
                <a:cs typeface="Calibri"/>
              </a:rPr>
              <a:t>  </a:t>
            </a:r>
            <a:r>
              <a:rPr sz="1800" b="1" spc="-20" dirty="0">
                <a:solidFill>
                  <a:srgbClr val="D5A318"/>
                </a:solidFill>
                <a:latin typeface="Calibri"/>
                <a:cs typeface="Calibri"/>
              </a:rPr>
              <a:t>H</a:t>
            </a:r>
            <a:r>
              <a:rPr sz="1800" b="1" spc="-105" dirty="0">
                <a:solidFill>
                  <a:srgbClr val="D5A31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D5A318"/>
                </a:solidFill>
                <a:latin typeface="Calibri"/>
                <a:cs typeface="Calibri"/>
              </a:rPr>
              <a:t>A</a:t>
            </a:r>
            <a:r>
              <a:rPr sz="1800" b="1" spc="-110" dirty="0">
                <a:solidFill>
                  <a:srgbClr val="D5A31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D5A318"/>
                </a:solidFill>
                <a:latin typeface="Calibri"/>
                <a:cs typeface="Calibri"/>
              </a:rPr>
              <a:t>C</a:t>
            </a:r>
            <a:r>
              <a:rPr sz="1800" b="1" spc="-105" dirty="0">
                <a:solidFill>
                  <a:srgbClr val="D5A318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D5A318"/>
                </a:solidFill>
                <a:latin typeface="Calibri"/>
                <a:cs typeface="Calibri"/>
              </a:rPr>
              <a:t>K</a:t>
            </a:r>
            <a:r>
              <a:rPr sz="1800" b="1" spc="-110" dirty="0">
                <a:solidFill>
                  <a:srgbClr val="D5A31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D5A318"/>
                </a:solidFill>
                <a:latin typeface="Calibri"/>
                <a:cs typeface="Calibri"/>
              </a:rPr>
              <a:t>A</a:t>
            </a:r>
            <a:r>
              <a:rPr sz="1800" b="1" spc="-110" dirty="0">
                <a:solidFill>
                  <a:srgbClr val="D5A31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D5A318"/>
                </a:solidFill>
                <a:latin typeface="Calibri"/>
                <a:cs typeface="Calibri"/>
              </a:rPr>
              <a:t>T</a:t>
            </a:r>
            <a:r>
              <a:rPr sz="1800" b="1" spc="-110" dirty="0">
                <a:solidFill>
                  <a:srgbClr val="D5A318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D5A318"/>
                </a:solidFill>
                <a:latin typeface="Calibri"/>
                <a:cs typeface="Calibri"/>
              </a:rPr>
              <a:t>H</a:t>
            </a:r>
            <a:r>
              <a:rPr sz="1800" b="1" spc="-105" dirty="0">
                <a:solidFill>
                  <a:srgbClr val="D5A31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D5A318"/>
                </a:solidFill>
                <a:latin typeface="Calibri"/>
                <a:cs typeface="Calibri"/>
              </a:rPr>
              <a:t>O</a:t>
            </a:r>
            <a:r>
              <a:rPr sz="1800" b="1" spc="-110" dirty="0">
                <a:solidFill>
                  <a:srgbClr val="D5A318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D5A318"/>
                </a:solidFill>
                <a:latin typeface="Calibri"/>
                <a:cs typeface="Calibri"/>
              </a:rPr>
              <a:t>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86059" y="5216353"/>
            <a:ext cx="10144125" cy="7489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3530" algn="ctr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FFFFFF"/>
                </a:solidFill>
                <a:latin typeface="Cambria"/>
                <a:cs typeface="Cambria"/>
              </a:rPr>
              <a:t>Ask Smarter. Prioritize Faster. Route Better.</a:t>
            </a:r>
            <a:endParaRPr sz="3000" dirty="0">
              <a:latin typeface="Cambria"/>
              <a:cs typeface="Cambria"/>
            </a:endParaRPr>
          </a:p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en-IN" sz="1700" i="1" dirty="0">
                <a:solidFill>
                  <a:srgbClr val="FFFFFF"/>
                </a:solidFill>
                <a:latin typeface="Calibri"/>
                <a:cs typeface="Calibri"/>
              </a:rPr>
              <a:t>Smart Ambulance Priority, Duplicate Detection &amp; Routing</a:t>
            </a:r>
            <a:endParaRPr lang="en-IN" sz="17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68294" y="6719951"/>
            <a:ext cx="119062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105" dirty="0">
                <a:solidFill>
                  <a:srgbClr val="D5A318"/>
                </a:solidFill>
                <a:latin typeface="Calibri"/>
                <a:cs typeface="Calibri"/>
              </a:rPr>
              <a:t>TEAM</a:t>
            </a:r>
            <a:r>
              <a:rPr sz="1500" b="1" spc="295" dirty="0">
                <a:solidFill>
                  <a:srgbClr val="D5A318"/>
                </a:solidFill>
                <a:latin typeface="Calibri"/>
                <a:cs typeface="Calibri"/>
              </a:rPr>
              <a:t> </a:t>
            </a:r>
            <a:r>
              <a:rPr sz="1500" b="1" spc="85" dirty="0">
                <a:solidFill>
                  <a:srgbClr val="D5A318"/>
                </a:solidFill>
                <a:latin typeface="Calibri"/>
                <a:cs typeface="Calibri"/>
              </a:rPr>
              <a:t>NAME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71613" y="6700901"/>
            <a:ext cx="4800000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i="1" dirty="0">
                <a:solidFill>
                  <a:srgbClr val="FFFFFF"/>
                </a:solidFill>
                <a:latin typeface="Calibri"/>
                <a:cs typeface="Calibri"/>
              </a:rPr>
              <a:t>JARVIS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68294" y="7296022"/>
            <a:ext cx="82296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105" dirty="0">
                <a:solidFill>
                  <a:srgbClr val="D5A318"/>
                </a:solidFill>
                <a:latin typeface="Calibri"/>
                <a:cs typeface="Calibri"/>
              </a:rPr>
              <a:t>TEAM</a:t>
            </a:r>
            <a:r>
              <a:rPr sz="1500" b="1" spc="295" dirty="0">
                <a:solidFill>
                  <a:srgbClr val="D5A318"/>
                </a:solidFill>
                <a:latin typeface="Calibri"/>
                <a:cs typeface="Calibri"/>
              </a:rPr>
              <a:t> </a:t>
            </a:r>
            <a:r>
              <a:rPr sz="1500" b="1" spc="40" dirty="0">
                <a:solidFill>
                  <a:srgbClr val="D5A318"/>
                </a:solidFill>
                <a:latin typeface="Calibri"/>
                <a:cs typeface="Calibri"/>
              </a:rPr>
              <a:t>ID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71613" y="7276972"/>
            <a:ext cx="4800000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700" i="1" dirty="0">
                <a:solidFill>
                  <a:srgbClr val="FFFFFF"/>
                </a:solidFill>
                <a:latin typeface="Calibri"/>
                <a:cs typeface="Calibri"/>
              </a:rPr>
              <a:t>HCINTL033</a:t>
            </a:r>
            <a:endParaRPr sz="1700" dirty="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0" y="153485"/>
            <a:ext cx="16614775" cy="9207500"/>
            <a:chOff x="0" y="153485"/>
            <a:chExt cx="16614775" cy="9207500"/>
          </a:xfrm>
        </p:grpSpPr>
        <p:sp>
          <p:nvSpPr>
            <p:cNvPr id="19" name="object 19"/>
            <p:cNvSpPr/>
            <p:nvPr/>
          </p:nvSpPr>
          <p:spPr>
            <a:xfrm>
              <a:off x="3373849" y="7682754"/>
              <a:ext cx="8599170" cy="17145"/>
            </a:xfrm>
            <a:custGeom>
              <a:avLst/>
              <a:gdLst/>
              <a:ahLst/>
              <a:cxnLst/>
              <a:rect l="l" t="t" r="r" b="b"/>
              <a:pathLst>
                <a:path w="8599170" h="17145">
                  <a:moveTo>
                    <a:pt x="0" y="0"/>
                  </a:moveTo>
                  <a:lnTo>
                    <a:pt x="8599173" y="16659"/>
                  </a:lnTo>
                </a:path>
              </a:pathLst>
            </a:custGeom>
            <a:ln w="9525">
              <a:solidFill>
                <a:srgbClr val="444F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373849" y="8258794"/>
              <a:ext cx="8633460" cy="17145"/>
            </a:xfrm>
            <a:custGeom>
              <a:avLst/>
              <a:gdLst/>
              <a:ahLst/>
              <a:cxnLst/>
              <a:rect l="l" t="t" r="r" b="b"/>
              <a:pathLst>
                <a:path w="8633460" h="17145">
                  <a:moveTo>
                    <a:pt x="0" y="0"/>
                  </a:moveTo>
                  <a:lnTo>
                    <a:pt x="8633377" y="16725"/>
                  </a:lnTo>
                </a:path>
              </a:pathLst>
            </a:custGeom>
            <a:ln w="9525">
              <a:solidFill>
                <a:srgbClr val="444F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373846" y="8830581"/>
              <a:ext cx="8576310" cy="13970"/>
            </a:xfrm>
            <a:custGeom>
              <a:avLst/>
              <a:gdLst/>
              <a:ahLst/>
              <a:cxnLst/>
              <a:rect l="l" t="t" r="r" b="b"/>
              <a:pathLst>
                <a:path w="8576310" h="13970">
                  <a:moveTo>
                    <a:pt x="0" y="13770"/>
                  </a:moveTo>
                  <a:lnTo>
                    <a:pt x="8575698" y="0"/>
                  </a:lnTo>
                </a:path>
              </a:pathLst>
            </a:custGeom>
            <a:ln w="9524">
              <a:solidFill>
                <a:srgbClr val="444F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039593" y="5648791"/>
              <a:ext cx="1561123" cy="88222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039593" y="8394191"/>
              <a:ext cx="1561123" cy="88222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097171" y="4155414"/>
              <a:ext cx="1503531" cy="100760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039593" y="5612043"/>
              <a:ext cx="1561433" cy="918971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5039468" y="6978700"/>
              <a:ext cx="1543050" cy="933450"/>
            </a:xfrm>
            <a:custGeom>
              <a:avLst/>
              <a:gdLst/>
              <a:ahLst/>
              <a:cxnLst/>
              <a:rect l="l" t="t" r="r" b="b"/>
              <a:pathLst>
                <a:path w="1543050" h="933450">
                  <a:moveTo>
                    <a:pt x="710145" y="0"/>
                  </a:moveTo>
                  <a:lnTo>
                    <a:pt x="0" y="0"/>
                  </a:lnTo>
                  <a:lnTo>
                    <a:pt x="0" y="933450"/>
                  </a:lnTo>
                  <a:lnTo>
                    <a:pt x="710145" y="933450"/>
                  </a:lnTo>
                  <a:lnTo>
                    <a:pt x="710145" y="0"/>
                  </a:lnTo>
                  <a:close/>
                </a:path>
                <a:path w="1543050" h="933450">
                  <a:moveTo>
                    <a:pt x="1542948" y="0"/>
                  </a:moveTo>
                  <a:lnTo>
                    <a:pt x="832637" y="0"/>
                  </a:lnTo>
                  <a:lnTo>
                    <a:pt x="832637" y="933450"/>
                  </a:lnTo>
                  <a:lnTo>
                    <a:pt x="1542948" y="933450"/>
                  </a:lnTo>
                  <a:lnTo>
                    <a:pt x="1542948" y="0"/>
                  </a:lnTo>
                  <a:close/>
                </a:path>
              </a:pathLst>
            </a:custGeom>
            <a:solidFill>
              <a:srgbClr val="2042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901269" y="6978691"/>
              <a:ext cx="681355" cy="433070"/>
            </a:xfrm>
            <a:custGeom>
              <a:avLst/>
              <a:gdLst/>
              <a:ahLst/>
              <a:cxnLst/>
              <a:rect l="l" t="t" r="r" b="b"/>
              <a:pathLst>
                <a:path w="681355" h="433070">
                  <a:moveTo>
                    <a:pt x="100961" y="432530"/>
                  </a:moveTo>
                  <a:lnTo>
                    <a:pt x="0" y="273828"/>
                  </a:lnTo>
                  <a:lnTo>
                    <a:pt x="433042" y="0"/>
                  </a:lnTo>
                  <a:lnTo>
                    <a:pt x="681047" y="0"/>
                  </a:lnTo>
                  <a:lnTo>
                    <a:pt x="681047" y="65768"/>
                  </a:lnTo>
                  <a:lnTo>
                    <a:pt x="100961" y="4325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919308" y="6978691"/>
              <a:ext cx="592455" cy="354330"/>
            </a:xfrm>
            <a:custGeom>
              <a:avLst/>
              <a:gdLst/>
              <a:ahLst/>
              <a:cxnLst/>
              <a:rect l="l" t="t" r="r" b="b"/>
              <a:pathLst>
                <a:path w="592455" h="354329">
                  <a:moveTo>
                    <a:pt x="32813" y="353756"/>
                  </a:moveTo>
                  <a:lnTo>
                    <a:pt x="0" y="302173"/>
                  </a:lnTo>
                  <a:lnTo>
                    <a:pt x="477933" y="0"/>
                  </a:lnTo>
                  <a:lnTo>
                    <a:pt x="592329" y="0"/>
                  </a:lnTo>
                  <a:lnTo>
                    <a:pt x="32813" y="353756"/>
                  </a:lnTo>
                  <a:close/>
                </a:path>
              </a:pathLst>
            </a:custGeom>
            <a:solidFill>
              <a:srgbClr val="ED28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5039477" y="7505940"/>
              <a:ext cx="725170" cy="406400"/>
            </a:xfrm>
            <a:custGeom>
              <a:avLst/>
              <a:gdLst/>
              <a:ahLst/>
              <a:cxnLst/>
              <a:rect l="l" t="t" r="r" b="b"/>
              <a:pathLst>
                <a:path w="725169" h="406400">
                  <a:moveTo>
                    <a:pt x="237459" y="406201"/>
                  </a:moveTo>
                  <a:lnTo>
                    <a:pt x="0" y="406201"/>
                  </a:lnTo>
                  <a:lnTo>
                    <a:pt x="9" y="332709"/>
                  </a:lnTo>
                  <a:lnTo>
                    <a:pt x="531154" y="0"/>
                  </a:lnTo>
                  <a:lnTo>
                    <a:pt x="542912" y="18436"/>
                  </a:lnTo>
                  <a:lnTo>
                    <a:pt x="545619" y="22948"/>
                  </a:lnTo>
                  <a:lnTo>
                    <a:pt x="549152" y="28489"/>
                  </a:lnTo>
                  <a:lnTo>
                    <a:pt x="724585" y="102711"/>
                  </a:lnTo>
                  <a:lnTo>
                    <a:pt x="237459" y="4062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5108049" y="7534429"/>
              <a:ext cx="636270" cy="377825"/>
            </a:xfrm>
            <a:custGeom>
              <a:avLst/>
              <a:gdLst/>
              <a:ahLst/>
              <a:cxnLst/>
              <a:rect l="l" t="t" r="r" b="b"/>
              <a:pathLst>
                <a:path w="636269" h="377825">
                  <a:moveTo>
                    <a:pt x="115063" y="377711"/>
                  </a:moveTo>
                  <a:lnTo>
                    <a:pt x="0" y="377711"/>
                  </a:lnTo>
                  <a:lnTo>
                    <a:pt x="486263" y="73212"/>
                  </a:lnTo>
                  <a:lnTo>
                    <a:pt x="596854" y="3687"/>
                  </a:lnTo>
                  <a:lnTo>
                    <a:pt x="603073" y="0"/>
                  </a:lnTo>
                  <a:lnTo>
                    <a:pt x="632147" y="46226"/>
                  </a:lnTo>
                  <a:lnTo>
                    <a:pt x="635660" y="51602"/>
                  </a:lnTo>
                  <a:lnTo>
                    <a:pt x="601400" y="73212"/>
                  </a:lnTo>
                  <a:lnTo>
                    <a:pt x="596668" y="76055"/>
                  </a:lnTo>
                  <a:lnTo>
                    <a:pt x="115063" y="377711"/>
                  </a:lnTo>
                  <a:close/>
                </a:path>
              </a:pathLst>
            </a:custGeom>
            <a:solidFill>
              <a:srgbClr val="ED28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5039477" y="6978691"/>
              <a:ext cx="685800" cy="433070"/>
            </a:xfrm>
            <a:custGeom>
              <a:avLst/>
              <a:gdLst/>
              <a:ahLst/>
              <a:cxnLst/>
              <a:rect l="l" t="t" r="r" b="b"/>
              <a:pathLst>
                <a:path w="685800" h="433070">
                  <a:moveTo>
                    <a:pt x="584776" y="432612"/>
                  </a:moveTo>
                  <a:lnTo>
                    <a:pt x="377253" y="301452"/>
                  </a:lnTo>
                  <a:lnTo>
                    <a:pt x="115" y="62719"/>
                  </a:lnTo>
                  <a:lnTo>
                    <a:pt x="0" y="0"/>
                  </a:lnTo>
                  <a:lnTo>
                    <a:pt x="252542" y="0"/>
                  </a:lnTo>
                  <a:lnTo>
                    <a:pt x="665426" y="261056"/>
                  </a:lnTo>
                  <a:lnTo>
                    <a:pt x="685759" y="273807"/>
                  </a:lnTo>
                  <a:lnTo>
                    <a:pt x="668112" y="301452"/>
                  </a:lnTo>
                  <a:lnTo>
                    <a:pt x="667595" y="302111"/>
                  </a:lnTo>
                  <a:lnTo>
                    <a:pt x="584776" y="4326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5039477" y="6978691"/>
              <a:ext cx="556895" cy="353695"/>
            </a:xfrm>
            <a:custGeom>
              <a:avLst/>
              <a:gdLst/>
              <a:ahLst/>
              <a:cxnLst/>
              <a:rect l="l" t="t" r="r" b="b"/>
              <a:pathLst>
                <a:path w="556894" h="353695">
                  <a:moveTo>
                    <a:pt x="524087" y="353694"/>
                  </a:moveTo>
                  <a:lnTo>
                    <a:pt x="441103" y="301452"/>
                  </a:lnTo>
                  <a:lnTo>
                    <a:pt x="115" y="22508"/>
                  </a:lnTo>
                  <a:lnTo>
                    <a:pt x="0" y="0"/>
                  </a:lnTo>
                  <a:lnTo>
                    <a:pt x="78792" y="0"/>
                  </a:lnTo>
                  <a:lnTo>
                    <a:pt x="555537" y="301452"/>
                  </a:lnTo>
                  <a:lnTo>
                    <a:pt x="556860" y="302111"/>
                  </a:lnTo>
                  <a:lnTo>
                    <a:pt x="524087" y="353694"/>
                  </a:lnTo>
                  <a:close/>
                </a:path>
              </a:pathLst>
            </a:custGeom>
            <a:solidFill>
              <a:srgbClr val="ED28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5872113" y="7505940"/>
              <a:ext cx="710565" cy="406400"/>
            </a:xfrm>
            <a:custGeom>
              <a:avLst/>
              <a:gdLst/>
              <a:ahLst/>
              <a:cxnLst/>
              <a:rect l="l" t="t" r="r" b="b"/>
              <a:pathLst>
                <a:path w="710565" h="406400">
                  <a:moveTo>
                    <a:pt x="710307" y="406201"/>
                  </a:moveTo>
                  <a:lnTo>
                    <a:pt x="470190" y="406201"/>
                  </a:lnTo>
                  <a:lnTo>
                    <a:pt x="0" y="114432"/>
                  </a:lnTo>
                  <a:lnTo>
                    <a:pt x="158798" y="28489"/>
                  </a:lnTo>
                  <a:lnTo>
                    <a:pt x="160307" y="25976"/>
                  </a:lnTo>
                  <a:lnTo>
                    <a:pt x="162311" y="22948"/>
                  </a:lnTo>
                  <a:lnTo>
                    <a:pt x="176755" y="0"/>
                  </a:lnTo>
                  <a:lnTo>
                    <a:pt x="213226" y="22948"/>
                  </a:lnTo>
                  <a:lnTo>
                    <a:pt x="710307" y="334049"/>
                  </a:lnTo>
                  <a:lnTo>
                    <a:pt x="710307" y="4062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5998304" y="7534429"/>
              <a:ext cx="584200" cy="377825"/>
            </a:xfrm>
            <a:custGeom>
              <a:avLst/>
              <a:gdLst/>
              <a:ahLst/>
              <a:cxnLst/>
              <a:rect l="l" t="t" r="r" b="b"/>
              <a:pathLst>
                <a:path w="584200" h="377825">
                  <a:moveTo>
                    <a:pt x="584115" y="377711"/>
                  </a:moveTo>
                  <a:lnTo>
                    <a:pt x="514990" y="377711"/>
                  </a:lnTo>
                  <a:lnTo>
                    <a:pt x="34260" y="73212"/>
                  </a:lnTo>
                  <a:lnTo>
                    <a:pt x="34115" y="73026"/>
                  </a:lnTo>
                  <a:lnTo>
                    <a:pt x="0" y="51602"/>
                  </a:lnTo>
                  <a:lnTo>
                    <a:pt x="3533" y="46226"/>
                  </a:lnTo>
                  <a:lnTo>
                    <a:pt x="32606" y="0"/>
                  </a:lnTo>
                  <a:lnTo>
                    <a:pt x="34115" y="1009"/>
                  </a:lnTo>
                  <a:lnTo>
                    <a:pt x="584115" y="345420"/>
                  </a:lnTo>
                  <a:lnTo>
                    <a:pt x="584115" y="377711"/>
                  </a:lnTo>
                  <a:close/>
                </a:path>
              </a:pathLst>
            </a:custGeom>
            <a:solidFill>
              <a:srgbClr val="ED28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5039416" y="6978700"/>
              <a:ext cx="1543050" cy="933450"/>
            </a:xfrm>
            <a:custGeom>
              <a:avLst/>
              <a:gdLst/>
              <a:ahLst/>
              <a:cxnLst/>
              <a:rect l="l" t="t" r="r" b="b"/>
              <a:pathLst>
                <a:path w="1543050" h="933450">
                  <a:moveTo>
                    <a:pt x="710196" y="550138"/>
                  </a:moveTo>
                  <a:lnTo>
                    <a:pt x="665403" y="550138"/>
                  </a:lnTo>
                  <a:lnTo>
                    <a:pt x="0" y="550138"/>
                  </a:lnTo>
                  <a:lnTo>
                    <a:pt x="0" y="628891"/>
                  </a:lnTo>
                  <a:lnTo>
                    <a:pt x="665403" y="628891"/>
                  </a:lnTo>
                  <a:lnTo>
                    <a:pt x="665403" y="933450"/>
                  </a:lnTo>
                  <a:lnTo>
                    <a:pt x="710196" y="933450"/>
                  </a:lnTo>
                  <a:lnTo>
                    <a:pt x="710196" y="628891"/>
                  </a:lnTo>
                  <a:lnTo>
                    <a:pt x="710196" y="550138"/>
                  </a:lnTo>
                  <a:close/>
                </a:path>
                <a:path w="1543050" h="933450">
                  <a:moveTo>
                    <a:pt x="710196" y="0"/>
                  </a:moveTo>
                  <a:lnTo>
                    <a:pt x="665403" y="0"/>
                  </a:lnTo>
                  <a:lnTo>
                    <a:pt x="665403" y="301345"/>
                  </a:lnTo>
                  <a:lnTo>
                    <a:pt x="0" y="301345"/>
                  </a:lnTo>
                  <a:lnTo>
                    <a:pt x="0" y="380123"/>
                  </a:lnTo>
                  <a:lnTo>
                    <a:pt x="665403" y="380123"/>
                  </a:lnTo>
                  <a:lnTo>
                    <a:pt x="710196" y="380123"/>
                  </a:lnTo>
                  <a:lnTo>
                    <a:pt x="710196" y="301345"/>
                  </a:lnTo>
                  <a:lnTo>
                    <a:pt x="710196" y="0"/>
                  </a:lnTo>
                  <a:close/>
                </a:path>
                <a:path w="1543050" h="933450">
                  <a:moveTo>
                    <a:pt x="1542897" y="550138"/>
                  </a:moveTo>
                  <a:lnTo>
                    <a:pt x="877493" y="550138"/>
                  </a:lnTo>
                  <a:lnTo>
                    <a:pt x="832688" y="550138"/>
                  </a:lnTo>
                  <a:lnTo>
                    <a:pt x="832688" y="628891"/>
                  </a:lnTo>
                  <a:lnTo>
                    <a:pt x="832688" y="933450"/>
                  </a:lnTo>
                  <a:lnTo>
                    <a:pt x="877493" y="933450"/>
                  </a:lnTo>
                  <a:lnTo>
                    <a:pt x="877493" y="628891"/>
                  </a:lnTo>
                  <a:lnTo>
                    <a:pt x="1542897" y="628891"/>
                  </a:lnTo>
                  <a:lnTo>
                    <a:pt x="1542897" y="550138"/>
                  </a:lnTo>
                  <a:close/>
                </a:path>
                <a:path w="1543050" h="933450">
                  <a:moveTo>
                    <a:pt x="1542897" y="301345"/>
                  </a:moveTo>
                  <a:lnTo>
                    <a:pt x="877493" y="301345"/>
                  </a:lnTo>
                  <a:lnTo>
                    <a:pt x="877493" y="0"/>
                  </a:lnTo>
                  <a:lnTo>
                    <a:pt x="832688" y="0"/>
                  </a:lnTo>
                  <a:lnTo>
                    <a:pt x="832688" y="301345"/>
                  </a:lnTo>
                  <a:lnTo>
                    <a:pt x="832688" y="380123"/>
                  </a:lnTo>
                  <a:lnTo>
                    <a:pt x="877493" y="380123"/>
                  </a:lnTo>
                  <a:lnTo>
                    <a:pt x="1542897" y="380123"/>
                  </a:lnTo>
                  <a:lnTo>
                    <a:pt x="1542897" y="3013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5039416" y="6978700"/>
              <a:ext cx="1543050" cy="933450"/>
            </a:xfrm>
            <a:custGeom>
              <a:avLst/>
              <a:gdLst/>
              <a:ahLst/>
              <a:cxnLst/>
              <a:rect l="l" t="t" r="r" b="b"/>
              <a:pathLst>
                <a:path w="1543050" h="933450">
                  <a:moveTo>
                    <a:pt x="1542897" y="380123"/>
                  </a:moveTo>
                  <a:lnTo>
                    <a:pt x="832688" y="380123"/>
                  </a:lnTo>
                  <a:lnTo>
                    <a:pt x="832688" y="0"/>
                  </a:lnTo>
                  <a:lnTo>
                    <a:pt x="710196" y="0"/>
                  </a:lnTo>
                  <a:lnTo>
                    <a:pt x="710196" y="380123"/>
                  </a:lnTo>
                  <a:lnTo>
                    <a:pt x="0" y="380123"/>
                  </a:lnTo>
                  <a:lnTo>
                    <a:pt x="0" y="550138"/>
                  </a:lnTo>
                  <a:lnTo>
                    <a:pt x="710196" y="550138"/>
                  </a:lnTo>
                  <a:lnTo>
                    <a:pt x="710196" y="933450"/>
                  </a:lnTo>
                  <a:lnTo>
                    <a:pt x="832688" y="933450"/>
                  </a:lnTo>
                  <a:lnTo>
                    <a:pt x="832688" y="550138"/>
                  </a:lnTo>
                  <a:lnTo>
                    <a:pt x="1542897" y="550138"/>
                  </a:lnTo>
                  <a:lnTo>
                    <a:pt x="1542897" y="380123"/>
                  </a:lnTo>
                  <a:close/>
                </a:path>
              </a:pathLst>
            </a:custGeom>
            <a:solidFill>
              <a:srgbClr val="ED28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034173" y="8304208"/>
              <a:ext cx="1580271" cy="105626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153485"/>
              <a:ext cx="3114757" cy="212336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66389" y="735634"/>
              <a:ext cx="2310016" cy="1143838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2246880" y="1042672"/>
              <a:ext cx="323850" cy="285750"/>
            </a:xfrm>
            <a:custGeom>
              <a:avLst/>
              <a:gdLst/>
              <a:ahLst/>
              <a:cxnLst/>
              <a:rect l="l" t="t" r="r" b="b"/>
              <a:pathLst>
                <a:path w="323850" h="285750">
                  <a:moveTo>
                    <a:pt x="123606" y="285749"/>
                  </a:moveTo>
                  <a:lnTo>
                    <a:pt x="0" y="285749"/>
                  </a:lnTo>
                  <a:lnTo>
                    <a:pt x="0" y="285180"/>
                  </a:lnTo>
                  <a:lnTo>
                    <a:pt x="102771" y="141717"/>
                  </a:lnTo>
                  <a:lnTo>
                    <a:pt x="3229" y="0"/>
                  </a:lnTo>
                  <a:lnTo>
                    <a:pt x="125424" y="0"/>
                  </a:lnTo>
                  <a:lnTo>
                    <a:pt x="166762" y="61019"/>
                  </a:lnTo>
                  <a:lnTo>
                    <a:pt x="281306" y="61019"/>
                  </a:lnTo>
                  <a:lnTo>
                    <a:pt x="225793" y="138244"/>
                  </a:lnTo>
                  <a:lnTo>
                    <a:pt x="284649" y="220927"/>
                  </a:lnTo>
                  <a:lnTo>
                    <a:pt x="164613" y="220927"/>
                  </a:lnTo>
                  <a:lnTo>
                    <a:pt x="123606" y="285749"/>
                  </a:lnTo>
                  <a:close/>
                </a:path>
                <a:path w="323850" h="285750">
                  <a:moveTo>
                    <a:pt x="281306" y="61019"/>
                  </a:moveTo>
                  <a:lnTo>
                    <a:pt x="166762" y="61019"/>
                  </a:lnTo>
                  <a:lnTo>
                    <a:pt x="206943" y="0"/>
                  </a:lnTo>
                  <a:lnTo>
                    <a:pt x="323850" y="0"/>
                  </a:lnTo>
                  <a:lnTo>
                    <a:pt x="323850" y="1836"/>
                  </a:lnTo>
                  <a:lnTo>
                    <a:pt x="281306" y="61019"/>
                  </a:lnTo>
                  <a:close/>
                </a:path>
                <a:path w="323850" h="285750">
                  <a:moveTo>
                    <a:pt x="323850" y="285749"/>
                  </a:moveTo>
                  <a:lnTo>
                    <a:pt x="206447" y="285749"/>
                  </a:lnTo>
                  <a:lnTo>
                    <a:pt x="164613" y="220927"/>
                  </a:lnTo>
                  <a:lnTo>
                    <a:pt x="284649" y="220927"/>
                  </a:lnTo>
                  <a:lnTo>
                    <a:pt x="323850" y="275997"/>
                  </a:lnTo>
                  <a:lnTo>
                    <a:pt x="323850" y="285749"/>
                  </a:lnTo>
                  <a:close/>
                </a:path>
              </a:pathLst>
            </a:custGeom>
            <a:solidFill>
              <a:srgbClr val="F4F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107211" y="2714329"/>
              <a:ext cx="1493844" cy="993409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3368294" y="7872094"/>
            <a:ext cx="12026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114" dirty="0">
                <a:solidFill>
                  <a:srgbClr val="D5A318"/>
                </a:solidFill>
                <a:latin typeface="Calibri"/>
                <a:cs typeface="Calibri"/>
              </a:rPr>
              <a:t>FOCUS</a:t>
            </a:r>
            <a:r>
              <a:rPr sz="1500" b="1" spc="300" dirty="0">
                <a:solidFill>
                  <a:srgbClr val="D5A318"/>
                </a:solidFill>
                <a:latin typeface="Calibri"/>
                <a:cs typeface="Calibri"/>
              </a:rPr>
              <a:t> </a:t>
            </a:r>
            <a:r>
              <a:rPr sz="1500" b="1" spc="80" dirty="0">
                <a:solidFill>
                  <a:srgbClr val="D5A318"/>
                </a:solidFill>
                <a:latin typeface="Calibri"/>
                <a:cs typeface="Calibri"/>
              </a:rPr>
              <a:t>AREA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071613" y="7853044"/>
            <a:ext cx="4839335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i="1" dirty="0">
                <a:solidFill>
                  <a:srgbClr val="FFFFFF"/>
                </a:solidFill>
                <a:latin typeface="Calibri"/>
                <a:cs typeface="Calibri"/>
              </a:rPr>
              <a:t>Healthcare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368294" y="8448166"/>
            <a:ext cx="26943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120" dirty="0">
                <a:solidFill>
                  <a:srgbClr val="D5A318"/>
                </a:solidFill>
                <a:latin typeface="Calibri"/>
                <a:cs typeface="Calibri"/>
              </a:rPr>
              <a:t>PROBLEM</a:t>
            </a:r>
            <a:r>
              <a:rPr sz="1500" b="1" spc="315" dirty="0">
                <a:solidFill>
                  <a:srgbClr val="D5A318"/>
                </a:solidFill>
                <a:latin typeface="Calibri"/>
                <a:cs typeface="Calibri"/>
              </a:rPr>
              <a:t> </a:t>
            </a:r>
            <a:r>
              <a:rPr sz="1500" b="1" spc="125" dirty="0">
                <a:solidFill>
                  <a:srgbClr val="D5A318"/>
                </a:solidFill>
                <a:latin typeface="Calibri"/>
                <a:cs typeface="Calibri"/>
              </a:rPr>
              <a:t>STATEMENT</a:t>
            </a:r>
            <a:r>
              <a:rPr sz="1500" b="1" spc="320" dirty="0">
                <a:solidFill>
                  <a:srgbClr val="D5A318"/>
                </a:solidFill>
                <a:latin typeface="Calibri"/>
                <a:cs typeface="Calibri"/>
              </a:rPr>
              <a:t> </a:t>
            </a:r>
            <a:r>
              <a:rPr sz="1500" b="1" spc="95" dirty="0">
                <a:solidFill>
                  <a:srgbClr val="D5A318"/>
                </a:solidFill>
                <a:latin typeface="Calibri"/>
                <a:cs typeface="Calibri"/>
              </a:rPr>
              <a:t>TITLE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064239" y="8298316"/>
            <a:ext cx="4943070" cy="5392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lang="en-US" sz="1700" dirty="0">
                <a:solidFill>
                  <a:srgbClr val="AAB1D5"/>
                </a:solidFill>
                <a:latin typeface="Calibri"/>
                <a:cs typeface="Calibri"/>
              </a:rPr>
              <a:t>AI-Based Smart Ambulance Priority, Duplicate Incident Detection &amp; Shortest-Route Dispatch System</a:t>
            </a:r>
            <a:endParaRPr lang="en-US" sz="1700" dirty="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877000" y="9631362"/>
            <a:ext cx="4529455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615565" algn="l"/>
                <a:tab pos="2851150" algn="l"/>
              </a:tabLst>
            </a:pPr>
            <a:r>
              <a:rPr sz="1550" dirty="0">
                <a:solidFill>
                  <a:srgbClr val="8791C3"/>
                </a:solidFill>
                <a:latin typeface="Calibri"/>
                <a:cs typeface="Calibri"/>
              </a:rPr>
              <a:t>Perambalur,</a:t>
            </a:r>
            <a:r>
              <a:rPr sz="1550" spc="65" dirty="0">
                <a:solidFill>
                  <a:srgbClr val="8791C3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8791C3"/>
                </a:solidFill>
                <a:latin typeface="Calibri"/>
                <a:cs typeface="Calibri"/>
              </a:rPr>
              <a:t>Tamil</a:t>
            </a:r>
            <a:r>
              <a:rPr sz="1550" spc="65" dirty="0">
                <a:solidFill>
                  <a:srgbClr val="8791C3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8791C3"/>
                </a:solidFill>
                <a:latin typeface="Calibri"/>
                <a:cs typeface="Calibri"/>
              </a:rPr>
              <a:t>Nadu,</a:t>
            </a:r>
            <a:r>
              <a:rPr sz="1550" spc="65" dirty="0">
                <a:solidFill>
                  <a:srgbClr val="8791C3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8791C3"/>
                </a:solidFill>
                <a:latin typeface="Calibri"/>
                <a:cs typeface="Calibri"/>
              </a:rPr>
              <a:t>India</a:t>
            </a:r>
            <a:r>
              <a:rPr sz="1550" dirty="0">
                <a:solidFill>
                  <a:srgbClr val="8791C3"/>
                </a:solidFill>
                <a:latin typeface="Calibri"/>
                <a:cs typeface="Calibri"/>
              </a:rPr>
              <a:t>	</a:t>
            </a:r>
            <a:r>
              <a:rPr sz="1550" spc="-50" dirty="0">
                <a:solidFill>
                  <a:srgbClr val="8791C3"/>
                </a:solidFill>
                <a:latin typeface="Calibri"/>
                <a:cs typeface="Calibri"/>
              </a:rPr>
              <a:t>•</a:t>
            </a:r>
            <a:r>
              <a:rPr sz="1550" dirty="0">
                <a:solidFill>
                  <a:srgbClr val="8791C3"/>
                </a:solidFill>
                <a:latin typeface="Calibri"/>
                <a:cs typeface="Calibri"/>
              </a:rPr>
              <a:t>	14–15</a:t>
            </a:r>
            <a:r>
              <a:rPr sz="1550" spc="50" dirty="0">
                <a:solidFill>
                  <a:srgbClr val="8791C3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8791C3"/>
                </a:solidFill>
                <a:latin typeface="Calibri"/>
                <a:cs typeface="Calibri"/>
              </a:rPr>
              <a:t>October</a:t>
            </a:r>
            <a:r>
              <a:rPr sz="1550" spc="50" dirty="0">
                <a:solidFill>
                  <a:srgbClr val="8791C3"/>
                </a:solidFill>
                <a:latin typeface="Calibri"/>
                <a:cs typeface="Calibri"/>
              </a:rPr>
              <a:t> </a:t>
            </a:r>
            <a:r>
              <a:rPr sz="1550" spc="-20" dirty="0">
                <a:solidFill>
                  <a:srgbClr val="8791C3"/>
                </a:solidFill>
                <a:latin typeface="Calibri"/>
                <a:cs typeface="Calibri"/>
              </a:rPr>
              <a:t>2026</a:t>
            </a:r>
            <a:endParaRPr sz="1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1679" y="496560"/>
            <a:ext cx="9906000" cy="112839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  <a:tabLst>
                <a:tab pos="443865" algn="l"/>
                <a:tab pos="661035" algn="l"/>
                <a:tab pos="2028825" algn="l"/>
                <a:tab pos="2338070" algn="l"/>
              </a:tabLst>
            </a:pPr>
            <a:r>
              <a:rPr sz="1650" b="1" dirty="0">
                <a:solidFill>
                  <a:srgbClr val="B07900"/>
                </a:solidFill>
                <a:latin typeface="Calibri"/>
                <a:cs typeface="Calibri"/>
              </a:rPr>
              <a:t>0 2	·	P R O B L E M	&amp;	S O L U T I O N</a:t>
            </a: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4200" b="1" dirty="0">
                <a:solidFill>
                  <a:srgbClr val="0A1F4A"/>
                </a:solidFill>
                <a:latin typeface="Cambria"/>
                <a:cs typeface="Cambria"/>
              </a:rPr>
              <a:t>Problem Statement &amp; Proposed Solution</a:t>
            </a:r>
            <a:endParaRPr sz="4200">
              <a:latin typeface="Cambria"/>
              <a:cs typeface="Cambr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907451" y="479488"/>
            <a:ext cx="1879600" cy="917575"/>
            <a:chOff x="13907451" y="479488"/>
            <a:chExt cx="1879600" cy="9175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07451" y="479488"/>
              <a:ext cx="917257" cy="91725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4872334" y="607695"/>
              <a:ext cx="897890" cy="622935"/>
            </a:xfrm>
            <a:custGeom>
              <a:avLst/>
              <a:gdLst/>
              <a:ahLst/>
              <a:cxnLst/>
              <a:rect l="l" t="t" r="r" b="b"/>
              <a:pathLst>
                <a:path w="897890" h="622935">
                  <a:moveTo>
                    <a:pt x="897353" y="622553"/>
                  </a:moveTo>
                  <a:lnTo>
                    <a:pt x="0" y="622553"/>
                  </a:lnTo>
                  <a:lnTo>
                    <a:pt x="0" y="0"/>
                  </a:lnTo>
                  <a:lnTo>
                    <a:pt x="897353" y="0"/>
                  </a:lnTo>
                  <a:lnTo>
                    <a:pt x="897353" y="622553"/>
                  </a:lnTo>
                  <a:close/>
                </a:path>
              </a:pathLst>
            </a:custGeom>
            <a:solidFill>
              <a:srgbClr val="D0D5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872334" y="607704"/>
              <a:ext cx="895350" cy="619125"/>
            </a:xfrm>
            <a:custGeom>
              <a:avLst/>
              <a:gdLst/>
              <a:ahLst/>
              <a:cxnLst/>
              <a:rect l="l" t="t" r="r" b="b"/>
              <a:pathLst>
                <a:path w="895350" h="619125">
                  <a:moveTo>
                    <a:pt x="0" y="619115"/>
                  </a:moveTo>
                  <a:lnTo>
                    <a:pt x="0" y="0"/>
                  </a:lnTo>
                  <a:lnTo>
                    <a:pt x="895350" y="0"/>
                  </a:lnTo>
                </a:path>
              </a:pathLst>
            </a:custGeom>
            <a:ln w="38099">
              <a:solidFill>
                <a:srgbClr val="D0D5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09291" y="644652"/>
              <a:ext cx="822959" cy="54863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5831393" y="698627"/>
            <a:ext cx="15875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50" dirty="0">
                <a:solidFill>
                  <a:srgbClr val="0A1F4A"/>
                </a:solidFill>
                <a:latin typeface="Calibri"/>
                <a:cs typeface="Calibri"/>
              </a:rPr>
              <a:t>×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6032860" y="588654"/>
            <a:ext cx="933450" cy="657225"/>
            <a:chOff x="16032860" y="588654"/>
            <a:chExt cx="933450" cy="657225"/>
          </a:xfrm>
        </p:grpSpPr>
        <p:sp>
          <p:nvSpPr>
            <p:cNvPr id="10" name="object 10"/>
            <p:cNvSpPr/>
            <p:nvPr/>
          </p:nvSpPr>
          <p:spPr>
            <a:xfrm>
              <a:off x="16051910" y="607695"/>
              <a:ext cx="897890" cy="622935"/>
            </a:xfrm>
            <a:custGeom>
              <a:avLst/>
              <a:gdLst/>
              <a:ahLst/>
              <a:cxnLst/>
              <a:rect l="l" t="t" r="r" b="b"/>
              <a:pathLst>
                <a:path w="897890" h="622935">
                  <a:moveTo>
                    <a:pt x="897353" y="622553"/>
                  </a:moveTo>
                  <a:lnTo>
                    <a:pt x="0" y="622553"/>
                  </a:lnTo>
                  <a:lnTo>
                    <a:pt x="0" y="0"/>
                  </a:lnTo>
                  <a:lnTo>
                    <a:pt x="897353" y="0"/>
                  </a:lnTo>
                  <a:lnTo>
                    <a:pt x="897353" y="622553"/>
                  </a:lnTo>
                  <a:close/>
                </a:path>
              </a:pathLst>
            </a:custGeom>
            <a:solidFill>
              <a:srgbClr val="D0D5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051910" y="607704"/>
              <a:ext cx="895350" cy="619125"/>
            </a:xfrm>
            <a:custGeom>
              <a:avLst/>
              <a:gdLst/>
              <a:ahLst/>
              <a:cxnLst/>
              <a:rect l="l" t="t" r="r" b="b"/>
              <a:pathLst>
                <a:path w="895350" h="619125">
                  <a:moveTo>
                    <a:pt x="0" y="619115"/>
                  </a:moveTo>
                  <a:lnTo>
                    <a:pt x="0" y="0"/>
                  </a:lnTo>
                  <a:lnTo>
                    <a:pt x="895350" y="0"/>
                  </a:lnTo>
                </a:path>
              </a:pathLst>
            </a:custGeom>
            <a:ln w="38099">
              <a:solidFill>
                <a:srgbClr val="D0D5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088867" y="644652"/>
              <a:ext cx="822959" cy="54863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7282576" y="750951"/>
            <a:ext cx="300990" cy="333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">
              <a:lnSpc>
                <a:spcPts val="1135"/>
              </a:lnSpc>
            </a:pPr>
            <a:r>
              <a:rPr sz="1200" b="1" spc="-25" dirty="0">
                <a:solidFill>
                  <a:srgbClr val="5B6474"/>
                </a:solidFill>
                <a:latin typeface="Calibri"/>
                <a:cs typeface="Calibri"/>
              </a:rPr>
              <a:t>DGU</a:t>
            </a:r>
            <a:endParaRPr sz="1200">
              <a:latin typeface="Calibri"/>
              <a:cs typeface="Calibri"/>
            </a:endParaRPr>
          </a:p>
          <a:p>
            <a:pPr>
              <a:lnSpc>
                <a:spcPts val="1430"/>
              </a:lnSpc>
            </a:pPr>
            <a:r>
              <a:rPr sz="1200" b="1" spc="-25" dirty="0">
                <a:solidFill>
                  <a:srgbClr val="5B6474"/>
                </a:solidFill>
                <a:latin typeface="Calibri"/>
                <a:cs typeface="Calibri"/>
              </a:rPr>
              <a:t>Logo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993551" y="479488"/>
            <a:ext cx="878966" cy="878966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732947" y="2035968"/>
            <a:ext cx="8201025" cy="2443480"/>
            <a:chOff x="732947" y="2035968"/>
            <a:chExt cx="8201025" cy="2443480"/>
          </a:xfrm>
        </p:grpSpPr>
        <p:sp>
          <p:nvSpPr>
            <p:cNvPr id="16" name="object 16"/>
            <p:cNvSpPr/>
            <p:nvPr/>
          </p:nvSpPr>
          <p:spPr>
            <a:xfrm>
              <a:off x="747236" y="2050255"/>
              <a:ext cx="8175625" cy="2414905"/>
            </a:xfrm>
            <a:custGeom>
              <a:avLst/>
              <a:gdLst/>
              <a:ahLst/>
              <a:cxnLst/>
              <a:rect l="l" t="t" r="r" b="b"/>
              <a:pathLst>
                <a:path w="8175625" h="2414904">
                  <a:moveTo>
                    <a:pt x="8064912" y="2414587"/>
                  </a:moveTo>
                  <a:lnTo>
                    <a:pt x="110394" y="2414587"/>
                  </a:lnTo>
                  <a:lnTo>
                    <a:pt x="67428" y="2405910"/>
                  </a:lnTo>
                  <a:lnTo>
                    <a:pt x="32337" y="2382249"/>
                  </a:lnTo>
                  <a:lnTo>
                    <a:pt x="8676" y="2347159"/>
                  </a:lnTo>
                  <a:lnTo>
                    <a:pt x="0" y="2304192"/>
                  </a:lnTo>
                  <a:lnTo>
                    <a:pt x="0" y="110394"/>
                  </a:lnTo>
                  <a:lnTo>
                    <a:pt x="8676" y="67428"/>
                  </a:lnTo>
                  <a:lnTo>
                    <a:pt x="32337" y="32337"/>
                  </a:lnTo>
                  <a:lnTo>
                    <a:pt x="67428" y="8676"/>
                  </a:lnTo>
                  <a:lnTo>
                    <a:pt x="110394" y="0"/>
                  </a:lnTo>
                  <a:lnTo>
                    <a:pt x="8064912" y="0"/>
                  </a:lnTo>
                  <a:lnTo>
                    <a:pt x="8107879" y="8676"/>
                  </a:lnTo>
                  <a:lnTo>
                    <a:pt x="8142969" y="32337"/>
                  </a:lnTo>
                  <a:lnTo>
                    <a:pt x="8166630" y="67428"/>
                  </a:lnTo>
                  <a:lnTo>
                    <a:pt x="8175307" y="110394"/>
                  </a:lnTo>
                  <a:lnTo>
                    <a:pt x="8175307" y="2304192"/>
                  </a:lnTo>
                  <a:lnTo>
                    <a:pt x="8166630" y="2347159"/>
                  </a:lnTo>
                  <a:lnTo>
                    <a:pt x="8142969" y="2382249"/>
                  </a:lnTo>
                  <a:lnTo>
                    <a:pt x="8107879" y="2405910"/>
                  </a:lnTo>
                  <a:lnTo>
                    <a:pt x="8064912" y="2414587"/>
                  </a:lnTo>
                  <a:close/>
                </a:path>
              </a:pathLst>
            </a:custGeom>
            <a:solidFill>
              <a:srgbClr val="F5F7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7235" y="2050256"/>
              <a:ext cx="8172450" cy="2414905"/>
            </a:xfrm>
            <a:custGeom>
              <a:avLst/>
              <a:gdLst/>
              <a:ahLst/>
              <a:cxnLst/>
              <a:rect l="l" t="t" r="r" b="b"/>
              <a:pathLst>
                <a:path w="8172450" h="2414904">
                  <a:moveTo>
                    <a:pt x="8172430" y="2318339"/>
                  </a:moveTo>
                  <a:lnTo>
                    <a:pt x="8166623" y="2347170"/>
                  </a:lnTo>
                  <a:lnTo>
                    <a:pt x="8142951" y="2382262"/>
                  </a:lnTo>
                  <a:lnTo>
                    <a:pt x="8107851" y="2405916"/>
                  </a:lnTo>
                  <a:lnTo>
                    <a:pt x="8064883" y="2414587"/>
                  </a:lnTo>
                  <a:lnTo>
                    <a:pt x="110394" y="2414587"/>
                  </a:lnTo>
                  <a:lnTo>
                    <a:pt x="67426" y="2405909"/>
                  </a:lnTo>
                  <a:lnTo>
                    <a:pt x="32336" y="2382246"/>
                  </a:lnTo>
                  <a:lnTo>
                    <a:pt x="8676" y="2347155"/>
                  </a:lnTo>
                  <a:lnTo>
                    <a:pt x="0" y="2304188"/>
                  </a:lnTo>
                  <a:lnTo>
                    <a:pt x="0" y="110398"/>
                  </a:lnTo>
                  <a:lnTo>
                    <a:pt x="8675" y="67430"/>
                  </a:lnTo>
                  <a:lnTo>
                    <a:pt x="32336" y="32338"/>
                  </a:lnTo>
                  <a:lnTo>
                    <a:pt x="67427" y="8676"/>
                  </a:lnTo>
                  <a:lnTo>
                    <a:pt x="110395" y="0"/>
                  </a:lnTo>
                  <a:lnTo>
                    <a:pt x="8064883" y="0"/>
                  </a:lnTo>
                  <a:lnTo>
                    <a:pt x="8107861" y="8664"/>
                  </a:lnTo>
                  <a:lnTo>
                    <a:pt x="8142962" y="32326"/>
                  </a:lnTo>
                  <a:lnTo>
                    <a:pt x="8166630" y="67426"/>
                  </a:lnTo>
                  <a:lnTo>
                    <a:pt x="8172420" y="96249"/>
                  </a:lnTo>
                </a:path>
              </a:pathLst>
            </a:custGeom>
            <a:ln w="28574">
              <a:solidFill>
                <a:srgbClr val="C8D3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084579" y="2135993"/>
            <a:ext cx="7362190" cy="124333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2400" b="1" dirty="0">
                <a:solidFill>
                  <a:srgbClr val="0A1F4A"/>
                </a:solidFill>
                <a:latin typeface="Cambria"/>
                <a:cs typeface="Cambria"/>
              </a:rPr>
              <a:t>The Challenge</a:t>
            </a:r>
            <a:endParaRPr sz="2400">
              <a:latin typeface="Cambria"/>
              <a:cs typeface="Cambria"/>
            </a:endParaRPr>
          </a:p>
          <a:p>
            <a:pPr marL="12700" marR="5080">
              <a:lnSpc>
                <a:spcPts val="2330"/>
              </a:lnSpc>
              <a:spcBef>
                <a:spcPts val="1000"/>
              </a:spcBef>
            </a:pPr>
            <a:r>
              <a:rPr sz="1950" i="1" dirty="0">
                <a:solidFill>
                  <a:srgbClr val="5B6474"/>
                </a:solidFill>
                <a:latin typeface="Calibri"/>
                <a:cs typeface="Calibri"/>
              </a:rPr>
              <a:t>Simultaneous calls, limited ambulances, repeated questions, hard-to-spot urgent patients, duplicate calls for one accident, and inefficient ambulance allocation &amp; hospital routing.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9366970" y="2028824"/>
            <a:ext cx="8190865" cy="1634489"/>
            <a:chOff x="9366970" y="2028824"/>
            <a:chExt cx="8190865" cy="1634489"/>
          </a:xfrm>
        </p:grpSpPr>
        <p:sp>
          <p:nvSpPr>
            <p:cNvPr id="33" name="object 33"/>
            <p:cNvSpPr/>
            <p:nvPr/>
          </p:nvSpPr>
          <p:spPr>
            <a:xfrm>
              <a:off x="9385934" y="2047874"/>
              <a:ext cx="8150859" cy="1596390"/>
            </a:xfrm>
            <a:custGeom>
              <a:avLst/>
              <a:gdLst/>
              <a:ahLst/>
              <a:cxnLst/>
              <a:rect l="l" t="t" r="r" b="b"/>
              <a:pathLst>
                <a:path w="8150859" h="1596389">
                  <a:moveTo>
                    <a:pt x="8041577" y="1596390"/>
                  </a:moveTo>
                  <a:lnTo>
                    <a:pt x="111061" y="1596390"/>
                  </a:lnTo>
                  <a:lnTo>
                    <a:pt x="67830" y="1587662"/>
                  </a:lnTo>
                  <a:lnTo>
                    <a:pt x="32528" y="1563862"/>
                  </a:lnTo>
                  <a:lnTo>
                    <a:pt x="8727" y="1528560"/>
                  </a:lnTo>
                  <a:lnTo>
                    <a:pt x="0" y="1485328"/>
                  </a:lnTo>
                  <a:lnTo>
                    <a:pt x="0" y="111061"/>
                  </a:lnTo>
                  <a:lnTo>
                    <a:pt x="8727" y="67829"/>
                  </a:lnTo>
                  <a:lnTo>
                    <a:pt x="32528" y="32527"/>
                  </a:lnTo>
                  <a:lnTo>
                    <a:pt x="67830" y="8727"/>
                  </a:lnTo>
                  <a:lnTo>
                    <a:pt x="111061" y="0"/>
                  </a:lnTo>
                  <a:lnTo>
                    <a:pt x="8041577" y="0"/>
                  </a:lnTo>
                  <a:lnTo>
                    <a:pt x="8084808" y="8727"/>
                  </a:lnTo>
                  <a:lnTo>
                    <a:pt x="8120110" y="32527"/>
                  </a:lnTo>
                  <a:lnTo>
                    <a:pt x="8143911" y="67829"/>
                  </a:lnTo>
                  <a:lnTo>
                    <a:pt x="8150319" y="99571"/>
                  </a:lnTo>
                  <a:lnTo>
                    <a:pt x="8150319" y="1496818"/>
                  </a:lnTo>
                  <a:lnTo>
                    <a:pt x="8143911" y="1528560"/>
                  </a:lnTo>
                  <a:lnTo>
                    <a:pt x="8120110" y="1563862"/>
                  </a:lnTo>
                  <a:lnTo>
                    <a:pt x="8084808" y="1587662"/>
                  </a:lnTo>
                  <a:lnTo>
                    <a:pt x="8041577" y="1596390"/>
                  </a:lnTo>
                  <a:close/>
                </a:path>
              </a:pathLst>
            </a:custGeom>
            <a:solidFill>
              <a:srgbClr val="F1A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386020" y="2047874"/>
              <a:ext cx="8152765" cy="1596390"/>
            </a:xfrm>
            <a:custGeom>
              <a:avLst/>
              <a:gdLst/>
              <a:ahLst/>
              <a:cxnLst/>
              <a:rect l="l" t="t" r="r" b="b"/>
              <a:pathLst>
                <a:path w="8152765" h="1596389">
                  <a:moveTo>
                    <a:pt x="0" y="111057"/>
                  </a:moveTo>
                  <a:lnTo>
                    <a:pt x="8726" y="67827"/>
                  </a:lnTo>
                  <a:lnTo>
                    <a:pt x="32526" y="32526"/>
                  </a:lnTo>
                  <a:lnTo>
                    <a:pt x="67826" y="8727"/>
                  </a:lnTo>
                  <a:lnTo>
                    <a:pt x="111056" y="0"/>
                  </a:lnTo>
                  <a:lnTo>
                    <a:pt x="8041274" y="0"/>
                  </a:lnTo>
                  <a:lnTo>
                    <a:pt x="8084505" y="8726"/>
                  </a:lnTo>
                  <a:lnTo>
                    <a:pt x="8119806" y="32526"/>
                  </a:lnTo>
                  <a:lnTo>
                    <a:pt x="8143606" y="67827"/>
                  </a:lnTo>
                  <a:lnTo>
                    <a:pt x="8152332" y="111057"/>
                  </a:lnTo>
                  <a:lnTo>
                    <a:pt x="8152332" y="1485273"/>
                  </a:lnTo>
                  <a:lnTo>
                    <a:pt x="8143605" y="1528503"/>
                  </a:lnTo>
                  <a:lnTo>
                    <a:pt x="8119805" y="1563804"/>
                  </a:lnTo>
                  <a:lnTo>
                    <a:pt x="8084504" y="1587603"/>
                  </a:lnTo>
                  <a:lnTo>
                    <a:pt x="8041274" y="1596330"/>
                  </a:lnTo>
                  <a:lnTo>
                    <a:pt x="111056" y="1596330"/>
                  </a:lnTo>
                  <a:lnTo>
                    <a:pt x="67826" y="1587603"/>
                  </a:lnTo>
                  <a:lnTo>
                    <a:pt x="32526" y="1563803"/>
                  </a:lnTo>
                  <a:lnTo>
                    <a:pt x="8726" y="1528502"/>
                  </a:lnTo>
                  <a:lnTo>
                    <a:pt x="0" y="1485272"/>
                  </a:lnTo>
                  <a:lnTo>
                    <a:pt x="0" y="111057"/>
                  </a:lnTo>
                </a:path>
              </a:pathLst>
            </a:custGeom>
            <a:ln w="38099">
              <a:solidFill>
                <a:srgbClr val="F1A8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9725659" y="2153829"/>
            <a:ext cx="7477759" cy="1339469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  <a:tabLst>
                <a:tab pos="1440180" algn="l"/>
              </a:tabLst>
            </a:pPr>
            <a:r>
              <a:rPr sz="1500" b="1" dirty="0">
                <a:solidFill>
                  <a:srgbClr val="0A1F4A"/>
                </a:solidFill>
                <a:latin typeface="Calibri"/>
                <a:cs typeface="Calibri"/>
              </a:rPr>
              <a:t>P</a:t>
            </a:r>
            <a:r>
              <a:rPr sz="1500" b="1" spc="100" dirty="0">
                <a:solidFill>
                  <a:srgbClr val="0A1F4A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A1F4A"/>
                </a:solidFill>
                <a:latin typeface="Calibri"/>
                <a:cs typeface="Calibri"/>
              </a:rPr>
              <a:t>R</a:t>
            </a:r>
            <a:r>
              <a:rPr sz="1500" b="1" spc="105" dirty="0">
                <a:solidFill>
                  <a:srgbClr val="0A1F4A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A1F4A"/>
                </a:solidFill>
                <a:latin typeface="Calibri"/>
                <a:cs typeface="Calibri"/>
              </a:rPr>
              <a:t>O</a:t>
            </a:r>
            <a:r>
              <a:rPr sz="1500" b="1" spc="105" dirty="0">
                <a:solidFill>
                  <a:srgbClr val="0A1F4A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A1F4A"/>
                </a:solidFill>
                <a:latin typeface="Calibri"/>
                <a:cs typeface="Calibri"/>
              </a:rPr>
              <a:t>P</a:t>
            </a:r>
            <a:r>
              <a:rPr sz="1500" b="1" spc="105" dirty="0">
                <a:solidFill>
                  <a:srgbClr val="0A1F4A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A1F4A"/>
                </a:solidFill>
                <a:latin typeface="Calibri"/>
                <a:cs typeface="Calibri"/>
              </a:rPr>
              <a:t>O</a:t>
            </a:r>
            <a:r>
              <a:rPr sz="1500" b="1" spc="105" dirty="0">
                <a:solidFill>
                  <a:srgbClr val="0A1F4A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A1F4A"/>
                </a:solidFill>
                <a:latin typeface="Calibri"/>
                <a:cs typeface="Calibri"/>
              </a:rPr>
              <a:t>S</a:t>
            </a:r>
            <a:r>
              <a:rPr sz="1500" b="1" spc="105" dirty="0">
                <a:solidFill>
                  <a:srgbClr val="0A1F4A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A1F4A"/>
                </a:solidFill>
                <a:latin typeface="Calibri"/>
                <a:cs typeface="Calibri"/>
              </a:rPr>
              <a:t>E</a:t>
            </a:r>
            <a:r>
              <a:rPr sz="1500" b="1" spc="105" dirty="0">
                <a:solidFill>
                  <a:srgbClr val="0A1F4A"/>
                </a:solidFill>
                <a:latin typeface="Calibri"/>
                <a:cs typeface="Calibri"/>
              </a:rPr>
              <a:t> </a:t>
            </a:r>
            <a:r>
              <a:rPr sz="1500" b="1" spc="-50" dirty="0">
                <a:solidFill>
                  <a:srgbClr val="0A1F4A"/>
                </a:solidFill>
                <a:latin typeface="Calibri"/>
                <a:cs typeface="Calibri"/>
              </a:rPr>
              <a:t>D</a:t>
            </a:r>
            <a:r>
              <a:rPr sz="1500" b="1" dirty="0">
                <a:solidFill>
                  <a:srgbClr val="0A1F4A"/>
                </a:solidFill>
                <a:latin typeface="Calibri"/>
                <a:cs typeface="Calibri"/>
              </a:rPr>
              <a:t>	S</a:t>
            </a:r>
            <a:r>
              <a:rPr sz="1500" b="1" spc="105" dirty="0">
                <a:solidFill>
                  <a:srgbClr val="0A1F4A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A1F4A"/>
                </a:solidFill>
                <a:latin typeface="Calibri"/>
                <a:cs typeface="Calibri"/>
              </a:rPr>
              <a:t>O</a:t>
            </a:r>
            <a:r>
              <a:rPr sz="1500" b="1" spc="110" dirty="0">
                <a:solidFill>
                  <a:srgbClr val="0A1F4A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A1F4A"/>
                </a:solidFill>
                <a:latin typeface="Calibri"/>
                <a:cs typeface="Calibri"/>
              </a:rPr>
              <a:t>L</a:t>
            </a:r>
            <a:r>
              <a:rPr sz="1500" b="1" spc="105" dirty="0">
                <a:solidFill>
                  <a:srgbClr val="0A1F4A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A1F4A"/>
                </a:solidFill>
                <a:latin typeface="Calibri"/>
                <a:cs typeface="Calibri"/>
              </a:rPr>
              <a:t>U</a:t>
            </a:r>
            <a:r>
              <a:rPr sz="1500" b="1" spc="110" dirty="0">
                <a:solidFill>
                  <a:srgbClr val="0A1F4A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A1F4A"/>
                </a:solidFill>
                <a:latin typeface="Calibri"/>
                <a:cs typeface="Calibri"/>
              </a:rPr>
              <a:t>T</a:t>
            </a:r>
            <a:r>
              <a:rPr sz="1500" b="1" spc="105" dirty="0">
                <a:solidFill>
                  <a:srgbClr val="0A1F4A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A1F4A"/>
                </a:solidFill>
                <a:latin typeface="Calibri"/>
                <a:cs typeface="Calibri"/>
              </a:rPr>
              <a:t>I</a:t>
            </a:r>
            <a:r>
              <a:rPr sz="1500" b="1" spc="110" dirty="0">
                <a:solidFill>
                  <a:srgbClr val="0A1F4A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A1F4A"/>
                </a:solidFill>
                <a:latin typeface="Calibri"/>
                <a:cs typeface="Calibri"/>
              </a:rPr>
              <a:t>O</a:t>
            </a:r>
            <a:r>
              <a:rPr sz="1500" b="1" spc="105" dirty="0">
                <a:solidFill>
                  <a:srgbClr val="0A1F4A"/>
                </a:solidFill>
                <a:latin typeface="Calibri"/>
                <a:cs typeface="Calibri"/>
              </a:rPr>
              <a:t> </a:t>
            </a:r>
            <a:r>
              <a:rPr sz="1500" b="1" spc="-50" dirty="0">
                <a:solidFill>
                  <a:srgbClr val="0A1F4A"/>
                </a:solidFill>
                <a:latin typeface="Calibri"/>
                <a:cs typeface="Calibri"/>
              </a:rPr>
              <a:t>N</a:t>
            </a:r>
            <a:endParaRPr sz="1500" dirty="0">
              <a:latin typeface="Calibri"/>
              <a:cs typeface="Calibri"/>
            </a:endParaRPr>
          </a:p>
          <a:p>
            <a:pPr marL="12700">
              <a:lnSpc>
                <a:spcPts val="2500"/>
              </a:lnSpc>
              <a:spcBef>
                <a:spcPts val="625"/>
              </a:spcBef>
            </a:pPr>
            <a:r>
              <a:rPr lang="en-US" sz="2100" b="1" i="1" dirty="0">
                <a:solidFill>
                  <a:srgbClr val="0A1F4A"/>
                </a:solidFill>
                <a:latin typeface="Calibri"/>
                <a:cs typeface="Calibri"/>
              </a:rPr>
              <a:t>Priority 108 </a:t>
            </a:r>
            <a:r>
              <a:rPr sz="2100" b="1" i="1" dirty="0">
                <a:solidFill>
                  <a:srgbClr val="0A1F4A"/>
                </a:solidFill>
                <a:latin typeface="Calibri"/>
                <a:cs typeface="Calibri"/>
              </a:rPr>
              <a:t>helps control centres ask smarter, prioritize faster, link duplicate calls and route better.</a:t>
            </a:r>
            <a:endParaRPr sz="2100" dirty="0">
              <a:latin typeface="Calibri"/>
              <a:cs typeface="Calibri"/>
            </a:endParaRPr>
          </a:p>
          <a:p>
            <a:pPr marL="12700">
              <a:lnSpc>
                <a:spcPts val="2500"/>
              </a:lnSpc>
            </a:pPr>
            <a:endParaRPr sz="2100" dirty="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32948" y="4710588"/>
            <a:ext cx="4019550" cy="2237740"/>
            <a:chOff x="732948" y="4710588"/>
            <a:chExt cx="4019550" cy="2237740"/>
          </a:xfrm>
        </p:grpSpPr>
        <p:sp>
          <p:nvSpPr>
            <p:cNvPr id="20" name="object 20"/>
            <p:cNvSpPr/>
            <p:nvPr/>
          </p:nvSpPr>
          <p:spPr>
            <a:xfrm>
              <a:off x="747236" y="4724875"/>
              <a:ext cx="3992245" cy="2209165"/>
            </a:xfrm>
            <a:custGeom>
              <a:avLst/>
              <a:gdLst/>
              <a:ahLst/>
              <a:cxnLst/>
              <a:rect l="l" t="t" r="r" b="b"/>
              <a:pathLst>
                <a:path w="3992245" h="2209165">
                  <a:moveTo>
                    <a:pt x="3881437" y="2208752"/>
                  </a:moveTo>
                  <a:lnTo>
                    <a:pt x="110394" y="2208752"/>
                  </a:lnTo>
                  <a:lnTo>
                    <a:pt x="67428" y="2200129"/>
                  </a:lnTo>
                  <a:lnTo>
                    <a:pt x="32337" y="2176486"/>
                  </a:lnTo>
                  <a:lnTo>
                    <a:pt x="8676" y="2141377"/>
                  </a:lnTo>
                  <a:lnTo>
                    <a:pt x="0" y="2098357"/>
                  </a:lnTo>
                  <a:lnTo>
                    <a:pt x="0" y="110394"/>
                  </a:lnTo>
                  <a:lnTo>
                    <a:pt x="8676" y="67428"/>
                  </a:lnTo>
                  <a:lnTo>
                    <a:pt x="32337" y="32337"/>
                  </a:lnTo>
                  <a:lnTo>
                    <a:pt x="67428" y="8676"/>
                  </a:lnTo>
                  <a:lnTo>
                    <a:pt x="110394" y="0"/>
                  </a:lnTo>
                  <a:lnTo>
                    <a:pt x="3881437" y="0"/>
                  </a:lnTo>
                  <a:lnTo>
                    <a:pt x="3924404" y="8676"/>
                  </a:lnTo>
                  <a:lnTo>
                    <a:pt x="3959494" y="32337"/>
                  </a:lnTo>
                  <a:lnTo>
                    <a:pt x="3983155" y="67428"/>
                  </a:lnTo>
                  <a:lnTo>
                    <a:pt x="3991832" y="110394"/>
                  </a:lnTo>
                  <a:lnTo>
                    <a:pt x="3991832" y="2098357"/>
                  </a:lnTo>
                  <a:lnTo>
                    <a:pt x="3983119" y="2141377"/>
                  </a:lnTo>
                  <a:lnTo>
                    <a:pt x="3959388" y="2176486"/>
                  </a:lnTo>
                  <a:lnTo>
                    <a:pt x="3924324" y="2200129"/>
                  </a:lnTo>
                  <a:lnTo>
                    <a:pt x="3881437" y="2208752"/>
                  </a:lnTo>
                  <a:close/>
                </a:path>
              </a:pathLst>
            </a:custGeom>
            <a:solidFill>
              <a:srgbClr val="EDF1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47236" y="4724876"/>
              <a:ext cx="3990975" cy="2209165"/>
            </a:xfrm>
            <a:custGeom>
              <a:avLst/>
              <a:gdLst/>
              <a:ahLst/>
              <a:cxnLst/>
              <a:rect l="l" t="t" r="r" b="b"/>
              <a:pathLst>
                <a:path w="3990975" h="2209165">
                  <a:moveTo>
                    <a:pt x="3990863" y="2102568"/>
                  </a:moveTo>
                  <a:lnTo>
                    <a:pt x="3983020" y="2141357"/>
                  </a:lnTo>
                  <a:lnTo>
                    <a:pt x="3959461" y="2176378"/>
                  </a:lnTo>
                  <a:lnTo>
                    <a:pt x="3924370" y="2200097"/>
                  </a:lnTo>
                  <a:lnTo>
                    <a:pt x="3924116" y="2200022"/>
                  </a:lnTo>
                  <a:lnTo>
                    <a:pt x="3881433" y="2208731"/>
                  </a:lnTo>
                  <a:lnTo>
                    <a:pt x="110422" y="2208757"/>
                  </a:lnTo>
                  <a:lnTo>
                    <a:pt x="67419" y="2200123"/>
                  </a:lnTo>
                  <a:lnTo>
                    <a:pt x="32311" y="2176448"/>
                  </a:lnTo>
                  <a:lnTo>
                    <a:pt x="8652" y="2141341"/>
                  </a:lnTo>
                  <a:lnTo>
                    <a:pt x="0" y="2098272"/>
                  </a:lnTo>
                  <a:lnTo>
                    <a:pt x="1" y="110380"/>
                  </a:lnTo>
                  <a:lnTo>
                    <a:pt x="8693" y="67402"/>
                  </a:lnTo>
                  <a:lnTo>
                    <a:pt x="32372" y="32313"/>
                  </a:lnTo>
                  <a:lnTo>
                    <a:pt x="67474" y="8667"/>
                  </a:lnTo>
                  <a:lnTo>
                    <a:pt x="110441" y="0"/>
                  </a:lnTo>
                  <a:lnTo>
                    <a:pt x="3881330" y="0"/>
                  </a:lnTo>
                  <a:lnTo>
                    <a:pt x="3924329" y="8626"/>
                  </a:lnTo>
                  <a:lnTo>
                    <a:pt x="3959459" y="32285"/>
                  </a:lnTo>
                  <a:lnTo>
                    <a:pt x="3983150" y="67403"/>
                  </a:lnTo>
                  <a:lnTo>
                    <a:pt x="3990869" y="106170"/>
                  </a:lnTo>
                </a:path>
              </a:pathLst>
            </a:custGeom>
            <a:ln w="28574">
              <a:solidFill>
                <a:srgbClr val="C8D3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016000" y="4764658"/>
            <a:ext cx="3400000" cy="143573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2100" b="1" dirty="0">
                <a:solidFill>
                  <a:srgbClr val="0A1F4A"/>
                </a:solidFill>
                <a:latin typeface="Calibri"/>
                <a:cs typeface="Calibri"/>
              </a:rPr>
              <a:t>Target Users</a:t>
            </a:r>
            <a:endParaRPr sz="2100">
              <a:latin typeface="Calibri"/>
              <a:cs typeface="Calibri"/>
            </a:endParaRPr>
          </a:p>
          <a:p>
            <a:pPr marL="12700" marR="5080">
              <a:lnSpc>
                <a:spcPts val="2100"/>
              </a:lnSpc>
              <a:spcBef>
                <a:spcPts val="1145"/>
              </a:spcBef>
            </a:pPr>
            <a:r>
              <a:rPr sz="1800" i="1" dirty="0">
                <a:solidFill>
                  <a:srgbClr val="5B6474"/>
                </a:solidFill>
                <a:latin typeface="Calibri"/>
                <a:cs typeface="Calibri"/>
              </a:rPr>
              <a:t>Emergency control-centre dispatchers and ambulance teams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916329" y="4710588"/>
            <a:ext cx="4019550" cy="2237740"/>
            <a:chOff x="4916329" y="4710588"/>
            <a:chExt cx="4019550" cy="2237740"/>
          </a:xfrm>
        </p:grpSpPr>
        <p:sp>
          <p:nvSpPr>
            <p:cNvPr id="24" name="object 24"/>
            <p:cNvSpPr/>
            <p:nvPr/>
          </p:nvSpPr>
          <p:spPr>
            <a:xfrm>
              <a:off x="4930616" y="4724875"/>
              <a:ext cx="3992245" cy="2209165"/>
            </a:xfrm>
            <a:custGeom>
              <a:avLst/>
              <a:gdLst/>
              <a:ahLst/>
              <a:cxnLst/>
              <a:rect l="l" t="t" r="r" b="b"/>
              <a:pathLst>
                <a:path w="3992245" h="2209165">
                  <a:moveTo>
                    <a:pt x="3881437" y="2208752"/>
                  </a:moveTo>
                  <a:lnTo>
                    <a:pt x="110394" y="2208752"/>
                  </a:lnTo>
                  <a:lnTo>
                    <a:pt x="67428" y="2200129"/>
                  </a:lnTo>
                  <a:lnTo>
                    <a:pt x="32337" y="2176486"/>
                  </a:lnTo>
                  <a:lnTo>
                    <a:pt x="8676" y="2141377"/>
                  </a:lnTo>
                  <a:lnTo>
                    <a:pt x="0" y="2098357"/>
                  </a:lnTo>
                  <a:lnTo>
                    <a:pt x="0" y="110394"/>
                  </a:lnTo>
                  <a:lnTo>
                    <a:pt x="8676" y="67428"/>
                  </a:lnTo>
                  <a:lnTo>
                    <a:pt x="32337" y="32337"/>
                  </a:lnTo>
                  <a:lnTo>
                    <a:pt x="67428" y="8676"/>
                  </a:lnTo>
                  <a:lnTo>
                    <a:pt x="110394" y="0"/>
                  </a:lnTo>
                  <a:lnTo>
                    <a:pt x="3881437" y="0"/>
                  </a:lnTo>
                  <a:lnTo>
                    <a:pt x="3924403" y="8676"/>
                  </a:lnTo>
                  <a:lnTo>
                    <a:pt x="3959494" y="32337"/>
                  </a:lnTo>
                  <a:lnTo>
                    <a:pt x="3983155" y="67428"/>
                  </a:lnTo>
                  <a:lnTo>
                    <a:pt x="3991831" y="110394"/>
                  </a:lnTo>
                  <a:lnTo>
                    <a:pt x="3991831" y="2098357"/>
                  </a:lnTo>
                  <a:lnTo>
                    <a:pt x="3983119" y="2141377"/>
                  </a:lnTo>
                  <a:lnTo>
                    <a:pt x="3959388" y="2176486"/>
                  </a:lnTo>
                  <a:lnTo>
                    <a:pt x="3924324" y="2200129"/>
                  </a:lnTo>
                  <a:lnTo>
                    <a:pt x="3881437" y="2208752"/>
                  </a:lnTo>
                  <a:close/>
                </a:path>
              </a:pathLst>
            </a:custGeom>
            <a:solidFill>
              <a:srgbClr val="EDF1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930616" y="4724876"/>
              <a:ext cx="3990975" cy="2209165"/>
            </a:xfrm>
            <a:custGeom>
              <a:avLst/>
              <a:gdLst/>
              <a:ahLst/>
              <a:cxnLst/>
              <a:rect l="l" t="t" r="r" b="b"/>
              <a:pathLst>
                <a:path w="3990975" h="2209165">
                  <a:moveTo>
                    <a:pt x="3990863" y="2102568"/>
                  </a:moveTo>
                  <a:lnTo>
                    <a:pt x="3983020" y="2141357"/>
                  </a:lnTo>
                  <a:lnTo>
                    <a:pt x="3959461" y="2176378"/>
                  </a:lnTo>
                  <a:lnTo>
                    <a:pt x="3924370" y="2200097"/>
                  </a:lnTo>
                  <a:lnTo>
                    <a:pt x="3924116" y="2200022"/>
                  </a:lnTo>
                  <a:lnTo>
                    <a:pt x="3881432" y="2208731"/>
                  </a:lnTo>
                  <a:lnTo>
                    <a:pt x="110421" y="2208757"/>
                  </a:lnTo>
                  <a:lnTo>
                    <a:pt x="67419" y="2200123"/>
                  </a:lnTo>
                  <a:lnTo>
                    <a:pt x="32311" y="2176448"/>
                  </a:lnTo>
                  <a:lnTo>
                    <a:pt x="8652" y="2141341"/>
                  </a:lnTo>
                  <a:lnTo>
                    <a:pt x="0" y="2098272"/>
                  </a:lnTo>
                  <a:lnTo>
                    <a:pt x="1" y="110380"/>
                  </a:lnTo>
                  <a:lnTo>
                    <a:pt x="8693" y="67402"/>
                  </a:lnTo>
                  <a:lnTo>
                    <a:pt x="32372" y="32314"/>
                  </a:lnTo>
                  <a:lnTo>
                    <a:pt x="67474" y="8667"/>
                  </a:lnTo>
                  <a:lnTo>
                    <a:pt x="110441" y="0"/>
                  </a:lnTo>
                  <a:lnTo>
                    <a:pt x="3881330" y="0"/>
                  </a:lnTo>
                  <a:lnTo>
                    <a:pt x="3924329" y="8626"/>
                  </a:lnTo>
                  <a:lnTo>
                    <a:pt x="3959459" y="32285"/>
                  </a:lnTo>
                  <a:lnTo>
                    <a:pt x="3983150" y="67403"/>
                  </a:lnTo>
                  <a:lnTo>
                    <a:pt x="3990869" y="106170"/>
                  </a:lnTo>
                </a:path>
              </a:pathLst>
            </a:custGeom>
            <a:ln w="28574">
              <a:solidFill>
                <a:srgbClr val="C8D3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199379" y="4916677"/>
            <a:ext cx="14808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0A1F4A"/>
                </a:solidFill>
                <a:latin typeface="Calibri"/>
                <a:cs typeface="Calibri"/>
              </a:rPr>
              <a:t>Current Gaps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9374029" y="3887628"/>
            <a:ext cx="8172450" cy="1247775"/>
            <a:chOff x="9374029" y="3887628"/>
            <a:chExt cx="8172450" cy="1247775"/>
          </a:xfrm>
        </p:grpSpPr>
        <p:sp>
          <p:nvSpPr>
            <p:cNvPr id="37" name="object 37"/>
            <p:cNvSpPr/>
            <p:nvPr/>
          </p:nvSpPr>
          <p:spPr>
            <a:xfrm>
              <a:off x="9388316" y="3901916"/>
              <a:ext cx="8148320" cy="1221740"/>
            </a:xfrm>
            <a:custGeom>
              <a:avLst/>
              <a:gdLst/>
              <a:ahLst/>
              <a:cxnLst/>
              <a:rect l="l" t="t" r="r" b="b"/>
              <a:pathLst>
                <a:path w="8148319" h="1221739">
                  <a:moveTo>
                    <a:pt x="8036813" y="1221295"/>
                  </a:moveTo>
                  <a:lnTo>
                    <a:pt x="111061" y="1221295"/>
                  </a:lnTo>
                  <a:lnTo>
                    <a:pt x="67829" y="1212568"/>
                  </a:lnTo>
                  <a:lnTo>
                    <a:pt x="32527" y="1188767"/>
                  </a:lnTo>
                  <a:lnTo>
                    <a:pt x="8727" y="1153465"/>
                  </a:lnTo>
                  <a:lnTo>
                    <a:pt x="0" y="1110233"/>
                  </a:lnTo>
                  <a:lnTo>
                    <a:pt x="0" y="111061"/>
                  </a:lnTo>
                  <a:lnTo>
                    <a:pt x="8727" y="67829"/>
                  </a:lnTo>
                  <a:lnTo>
                    <a:pt x="32527" y="32527"/>
                  </a:lnTo>
                  <a:lnTo>
                    <a:pt x="67829" y="8727"/>
                  </a:lnTo>
                  <a:lnTo>
                    <a:pt x="111061" y="0"/>
                  </a:lnTo>
                  <a:lnTo>
                    <a:pt x="8036813" y="0"/>
                  </a:lnTo>
                  <a:lnTo>
                    <a:pt x="8080045" y="8727"/>
                  </a:lnTo>
                  <a:lnTo>
                    <a:pt x="8115347" y="32527"/>
                  </a:lnTo>
                  <a:lnTo>
                    <a:pt x="8139147" y="67829"/>
                  </a:lnTo>
                  <a:lnTo>
                    <a:pt x="8147874" y="111061"/>
                  </a:lnTo>
                  <a:lnTo>
                    <a:pt x="8147874" y="1110233"/>
                  </a:lnTo>
                  <a:lnTo>
                    <a:pt x="8139147" y="1153465"/>
                  </a:lnTo>
                  <a:lnTo>
                    <a:pt x="8115347" y="1188767"/>
                  </a:lnTo>
                  <a:lnTo>
                    <a:pt x="8080045" y="1212568"/>
                  </a:lnTo>
                  <a:lnTo>
                    <a:pt x="8036813" y="1221295"/>
                  </a:lnTo>
                  <a:close/>
                </a:path>
              </a:pathLst>
            </a:custGeom>
            <a:solidFill>
              <a:srgbClr val="F5F7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388316" y="3901916"/>
              <a:ext cx="8143875" cy="1219200"/>
            </a:xfrm>
            <a:custGeom>
              <a:avLst/>
              <a:gdLst/>
              <a:ahLst/>
              <a:cxnLst/>
              <a:rect l="l" t="t" r="r" b="b"/>
              <a:pathLst>
                <a:path w="8143875" h="1219200">
                  <a:moveTo>
                    <a:pt x="8143875" y="1129387"/>
                  </a:moveTo>
                  <a:lnTo>
                    <a:pt x="8139017" y="1153450"/>
                  </a:lnTo>
                  <a:lnTo>
                    <a:pt x="8115217" y="1188752"/>
                  </a:lnTo>
                  <a:lnTo>
                    <a:pt x="8079916" y="1212552"/>
                  </a:lnTo>
                  <a:lnTo>
                    <a:pt x="8046988" y="1219199"/>
                  </a:lnTo>
                </a:path>
                <a:path w="8143875" h="1219200">
                  <a:moveTo>
                    <a:pt x="100757" y="1219199"/>
                  </a:moveTo>
                  <a:lnTo>
                    <a:pt x="32527" y="1188752"/>
                  </a:lnTo>
                  <a:lnTo>
                    <a:pt x="8727" y="1153450"/>
                  </a:lnTo>
                  <a:lnTo>
                    <a:pt x="0" y="1110220"/>
                  </a:lnTo>
                  <a:lnTo>
                    <a:pt x="0" y="111063"/>
                  </a:lnTo>
                  <a:lnTo>
                    <a:pt x="8727" y="67832"/>
                  </a:lnTo>
                  <a:lnTo>
                    <a:pt x="32527" y="32531"/>
                  </a:lnTo>
                  <a:lnTo>
                    <a:pt x="67828" y="8730"/>
                  </a:lnTo>
                  <a:lnTo>
                    <a:pt x="111059" y="0"/>
                  </a:lnTo>
                  <a:lnTo>
                    <a:pt x="8036685" y="0"/>
                  </a:lnTo>
                  <a:lnTo>
                    <a:pt x="8079916" y="8730"/>
                  </a:lnTo>
                  <a:lnTo>
                    <a:pt x="8115217" y="32531"/>
                  </a:lnTo>
                  <a:lnTo>
                    <a:pt x="8139017" y="67832"/>
                  </a:lnTo>
                  <a:lnTo>
                    <a:pt x="8143875" y="91895"/>
                  </a:lnTo>
                </a:path>
              </a:pathLst>
            </a:custGeom>
            <a:ln w="28575">
              <a:solidFill>
                <a:srgbClr val="C8D3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660255" y="4173855"/>
              <a:ext cx="677545" cy="677545"/>
            </a:xfrm>
            <a:custGeom>
              <a:avLst/>
              <a:gdLst/>
              <a:ahLst/>
              <a:cxnLst/>
              <a:rect l="l" t="t" r="r" b="b"/>
              <a:pathLst>
                <a:path w="677545" h="677545">
                  <a:moveTo>
                    <a:pt x="338709" y="677418"/>
                  </a:moveTo>
                  <a:lnTo>
                    <a:pt x="292746" y="674326"/>
                  </a:lnTo>
                  <a:lnTo>
                    <a:pt x="248664" y="665319"/>
                  </a:lnTo>
                  <a:lnTo>
                    <a:pt x="206865" y="650801"/>
                  </a:lnTo>
                  <a:lnTo>
                    <a:pt x="167752" y="631175"/>
                  </a:lnTo>
                  <a:lnTo>
                    <a:pt x="131730" y="606845"/>
                  </a:lnTo>
                  <a:lnTo>
                    <a:pt x="99202" y="578215"/>
                  </a:lnTo>
                  <a:lnTo>
                    <a:pt x="70572" y="545687"/>
                  </a:lnTo>
                  <a:lnTo>
                    <a:pt x="46242" y="509665"/>
                  </a:lnTo>
                  <a:lnTo>
                    <a:pt x="26616" y="470552"/>
                  </a:lnTo>
                  <a:lnTo>
                    <a:pt x="12098" y="428753"/>
                  </a:lnTo>
                  <a:lnTo>
                    <a:pt x="3091" y="384671"/>
                  </a:lnTo>
                  <a:lnTo>
                    <a:pt x="0" y="338709"/>
                  </a:lnTo>
                  <a:lnTo>
                    <a:pt x="3091" y="292746"/>
                  </a:lnTo>
                  <a:lnTo>
                    <a:pt x="12098" y="248664"/>
                  </a:lnTo>
                  <a:lnTo>
                    <a:pt x="26616" y="206865"/>
                  </a:lnTo>
                  <a:lnTo>
                    <a:pt x="46242" y="167752"/>
                  </a:lnTo>
                  <a:lnTo>
                    <a:pt x="70572" y="131730"/>
                  </a:lnTo>
                  <a:lnTo>
                    <a:pt x="99202" y="99202"/>
                  </a:lnTo>
                  <a:lnTo>
                    <a:pt x="131730" y="70572"/>
                  </a:lnTo>
                  <a:lnTo>
                    <a:pt x="167752" y="46242"/>
                  </a:lnTo>
                  <a:lnTo>
                    <a:pt x="206865" y="26616"/>
                  </a:lnTo>
                  <a:lnTo>
                    <a:pt x="248664" y="12098"/>
                  </a:lnTo>
                  <a:lnTo>
                    <a:pt x="292746" y="3091"/>
                  </a:lnTo>
                  <a:lnTo>
                    <a:pt x="338709" y="0"/>
                  </a:lnTo>
                  <a:lnTo>
                    <a:pt x="384671" y="3091"/>
                  </a:lnTo>
                  <a:lnTo>
                    <a:pt x="428753" y="12098"/>
                  </a:lnTo>
                  <a:lnTo>
                    <a:pt x="470552" y="26616"/>
                  </a:lnTo>
                  <a:lnTo>
                    <a:pt x="509665" y="46242"/>
                  </a:lnTo>
                  <a:lnTo>
                    <a:pt x="545687" y="70572"/>
                  </a:lnTo>
                  <a:lnTo>
                    <a:pt x="578215" y="99202"/>
                  </a:lnTo>
                  <a:lnTo>
                    <a:pt x="606845" y="131730"/>
                  </a:lnTo>
                  <a:lnTo>
                    <a:pt x="631175" y="167752"/>
                  </a:lnTo>
                  <a:lnTo>
                    <a:pt x="650801" y="206865"/>
                  </a:lnTo>
                  <a:lnTo>
                    <a:pt x="665319" y="248664"/>
                  </a:lnTo>
                  <a:lnTo>
                    <a:pt x="674326" y="292746"/>
                  </a:lnTo>
                  <a:lnTo>
                    <a:pt x="677418" y="338709"/>
                  </a:lnTo>
                  <a:lnTo>
                    <a:pt x="674326" y="384671"/>
                  </a:lnTo>
                  <a:lnTo>
                    <a:pt x="665319" y="428753"/>
                  </a:lnTo>
                  <a:lnTo>
                    <a:pt x="650801" y="470552"/>
                  </a:lnTo>
                  <a:lnTo>
                    <a:pt x="631175" y="509665"/>
                  </a:lnTo>
                  <a:lnTo>
                    <a:pt x="606845" y="545687"/>
                  </a:lnTo>
                  <a:lnTo>
                    <a:pt x="578215" y="578215"/>
                  </a:lnTo>
                  <a:lnTo>
                    <a:pt x="545687" y="606845"/>
                  </a:lnTo>
                  <a:lnTo>
                    <a:pt x="509665" y="631175"/>
                  </a:lnTo>
                  <a:lnTo>
                    <a:pt x="470552" y="650801"/>
                  </a:lnTo>
                  <a:lnTo>
                    <a:pt x="428753" y="665319"/>
                  </a:lnTo>
                  <a:lnTo>
                    <a:pt x="384671" y="674326"/>
                  </a:lnTo>
                  <a:lnTo>
                    <a:pt x="338709" y="677418"/>
                  </a:lnTo>
                  <a:close/>
                </a:path>
              </a:pathLst>
            </a:custGeom>
            <a:solidFill>
              <a:srgbClr val="0A1F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9660251" y="4173851"/>
              <a:ext cx="676275" cy="676275"/>
            </a:xfrm>
            <a:custGeom>
              <a:avLst/>
              <a:gdLst/>
              <a:ahLst/>
              <a:cxnLst/>
              <a:rect l="l" t="t" r="r" b="b"/>
              <a:pathLst>
                <a:path w="676275" h="676275">
                  <a:moveTo>
                    <a:pt x="676214" y="355699"/>
                  </a:moveTo>
                  <a:lnTo>
                    <a:pt x="665331" y="428730"/>
                  </a:lnTo>
                  <a:lnTo>
                    <a:pt x="650813" y="470539"/>
                  </a:lnTo>
                  <a:lnTo>
                    <a:pt x="631184" y="509659"/>
                  </a:lnTo>
                  <a:lnTo>
                    <a:pt x="606849" y="545689"/>
                  </a:lnTo>
                  <a:lnTo>
                    <a:pt x="578212" y="578223"/>
                  </a:lnTo>
                  <a:lnTo>
                    <a:pt x="545676" y="606858"/>
                  </a:lnTo>
                  <a:lnTo>
                    <a:pt x="509645" y="631190"/>
                  </a:lnTo>
                  <a:lnTo>
                    <a:pt x="470523" y="650816"/>
                  </a:lnTo>
                  <a:lnTo>
                    <a:pt x="428714" y="665331"/>
                  </a:lnTo>
                  <a:lnTo>
                    <a:pt x="384623" y="674332"/>
                  </a:lnTo>
                  <a:lnTo>
                    <a:pt x="355696" y="676174"/>
                  </a:lnTo>
                </a:path>
                <a:path w="676275" h="676275">
                  <a:moveTo>
                    <a:pt x="321725" y="676216"/>
                  </a:moveTo>
                  <a:lnTo>
                    <a:pt x="248603" y="665300"/>
                  </a:lnTo>
                  <a:lnTo>
                    <a:pt x="206804" y="650772"/>
                  </a:lnTo>
                  <a:lnTo>
                    <a:pt x="167695" y="631137"/>
                  </a:lnTo>
                  <a:lnTo>
                    <a:pt x="131678" y="606799"/>
                  </a:lnTo>
                  <a:lnTo>
                    <a:pt x="99156" y="578162"/>
                  </a:lnTo>
                  <a:lnTo>
                    <a:pt x="70534" y="545629"/>
                  </a:lnTo>
                  <a:lnTo>
                    <a:pt x="46213" y="509604"/>
                  </a:lnTo>
                  <a:lnTo>
                    <a:pt x="26597" y="470492"/>
                  </a:lnTo>
                  <a:lnTo>
                    <a:pt x="12089" y="428695"/>
                  </a:lnTo>
                  <a:lnTo>
                    <a:pt x="3091" y="384617"/>
                  </a:lnTo>
                  <a:lnTo>
                    <a:pt x="0" y="338661"/>
                  </a:lnTo>
                  <a:lnTo>
                    <a:pt x="3103" y="292708"/>
                  </a:lnTo>
                  <a:lnTo>
                    <a:pt x="12113" y="248635"/>
                  </a:lnTo>
                  <a:lnTo>
                    <a:pt x="26631" y="206845"/>
                  </a:lnTo>
                  <a:lnTo>
                    <a:pt x="46254" y="167742"/>
                  </a:lnTo>
                  <a:lnTo>
                    <a:pt x="70580" y="131728"/>
                  </a:lnTo>
                  <a:lnTo>
                    <a:pt x="99205" y="99207"/>
                  </a:lnTo>
                  <a:lnTo>
                    <a:pt x="131725" y="70581"/>
                  </a:lnTo>
                  <a:lnTo>
                    <a:pt x="167738" y="46254"/>
                  </a:lnTo>
                  <a:lnTo>
                    <a:pt x="206841" y="26629"/>
                  </a:lnTo>
                  <a:lnTo>
                    <a:pt x="248632" y="12109"/>
                  </a:lnTo>
                  <a:lnTo>
                    <a:pt x="292706" y="3098"/>
                  </a:lnTo>
                  <a:lnTo>
                    <a:pt x="338661" y="0"/>
                  </a:lnTo>
                  <a:lnTo>
                    <a:pt x="384619" y="3083"/>
                  </a:lnTo>
                  <a:lnTo>
                    <a:pt x="428699" y="12081"/>
                  </a:lnTo>
                  <a:lnTo>
                    <a:pt x="470498" y="26590"/>
                  </a:lnTo>
                  <a:lnTo>
                    <a:pt x="509612" y="46207"/>
                  </a:lnTo>
                  <a:lnTo>
                    <a:pt x="545638" y="70530"/>
                  </a:lnTo>
                  <a:lnTo>
                    <a:pt x="578173" y="99154"/>
                  </a:lnTo>
                  <a:lnTo>
                    <a:pt x="606811" y="131678"/>
                  </a:lnTo>
                  <a:lnTo>
                    <a:pt x="631150" y="167698"/>
                  </a:lnTo>
                  <a:lnTo>
                    <a:pt x="650784" y="206810"/>
                  </a:lnTo>
                  <a:lnTo>
                    <a:pt x="665311" y="248612"/>
                  </a:lnTo>
                  <a:lnTo>
                    <a:pt x="674325" y="292699"/>
                  </a:lnTo>
                  <a:lnTo>
                    <a:pt x="676216" y="321725"/>
                  </a:lnTo>
                </a:path>
              </a:pathLst>
            </a:custGeom>
            <a:ln w="38099">
              <a:solidFill>
                <a:srgbClr val="0A1F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9923333" y="4060951"/>
            <a:ext cx="216471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6120">
              <a:lnSpc>
                <a:spcPts val="2255"/>
              </a:lnSpc>
              <a:spcBef>
                <a:spcPts val="100"/>
              </a:spcBef>
            </a:pPr>
            <a:r>
              <a:rPr sz="2100" b="1" dirty="0">
                <a:solidFill>
                  <a:srgbClr val="0A1F4A"/>
                </a:solidFill>
                <a:latin typeface="Calibri"/>
                <a:cs typeface="Calibri"/>
              </a:rPr>
              <a:t>What It </a:t>
            </a:r>
            <a:r>
              <a:rPr sz="2100" b="1" spc="-20" dirty="0">
                <a:solidFill>
                  <a:srgbClr val="0A1F4A"/>
                </a:solidFill>
                <a:latin typeface="Calibri"/>
                <a:cs typeface="Calibri"/>
              </a:rPr>
              <a:t>Does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ts val="2075"/>
              </a:lnSpc>
            </a:pPr>
            <a:r>
              <a:rPr sz="195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617199" y="4580254"/>
            <a:ext cx="6500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5B6474"/>
                </a:solidFill>
                <a:latin typeface="Calibri"/>
                <a:cs typeface="Calibri"/>
              </a:rPr>
              <a:t>Adaptive questions, priority levels, duplicate linking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199379" y="5367019"/>
            <a:ext cx="3400000" cy="5664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sz="1800" i="1" dirty="0">
                <a:solidFill>
                  <a:srgbClr val="5B6474"/>
                </a:solidFill>
                <a:latin typeface="Calibri"/>
                <a:cs typeface="Calibri"/>
              </a:rPr>
              <a:t>Duplicate calls, repetitive questions, unclear urgency, manual allocation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9374029" y="5286661"/>
            <a:ext cx="8172450" cy="1247775"/>
            <a:chOff x="9374029" y="5286661"/>
            <a:chExt cx="8172450" cy="1247775"/>
          </a:xfrm>
        </p:grpSpPr>
        <p:sp>
          <p:nvSpPr>
            <p:cNvPr id="44" name="object 44"/>
            <p:cNvSpPr/>
            <p:nvPr/>
          </p:nvSpPr>
          <p:spPr>
            <a:xfrm>
              <a:off x="9388316" y="5300948"/>
              <a:ext cx="8148320" cy="1221740"/>
            </a:xfrm>
            <a:custGeom>
              <a:avLst/>
              <a:gdLst/>
              <a:ahLst/>
              <a:cxnLst/>
              <a:rect l="l" t="t" r="r" b="b"/>
              <a:pathLst>
                <a:path w="8148319" h="1221740">
                  <a:moveTo>
                    <a:pt x="8036813" y="1221295"/>
                  </a:moveTo>
                  <a:lnTo>
                    <a:pt x="111061" y="1221295"/>
                  </a:lnTo>
                  <a:lnTo>
                    <a:pt x="67829" y="1212567"/>
                  </a:lnTo>
                  <a:lnTo>
                    <a:pt x="32527" y="1188767"/>
                  </a:lnTo>
                  <a:lnTo>
                    <a:pt x="8727" y="1153465"/>
                  </a:lnTo>
                  <a:lnTo>
                    <a:pt x="0" y="1110233"/>
                  </a:lnTo>
                  <a:lnTo>
                    <a:pt x="0" y="111061"/>
                  </a:lnTo>
                  <a:lnTo>
                    <a:pt x="8727" y="67829"/>
                  </a:lnTo>
                  <a:lnTo>
                    <a:pt x="32527" y="32527"/>
                  </a:lnTo>
                  <a:lnTo>
                    <a:pt x="67829" y="8727"/>
                  </a:lnTo>
                  <a:lnTo>
                    <a:pt x="111061" y="0"/>
                  </a:lnTo>
                  <a:lnTo>
                    <a:pt x="8036813" y="0"/>
                  </a:lnTo>
                  <a:lnTo>
                    <a:pt x="8080045" y="8727"/>
                  </a:lnTo>
                  <a:lnTo>
                    <a:pt x="8115347" y="32527"/>
                  </a:lnTo>
                  <a:lnTo>
                    <a:pt x="8139147" y="67829"/>
                  </a:lnTo>
                  <a:lnTo>
                    <a:pt x="8147874" y="111061"/>
                  </a:lnTo>
                  <a:lnTo>
                    <a:pt x="8147874" y="1110233"/>
                  </a:lnTo>
                  <a:lnTo>
                    <a:pt x="8139147" y="1153465"/>
                  </a:lnTo>
                  <a:lnTo>
                    <a:pt x="8115347" y="1188767"/>
                  </a:lnTo>
                  <a:lnTo>
                    <a:pt x="8080045" y="1212567"/>
                  </a:lnTo>
                  <a:lnTo>
                    <a:pt x="8036813" y="1221295"/>
                  </a:lnTo>
                  <a:close/>
                </a:path>
              </a:pathLst>
            </a:custGeom>
            <a:solidFill>
              <a:srgbClr val="F5F7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388316" y="5300948"/>
              <a:ext cx="8143875" cy="1219200"/>
            </a:xfrm>
            <a:custGeom>
              <a:avLst/>
              <a:gdLst/>
              <a:ahLst/>
              <a:cxnLst/>
              <a:rect l="l" t="t" r="r" b="b"/>
              <a:pathLst>
                <a:path w="8143875" h="1219200">
                  <a:moveTo>
                    <a:pt x="8143875" y="1129388"/>
                  </a:moveTo>
                  <a:lnTo>
                    <a:pt x="8139017" y="1153450"/>
                  </a:lnTo>
                  <a:lnTo>
                    <a:pt x="8115217" y="1188752"/>
                  </a:lnTo>
                  <a:lnTo>
                    <a:pt x="8079916" y="1212552"/>
                  </a:lnTo>
                  <a:lnTo>
                    <a:pt x="8046988" y="1219199"/>
                  </a:lnTo>
                </a:path>
                <a:path w="8143875" h="1219200">
                  <a:moveTo>
                    <a:pt x="100757" y="1219199"/>
                  </a:moveTo>
                  <a:lnTo>
                    <a:pt x="32527" y="1188752"/>
                  </a:lnTo>
                  <a:lnTo>
                    <a:pt x="8727" y="1153450"/>
                  </a:lnTo>
                  <a:lnTo>
                    <a:pt x="0" y="1110219"/>
                  </a:lnTo>
                  <a:lnTo>
                    <a:pt x="0" y="111063"/>
                  </a:lnTo>
                  <a:lnTo>
                    <a:pt x="8727" y="67832"/>
                  </a:lnTo>
                  <a:lnTo>
                    <a:pt x="32527" y="32531"/>
                  </a:lnTo>
                  <a:lnTo>
                    <a:pt x="67828" y="8730"/>
                  </a:lnTo>
                  <a:lnTo>
                    <a:pt x="111059" y="0"/>
                  </a:lnTo>
                  <a:lnTo>
                    <a:pt x="8036685" y="0"/>
                  </a:lnTo>
                  <a:lnTo>
                    <a:pt x="8079916" y="8730"/>
                  </a:lnTo>
                  <a:lnTo>
                    <a:pt x="8115217" y="32531"/>
                  </a:lnTo>
                  <a:lnTo>
                    <a:pt x="8139017" y="67832"/>
                  </a:lnTo>
                  <a:lnTo>
                    <a:pt x="8143875" y="91895"/>
                  </a:lnTo>
                </a:path>
              </a:pathLst>
            </a:custGeom>
            <a:ln w="28575">
              <a:solidFill>
                <a:srgbClr val="C8D3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660255" y="5572886"/>
              <a:ext cx="677545" cy="677545"/>
            </a:xfrm>
            <a:custGeom>
              <a:avLst/>
              <a:gdLst/>
              <a:ahLst/>
              <a:cxnLst/>
              <a:rect l="l" t="t" r="r" b="b"/>
              <a:pathLst>
                <a:path w="677545" h="677545">
                  <a:moveTo>
                    <a:pt x="338709" y="677418"/>
                  </a:moveTo>
                  <a:lnTo>
                    <a:pt x="292746" y="674326"/>
                  </a:lnTo>
                  <a:lnTo>
                    <a:pt x="248664" y="665319"/>
                  </a:lnTo>
                  <a:lnTo>
                    <a:pt x="206865" y="650801"/>
                  </a:lnTo>
                  <a:lnTo>
                    <a:pt x="167752" y="631175"/>
                  </a:lnTo>
                  <a:lnTo>
                    <a:pt x="131730" y="606845"/>
                  </a:lnTo>
                  <a:lnTo>
                    <a:pt x="99202" y="578215"/>
                  </a:lnTo>
                  <a:lnTo>
                    <a:pt x="70572" y="545687"/>
                  </a:lnTo>
                  <a:lnTo>
                    <a:pt x="46242" y="509665"/>
                  </a:lnTo>
                  <a:lnTo>
                    <a:pt x="26616" y="470552"/>
                  </a:lnTo>
                  <a:lnTo>
                    <a:pt x="12098" y="428753"/>
                  </a:lnTo>
                  <a:lnTo>
                    <a:pt x="3091" y="384671"/>
                  </a:lnTo>
                  <a:lnTo>
                    <a:pt x="0" y="338709"/>
                  </a:lnTo>
                  <a:lnTo>
                    <a:pt x="3091" y="292746"/>
                  </a:lnTo>
                  <a:lnTo>
                    <a:pt x="12098" y="248664"/>
                  </a:lnTo>
                  <a:lnTo>
                    <a:pt x="26616" y="206865"/>
                  </a:lnTo>
                  <a:lnTo>
                    <a:pt x="46242" y="167752"/>
                  </a:lnTo>
                  <a:lnTo>
                    <a:pt x="70572" y="131730"/>
                  </a:lnTo>
                  <a:lnTo>
                    <a:pt x="99202" y="99202"/>
                  </a:lnTo>
                  <a:lnTo>
                    <a:pt x="131730" y="70572"/>
                  </a:lnTo>
                  <a:lnTo>
                    <a:pt x="167752" y="46242"/>
                  </a:lnTo>
                  <a:lnTo>
                    <a:pt x="206865" y="26616"/>
                  </a:lnTo>
                  <a:lnTo>
                    <a:pt x="248664" y="12098"/>
                  </a:lnTo>
                  <a:lnTo>
                    <a:pt x="292746" y="3091"/>
                  </a:lnTo>
                  <a:lnTo>
                    <a:pt x="338709" y="0"/>
                  </a:lnTo>
                  <a:lnTo>
                    <a:pt x="384671" y="3091"/>
                  </a:lnTo>
                  <a:lnTo>
                    <a:pt x="428753" y="12098"/>
                  </a:lnTo>
                  <a:lnTo>
                    <a:pt x="470552" y="26616"/>
                  </a:lnTo>
                  <a:lnTo>
                    <a:pt x="509665" y="46242"/>
                  </a:lnTo>
                  <a:lnTo>
                    <a:pt x="545687" y="70572"/>
                  </a:lnTo>
                  <a:lnTo>
                    <a:pt x="578215" y="99202"/>
                  </a:lnTo>
                  <a:lnTo>
                    <a:pt x="606845" y="131730"/>
                  </a:lnTo>
                  <a:lnTo>
                    <a:pt x="631175" y="167752"/>
                  </a:lnTo>
                  <a:lnTo>
                    <a:pt x="650801" y="206865"/>
                  </a:lnTo>
                  <a:lnTo>
                    <a:pt x="665319" y="248664"/>
                  </a:lnTo>
                  <a:lnTo>
                    <a:pt x="674326" y="292746"/>
                  </a:lnTo>
                  <a:lnTo>
                    <a:pt x="677418" y="338709"/>
                  </a:lnTo>
                  <a:lnTo>
                    <a:pt x="674326" y="384671"/>
                  </a:lnTo>
                  <a:lnTo>
                    <a:pt x="665319" y="428753"/>
                  </a:lnTo>
                  <a:lnTo>
                    <a:pt x="650801" y="470552"/>
                  </a:lnTo>
                  <a:lnTo>
                    <a:pt x="631175" y="509665"/>
                  </a:lnTo>
                  <a:lnTo>
                    <a:pt x="606845" y="545687"/>
                  </a:lnTo>
                  <a:lnTo>
                    <a:pt x="578215" y="578215"/>
                  </a:lnTo>
                  <a:lnTo>
                    <a:pt x="545687" y="606845"/>
                  </a:lnTo>
                  <a:lnTo>
                    <a:pt x="509665" y="631175"/>
                  </a:lnTo>
                  <a:lnTo>
                    <a:pt x="470552" y="650801"/>
                  </a:lnTo>
                  <a:lnTo>
                    <a:pt x="428753" y="665319"/>
                  </a:lnTo>
                  <a:lnTo>
                    <a:pt x="384671" y="674326"/>
                  </a:lnTo>
                  <a:lnTo>
                    <a:pt x="338709" y="677418"/>
                  </a:lnTo>
                  <a:close/>
                </a:path>
              </a:pathLst>
            </a:custGeom>
            <a:solidFill>
              <a:srgbClr val="0A1F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9660251" y="5572883"/>
              <a:ext cx="676275" cy="676275"/>
            </a:xfrm>
            <a:custGeom>
              <a:avLst/>
              <a:gdLst/>
              <a:ahLst/>
              <a:cxnLst/>
              <a:rect l="l" t="t" r="r" b="b"/>
              <a:pathLst>
                <a:path w="676275" h="676275">
                  <a:moveTo>
                    <a:pt x="676214" y="355699"/>
                  </a:moveTo>
                  <a:lnTo>
                    <a:pt x="665331" y="428730"/>
                  </a:lnTo>
                  <a:lnTo>
                    <a:pt x="650813" y="470539"/>
                  </a:lnTo>
                  <a:lnTo>
                    <a:pt x="631184" y="509659"/>
                  </a:lnTo>
                  <a:lnTo>
                    <a:pt x="606849" y="545689"/>
                  </a:lnTo>
                  <a:lnTo>
                    <a:pt x="578212" y="578223"/>
                  </a:lnTo>
                  <a:lnTo>
                    <a:pt x="545676" y="606858"/>
                  </a:lnTo>
                  <a:lnTo>
                    <a:pt x="509645" y="631190"/>
                  </a:lnTo>
                  <a:lnTo>
                    <a:pt x="470523" y="650816"/>
                  </a:lnTo>
                  <a:lnTo>
                    <a:pt x="428714" y="665331"/>
                  </a:lnTo>
                  <a:lnTo>
                    <a:pt x="384623" y="674332"/>
                  </a:lnTo>
                  <a:lnTo>
                    <a:pt x="355696" y="676174"/>
                  </a:lnTo>
                </a:path>
                <a:path w="676275" h="676275">
                  <a:moveTo>
                    <a:pt x="321725" y="676216"/>
                  </a:moveTo>
                  <a:lnTo>
                    <a:pt x="248603" y="665300"/>
                  </a:lnTo>
                  <a:lnTo>
                    <a:pt x="206804" y="650772"/>
                  </a:lnTo>
                  <a:lnTo>
                    <a:pt x="167695" y="631137"/>
                  </a:lnTo>
                  <a:lnTo>
                    <a:pt x="131678" y="606799"/>
                  </a:lnTo>
                  <a:lnTo>
                    <a:pt x="99156" y="578162"/>
                  </a:lnTo>
                  <a:lnTo>
                    <a:pt x="70534" y="545629"/>
                  </a:lnTo>
                  <a:lnTo>
                    <a:pt x="46213" y="509604"/>
                  </a:lnTo>
                  <a:lnTo>
                    <a:pt x="26597" y="470492"/>
                  </a:lnTo>
                  <a:lnTo>
                    <a:pt x="12089" y="428695"/>
                  </a:lnTo>
                  <a:lnTo>
                    <a:pt x="3091" y="384617"/>
                  </a:lnTo>
                  <a:lnTo>
                    <a:pt x="0" y="338661"/>
                  </a:lnTo>
                  <a:lnTo>
                    <a:pt x="3103" y="292708"/>
                  </a:lnTo>
                  <a:lnTo>
                    <a:pt x="12113" y="248634"/>
                  </a:lnTo>
                  <a:lnTo>
                    <a:pt x="26631" y="206845"/>
                  </a:lnTo>
                  <a:lnTo>
                    <a:pt x="46254" y="167742"/>
                  </a:lnTo>
                  <a:lnTo>
                    <a:pt x="70580" y="131728"/>
                  </a:lnTo>
                  <a:lnTo>
                    <a:pt x="99205" y="99207"/>
                  </a:lnTo>
                  <a:lnTo>
                    <a:pt x="131725" y="70581"/>
                  </a:lnTo>
                  <a:lnTo>
                    <a:pt x="167738" y="46254"/>
                  </a:lnTo>
                  <a:lnTo>
                    <a:pt x="206841" y="26629"/>
                  </a:lnTo>
                  <a:lnTo>
                    <a:pt x="248632" y="12109"/>
                  </a:lnTo>
                  <a:lnTo>
                    <a:pt x="292706" y="3098"/>
                  </a:lnTo>
                  <a:lnTo>
                    <a:pt x="338661" y="0"/>
                  </a:lnTo>
                  <a:lnTo>
                    <a:pt x="384619" y="3083"/>
                  </a:lnTo>
                  <a:lnTo>
                    <a:pt x="428699" y="12081"/>
                  </a:lnTo>
                  <a:lnTo>
                    <a:pt x="470498" y="26590"/>
                  </a:lnTo>
                  <a:lnTo>
                    <a:pt x="509612" y="46207"/>
                  </a:lnTo>
                  <a:lnTo>
                    <a:pt x="545638" y="70530"/>
                  </a:lnTo>
                  <a:lnTo>
                    <a:pt x="578173" y="99154"/>
                  </a:lnTo>
                  <a:lnTo>
                    <a:pt x="606811" y="131678"/>
                  </a:lnTo>
                  <a:lnTo>
                    <a:pt x="631150" y="167698"/>
                  </a:lnTo>
                  <a:lnTo>
                    <a:pt x="650784" y="206810"/>
                  </a:lnTo>
                  <a:lnTo>
                    <a:pt x="665311" y="248612"/>
                  </a:lnTo>
                  <a:lnTo>
                    <a:pt x="674325" y="292699"/>
                  </a:lnTo>
                  <a:lnTo>
                    <a:pt x="676216" y="321725"/>
                  </a:lnTo>
                </a:path>
              </a:pathLst>
            </a:custGeom>
            <a:ln w="38099">
              <a:solidFill>
                <a:srgbClr val="0A1F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10617199" y="5459983"/>
            <a:ext cx="153479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0A1F4A"/>
                </a:solidFill>
                <a:latin typeface="Calibri"/>
                <a:cs typeface="Calibri"/>
              </a:rPr>
              <a:t>How It </a:t>
            </a:r>
            <a:r>
              <a:rPr sz="2100" b="1" spc="-10" dirty="0">
                <a:solidFill>
                  <a:srgbClr val="0A1F4A"/>
                </a:solidFill>
                <a:latin typeface="Calibri"/>
                <a:cs typeface="Calibri"/>
              </a:rPr>
              <a:t>Works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923333" y="5712586"/>
            <a:ext cx="15113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0617199" y="5979286"/>
            <a:ext cx="6500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5B6474"/>
                </a:solidFill>
                <a:latin typeface="Calibri"/>
                <a:cs typeface="Calibri"/>
              </a:rPr>
              <a:t>Rules + Dijkstra routing; dispatcher approves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25804" y="7172325"/>
            <a:ext cx="8218170" cy="2114550"/>
            <a:chOff x="725804" y="7172325"/>
            <a:chExt cx="8218170" cy="2114550"/>
          </a:xfrm>
        </p:grpSpPr>
        <p:sp>
          <p:nvSpPr>
            <p:cNvPr id="28" name="object 28"/>
            <p:cNvSpPr/>
            <p:nvPr/>
          </p:nvSpPr>
          <p:spPr>
            <a:xfrm>
              <a:off x="744854" y="7191374"/>
              <a:ext cx="8176259" cy="2076450"/>
            </a:xfrm>
            <a:custGeom>
              <a:avLst/>
              <a:gdLst/>
              <a:ahLst/>
              <a:cxnLst/>
              <a:rect l="l" t="t" r="r" b="b"/>
              <a:pathLst>
                <a:path w="8176259" h="2076450">
                  <a:moveTo>
                    <a:pt x="8069294" y="2076450"/>
                  </a:moveTo>
                  <a:lnTo>
                    <a:pt x="110775" y="2076450"/>
                  </a:lnTo>
                  <a:lnTo>
                    <a:pt x="67669" y="2067740"/>
                  </a:lnTo>
                  <a:lnTo>
                    <a:pt x="32456" y="2043993"/>
                  </a:lnTo>
                  <a:lnTo>
                    <a:pt x="8709" y="2008781"/>
                  </a:lnTo>
                  <a:lnTo>
                    <a:pt x="0" y="1965674"/>
                  </a:lnTo>
                  <a:lnTo>
                    <a:pt x="0" y="110776"/>
                  </a:lnTo>
                  <a:lnTo>
                    <a:pt x="8709" y="67669"/>
                  </a:lnTo>
                  <a:lnTo>
                    <a:pt x="32456" y="32456"/>
                  </a:lnTo>
                  <a:lnTo>
                    <a:pt x="67669" y="8709"/>
                  </a:lnTo>
                  <a:lnTo>
                    <a:pt x="110775" y="0"/>
                  </a:lnTo>
                  <a:lnTo>
                    <a:pt x="8069294" y="0"/>
                  </a:lnTo>
                  <a:lnTo>
                    <a:pt x="8112401" y="8709"/>
                  </a:lnTo>
                  <a:lnTo>
                    <a:pt x="8147614" y="32456"/>
                  </a:lnTo>
                  <a:lnTo>
                    <a:pt x="8171361" y="67669"/>
                  </a:lnTo>
                  <a:lnTo>
                    <a:pt x="8176022" y="90740"/>
                  </a:lnTo>
                  <a:lnTo>
                    <a:pt x="8176022" y="1985709"/>
                  </a:lnTo>
                  <a:lnTo>
                    <a:pt x="8171361" y="2008781"/>
                  </a:lnTo>
                  <a:lnTo>
                    <a:pt x="8147614" y="2043993"/>
                  </a:lnTo>
                  <a:lnTo>
                    <a:pt x="8112401" y="2067740"/>
                  </a:lnTo>
                  <a:lnTo>
                    <a:pt x="8069294" y="2076450"/>
                  </a:lnTo>
                  <a:close/>
                </a:path>
              </a:pathLst>
            </a:custGeom>
            <a:solidFill>
              <a:srgbClr val="0A1F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44854" y="7191374"/>
              <a:ext cx="8180070" cy="2076450"/>
            </a:xfrm>
            <a:custGeom>
              <a:avLst/>
              <a:gdLst/>
              <a:ahLst/>
              <a:cxnLst/>
              <a:rect l="l" t="t" r="r" b="b"/>
              <a:pathLst>
                <a:path w="8180070" h="2076450">
                  <a:moveTo>
                    <a:pt x="0" y="110778"/>
                  </a:moveTo>
                  <a:lnTo>
                    <a:pt x="8708" y="67671"/>
                  </a:lnTo>
                  <a:lnTo>
                    <a:pt x="32455" y="32457"/>
                  </a:lnTo>
                  <a:lnTo>
                    <a:pt x="67668" y="8709"/>
                  </a:lnTo>
                  <a:lnTo>
                    <a:pt x="110775" y="0"/>
                  </a:lnTo>
                  <a:lnTo>
                    <a:pt x="8069264" y="0"/>
                  </a:lnTo>
                  <a:lnTo>
                    <a:pt x="8112382" y="8696"/>
                  </a:lnTo>
                  <a:lnTo>
                    <a:pt x="8147605" y="32444"/>
                  </a:lnTo>
                  <a:lnTo>
                    <a:pt x="8171360" y="67666"/>
                  </a:lnTo>
                  <a:lnTo>
                    <a:pt x="8180070" y="110778"/>
                  </a:lnTo>
                  <a:lnTo>
                    <a:pt x="8180069" y="1965676"/>
                  </a:lnTo>
                  <a:lnTo>
                    <a:pt x="8171353" y="2008792"/>
                  </a:lnTo>
                  <a:lnTo>
                    <a:pt x="8147594" y="2044006"/>
                  </a:lnTo>
                  <a:lnTo>
                    <a:pt x="8112372" y="2067746"/>
                  </a:lnTo>
                  <a:lnTo>
                    <a:pt x="8069264" y="2076449"/>
                  </a:lnTo>
                  <a:lnTo>
                    <a:pt x="110775" y="2076449"/>
                  </a:lnTo>
                  <a:lnTo>
                    <a:pt x="67667" y="2067739"/>
                  </a:lnTo>
                  <a:lnTo>
                    <a:pt x="32455" y="2043990"/>
                  </a:lnTo>
                  <a:lnTo>
                    <a:pt x="8709" y="2008776"/>
                  </a:lnTo>
                  <a:lnTo>
                    <a:pt x="0" y="1965670"/>
                  </a:lnTo>
                  <a:lnTo>
                    <a:pt x="0" y="110778"/>
                  </a:lnTo>
                </a:path>
              </a:pathLst>
            </a:custGeom>
            <a:ln w="38099">
              <a:solidFill>
                <a:srgbClr val="0A1F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9374029" y="6685692"/>
            <a:ext cx="8172450" cy="1247775"/>
            <a:chOff x="9374029" y="6685692"/>
            <a:chExt cx="8172450" cy="1247775"/>
          </a:xfrm>
        </p:grpSpPr>
        <p:sp>
          <p:nvSpPr>
            <p:cNvPr id="52" name="object 52"/>
            <p:cNvSpPr/>
            <p:nvPr/>
          </p:nvSpPr>
          <p:spPr>
            <a:xfrm>
              <a:off x="9388316" y="6699980"/>
              <a:ext cx="8148320" cy="1221740"/>
            </a:xfrm>
            <a:custGeom>
              <a:avLst/>
              <a:gdLst/>
              <a:ahLst/>
              <a:cxnLst/>
              <a:rect l="l" t="t" r="r" b="b"/>
              <a:pathLst>
                <a:path w="8148319" h="1221740">
                  <a:moveTo>
                    <a:pt x="8036813" y="1221295"/>
                  </a:moveTo>
                  <a:lnTo>
                    <a:pt x="111061" y="1221295"/>
                  </a:lnTo>
                  <a:lnTo>
                    <a:pt x="67829" y="1212568"/>
                  </a:lnTo>
                  <a:lnTo>
                    <a:pt x="32527" y="1188767"/>
                  </a:lnTo>
                  <a:lnTo>
                    <a:pt x="8727" y="1153465"/>
                  </a:lnTo>
                  <a:lnTo>
                    <a:pt x="0" y="1110233"/>
                  </a:lnTo>
                  <a:lnTo>
                    <a:pt x="0" y="111061"/>
                  </a:lnTo>
                  <a:lnTo>
                    <a:pt x="8727" y="67829"/>
                  </a:lnTo>
                  <a:lnTo>
                    <a:pt x="32527" y="32527"/>
                  </a:lnTo>
                  <a:lnTo>
                    <a:pt x="67829" y="8727"/>
                  </a:lnTo>
                  <a:lnTo>
                    <a:pt x="111061" y="0"/>
                  </a:lnTo>
                  <a:lnTo>
                    <a:pt x="8036813" y="0"/>
                  </a:lnTo>
                  <a:lnTo>
                    <a:pt x="8080045" y="8727"/>
                  </a:lnTo>
                  <a:lnTo>
                    <a:pt x="8115347" y="32527"/>
                  </a:lnTo>
                  <a:lnTo>
                    <a:pt x="8139147" y="67829"/>
                  </a:lnTo>
                  <a:lnTo>
                    <a:pt x="8147874" y="111061"/>
                  </a:lnTo>
                  <a:lnTo>
                    <a:pt x="8147874" y="1110233"/>
                  </a:lnTo>
                  <a:lnTo>
                    <a:pt x="8139147" y="1153465"/>
                  </a:lnTo>
                  <a:lnTo>
                    <a:pt x="8115347" y="1188767"/>
                  </a:lnTo>
                  <a:lnTo>
                    <a:pt x="8080045" y="1212568"/>
                  </a:lnTo>
                  <a:lnTo>
                    <a:pt x="8036813" y="1221295"/>
                  </a:lnTo>
                  <a:close/>
                </a:path>
              </a:pathLst>
            </a:custGeom>
            <a:solidFill>
              <a:srgbClr val="F5F7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9388316" y="6699980"/>
              <a:ext cx="8143875" cy="1219200"/>
            </a:xfrm>
            <a:custGeom>
              <a:avLst/>
              <a:gdLst/>
              <a:ahLst/>
              <a:cxnLst/>
              <a:rect l="l" t="t" r="r" b="b"/>
              <a:pathLst>
                <a:path w="8143875" h="1219200">
                  <a:moveTo>
                    <a:pt x="8143875" y="1129387"/>
                  </a:moveTo>
                  <a:lnTo>
                    <a:pt x="8139017" y="1153450"/>
                  </a:lnTo>
                  <a:lnTo>
                    <a:pt x="8115217" y="1188752"/>
                  </a:lnTo>
                  <a:lnTo>
                    <a:pt x="8079916" y="1212552"/>
                  </a:lnTo>
                  <a:lnTo>
                    <a:pt x="8046987" y="1219199"/>
                  </a:lnTo>
                </a:path>
                <a:path w="8143875" h="1219200">
                  <a:moveTo>
                    <a:pt x="100758" y="1219200"/>
                  </a:moveTo>
                  <a:lnTo>
                    <a:pt x="67828" y="1212552"/>
                  </a:lnTo>
                  <a:lnTo>
                    <a:pt x="32527" y="1188752"/>
                  </a:lnTo>
                  <a:lnTo>
                    <a:pt x="8727" y="1153450"/>
                  </a:lnTo>
                  <a:lnTo>
                    <a:pt x="0" y="1110219"/>
                  </a:lnTo>
                  <a:lnTo>
                    <a:pt x="0" y="111063"/>
                  </a:lnTo>
                  <a:lnTo>
                    <a:pt x="8727" y="67832"/>
                  </a:lnTo>
                  <a:lnTo>
                    <a:pt x="32527" y="32531"/>
                  </a:lnTo>
                  <a:lnTo>
                    <a:pt x="67828" y="8730"/>
                  </a:lnTo>
                  <a:lnTo>
                    <a:pt x="111059" y="0"/>
                  </a:lnTo>
                  <a:lnTo>
                    <a:pt x="8036685" y="0"/>
                  </a:lnTo>
                  <a:lnTo>
                    <a:pt x="8079916" y="8730"/>
                  </a:lnTo>
                  <a:lnTo>
                    <a:pt x="8115217" y="32531"/>
                  </a:lnTo>
                  <a:lnTo>
                    <a:pt x="8139017" y="67832"/>
                  </a:lnTo>
                  <a:lnTo>
                    <a:pt x="8143875" y="91895"/>
                  </a:lnTo>
                </a:path>
              </a:pathLst>
            </a:custGeom>
            <a:ln w="28575">
              <a:solidFill>
                <a:srgbClr val="C8D3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9660254" y="6971919"/>
              <a:ext cx="677545" cy="677545"/>
            </a:xfrm>
            <a:custGeom>
              <a:avLst/>
              <a:gdLst/>
              <a:ahLst/>
              <a:cxnLst/>
              <a:rect l="l" t="t" r="r" b="b"/>
              <a:pathLst>
                <a:path w="677545" h="677545">
                  <a:moveTo>
                    <a:pt x="338709" y="677418"/>
                  </a:moveTo>
                  <a:lnTo>
                    <a:pt x="292746" y="674326"/>
                  </a:lnTo>
                  <a:lnTo>
                    <a:pt x="248664" y="665319"/>
                  </a:lnTo>
                  <a:lnTo>
                    <a:pt x="206865" y="650801"/>
                  </a:lnTo>
                  <a:lnTo>
                    <a:pt x="167752" y="631175"/>
                  </a:lnTo>
                  <a:lnTo>
                    <a:pt x="131730" y="606845"/>
                  </a:lnTo>
                  <a:lnTo>
                    <a:pt x="99202" y="578215"/>
                  </a:lnTo>
                  <a:lnTo>
                    <a:pt x="70572" y="545687"/>
                  </a:lnTo>
                  <a:lnTo>
                    <a:pt x="46242" y="509665"/>
                  </a:lnTo>
                  <a:lnTo>
                    <a:pt x="26616" y="470552"/>
                  </a:lnTo>
                  <a:lnTo>
                    <a:pt x="12098" y="428753"/>
                  </a:lnTo>
                  <a:lnTo>
                    <a:pt x="3091" y="384671"/>
                  </a:lnTo>
                  <a:lnTo>
                    <a:pt x="0" y="338709"/>
                  </a:lnTo>
                  <a:lnTo>
                    <a:pt x="3091" y="292746"/>
                  </a:lnTo>
                  <a:lnTo>
                    <a:pt x="12098" y="248664"/>
                  </a:lnTo>
                  <a:lnTo>
                    <a:pt x="26616" y="206865"/>
                  </a:lnTo>
                  <a:lnTo>
                    <a:pt x="46242" y="167752"/>
                  </a:lnTo>
                  <a:lnTo>
                    <a:pt x="70572" y="131730"/>
                  </a:lnTo>
                  <a:lnTo>
                    <a:pt x="99202" y="99202"/>
                  </a:lnTo>
                  <a:lnTo>
                    <a:pt x="131730" y="70572"/>
                  </a:lnTo>
                  <a:lnTo>
                    <a:pt x="167752" y="46242"/>
                  </a:lnTo>
                  <a:lnTo>
                    <a:pt x="206865" y="26616"/>
                  </a:lnTo>
                  <a:lnTo>
                    <a:pt x="248664" y="12098"/>
                  </a:lnTo>
                  <a:lnTo>
                    <a:pt x="292746" y="3091"/>
                  </a:lnTo>
                  <a:lnTo>
                    <a:pt x="338709" y="0"/>
                  </a:lnTo>
                  <a:lnTo>
                    <a:pt x="384671" y="3091"/>
                  </a:lnTo>
                  <a:lnTo>
                    <a:pt x="428753" y="12098"/>
                  </a:lnTo>
                  <a:lnTo>
                    <a:pt x="470552" y="26616"/>
                  </a:lnTo>
                  <a:lnTo>
                    <a:pt x="509665" y="46242"/>
                  </a:lnTo>
                  <a:lnTo>
                    <a:pt x="545687" y="70572"/>
                  </a:lnTo>
                  <a:lnTo>
                    <a:pt x="578215" y="99202"/>
                  </a:lnTo>
                  <a:lnTo>
                    <a:pt x="606845" y="131730"/>
                  </a:lnTo>
                  <a:lnTo>
                    <a:pt x="631175" y="167752"/>
                  </a:lnTo>
                  <a:lnTo>
                    <a:pt x="650801" y="206865"/>
                  </a:lnTo>
                  <a:lnTo>
                    <a:pt x="665319" y="248664"/>
                  </a:lnTo>
                  <a:lnTo>
                    <a:pt x="674326" y="292746"/>
                  </a:lnTo>
                  <a:lnTo>
                    <a:pt x="677418" y="338709"/>
                  </a:lnTo>
                  <a:lnTo>
                    <a:pt x="674326" y="384671"/>
                  </a:lnTo>
                  <a:lnTo>
                    <a:pt x="665319" y="428753"/>
                  </a:lnTo>
                  <a:lnTo>
                    <a:pt x="650801" y="470552"/>
                  </a:lnTo>
                  <a:lnTo>
                    <a:pt x="631175" y="509665"/>
                  </a:lnTo>
                  <a:lnTo>
                    <a:pt x="606845" y="545687"/>
                  </a:lnTo>
                  <a:lnTo>
                    <a:pt x="578215" y="578215"/>
                  </a:lnTo>
                  <a:lnTo>
                    <a:pt x="545687" y="606845"/>
                  </a:lnTo>
                  <a:lnTo>
                    <a:pt x="509665" y="631175"/>
                  </a:lnTo>
                  <a:lnTo>
                    <a:pt x="470552" y="650801"/>
                  </a:lnTo>
                  <a:lnTo>
                    <a:pt x="428753" y="665319"/>
                  </a:lnTo>
                  <a:lnTo>
                    <a:pt x="384671" y="674326"/>
                  </a:lnTo>
                  <a:lnTo>
                    <a:pt x="338709" y="677418"/>
                  </a:lnTo>
                  <a:close/>
                </a:path>
              </a:pathLst>
            </a:custGeom>
            <a:solidFill>
              <a:srgbClr val="0A1F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9660251" y="6971915"/>
              <a:ext cx="676275" cy="676275"/>
            </a:xfrm>
            <a:custGeom>
              <a:avLst/>
              <a:gdLst/>
              <a:ahLst/>
              <a:cxnLst/>
              <a:rect l="l" t="t" r="r" b="b"/>
              <a:pathLst>
                <a:path w="676275" h="676275">
                  <a:moveTo>
                    <a:pt x="676214" y="355699"/>
                  </a:moveTo>
                  <a:lnTo>
                    <a:pt x="665331" y="428730"/>
                  </a:lnTo>
                  <a:lnTo>
                    <a:pt x="650813" y="470539"/>
                  </a:lnTo>
                  <a:lnTo>
                    <a:pt x="631184" y="509659"/>
                  </a:lnTo>
                  <a:lnTo>
                    <a:pt x="606850" y="545689"/>
                  </a:lnTo>
                  <a:lnTo>
                    <a:pt x="578212" y="578223"/>
                  </a:lnTo>
                  <a:lnTo>
                    <a:pt x="545676" y="606858"/>
                  </a:lnTo>
                  <a:lnTo>
                    <a:pt x="509645" y="631190"/>
                  </a:lnTo>
                  <a:lnTo>
                    <a:pt x="470523" y="650816"/>
                  </a:lnTo>
                  <a:lnTo>
                    <a:pt x="428714" y="665331"/>
                  </a:lnTo>
                  <a:lnTo>
                    <a:pt x="384623" y="674332"/>
                  </a:lnTo>
                  <a:lnTo>
                    <a:pt x="355696" y="676174"/>
                  </a:lnTo>
                </a:path>
                <a:path w="676275" h="676275">
                  <a:moveTo>
                    <a:pt x="321725" y="676216"/>
                  </a:moveTo>
                  <a:lnTo>
                    <a:pt x="248603" y="665300"/>
                  </a:lnTo>
                  <a:lnTo>
                    <a:pt x="206804" y="650772"/>
                  </a:lnTo>
                  <a:lnTo>
                    <a:pt x="167695" y="631137"/>
                  </a:lnTo>
                  <a:lnTo>
                    <a:pt x="131678" y="606799"/>
                  </a:lnTo>
                  <a:lnTo>
                    <a:pt x="99156" y="578162"/>
                  </a:lnTo>
                  <a:lnTo>
                    <a:pt x="70534" y="545629"/>
                  </a:lnTo>
                  <a:lnTo>
                    <a:pt x="46213" y="509604"/>
                  </a:lnTo>
                  <a:lnTo>
                    <a:pt x="26597" y="470492"/>
                  </a:lnTo>
                  <a:lnTo>
                    <a:pt x="12089" y="428695"/>
                  </a:lnTo>
                  <a:lnTo>
                    <a:pt x="3091" y="384617"/>
                  </a:lnTo>
                  <a:lnTo>
                    <a:pt x="0" y="338661"/>
                  </a:lnTo>
                  <a:lnTo>
                    <a:pt x="3103" y="292708"/>
                  </a:lnTo>
                  <a:lnTo>
                    <a:pt x="12113" y="248634"/>
                  </a:lnTo>
                  <a:lnTo>
                    <a:pt x="26631" y="206845"/>
                  </a:lnTo>
                  <a:lnTo>
                    <a:pt x="46254" y="167742"/>
                  </a:lnTo>
                  <a:lnTo>
                    <a:pt x="70580" y="131728"/>
                  </a:lnTo>
                  <a:lnTo>
                    <a:pt x="99205" y="99207"/>
                  </a:lnTo>
                  <a:lnTo>
                    <a:pt x="131725" y="70581"/>
                  </a:lnTo>
                  <a:lnTo>
                    <a:pt x="167738" y="46254"/>
                  </a:lnTo>
                  <a:lnTo>
                    <a:pt x="206841" y="26629"/>
                  </a:lnTo>
                  <a:lnTo>
                    <a:pt x="248632" y="12109"/>
                  </a:lnTo>
                  <a:lnTo>
                    <a:pt x="292706" y="3098"/>
                  </a:lnTo>
                  <a:lnTo>
                    <a:pt x="338661" y="0"/>
                  </a:lnTo>
                  <a:lnTo>
                    <a:pt x="384619" y="3083"/>
                  </a:lnTo>
                  <a:lnTo>
                    <a:pt x="428699" y="12081"/>
                  </a:lnTo>
                  <a:lnTo>
                    <a:pt x="470498" y="26590"/>
                  </a:lnTo>
                  <a:lnTo>
                    <a:pt x="509612" y="46207"/>
                  </a:lnTo>
                  <a:lnTo>
                    <a:pt x="545638" y="70530"/>
                  </a:lnTo>
                  <a:lnTo>
                    <a:pt x="578173" y="99154"/>
                  </a:lnTo>
                  <a:lnTo>
                    <a:pt x="606811" y="131678"/>
                  </a:lnTo>
                  <a:lnTo>
                    <a:pt x="631150" y="167698"/>
                  </a:lnTo>
                  <a:lnTo>
                    <a:pt x="650784" y="206810"/>
                  </a:lnTo>
                  <a:lnTo>
                    <a:pt x="665311" y="248612"/>
                  </a:lnTo>
                  <a:lnTo>
                    <a:pt x="674325" y="292699"/>
                  </a:lnTo>
                  <a:lnTo>
                    <a:pt x="676216" y="321725"/>
                  </a:lnTo>
                </a:path>
              </a:pathLst>
            </a:custGeom>
            <a:ln w="38099">
              <a:solidFill>
                <a:srgbClr val="0A1F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9923333" y="6859016"/>
            <a:ext cx="7200000" cy="819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6120">
              <a:lnSpc>
                <a:spcPts val="2255"/>
              </a:lnSpc>
              <a:spcBef>
                <a:spcPts val="100"/>
              </a:spcBef>
            </a:pPr>
            <a:r>
              <a:rPr sz="2100" b="1" dirty="0">
                <a:solidFill>
                  <a:srgbClr val="0A1F4A"/>
                </a:solidFill>
                <a:latin typeface="Calibri"/>
                <a:cs typeface="Calibri"/>
              </a:rPr>
              <a:t>What</a:t>
            </a:r>
            <a:r>
              <a:rPr sz="2100" b="1" spc="-20" dirty="0">
                <a:solidFill>
                  <a:srgbClr val="0A1F4A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0A1F4A"/>
                </a:solidFill>
                <a:latin typeface="Calibri"/>
                <a:cs typeface="Calibri"/>
              </a:rPr>
              <a:t>Makes</a:t>
            </a:r>
            <a:r>
              <a:rPr sz="2100" b="1" spc="-20" dirty="0">
                <a:solidFill>
                  <a:srgbClr val="0A1F4A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0A1F4A"/>
                </a:solidFill>
                <a:latin typeface="Calibri"/>
                <a:cs typeface="Calibri"/>
              </a:rPr>
              <a:t>It</a:t>
            </a:r>
            <a:r>
              <a:rPr sz="2100" b="1" spc="-20" dirty="0">
                <a:solidFill>
                  <a:srgbClr val="0A1F4A"/>
                </a:solidFill>
                <a:latin typeface="Calibri"/>
                <a:cs typeface="Calibri"/>
              </a:rPr>
              <a:t> </a:t>
            </a:r>
            <a:r>
              <a:rPr sz="2100" b="1" spc="-10" dirty="0">
                <a:solidFill>
                  <a:srgbClr val="0A1F4A"/>
                </a:solidFill>
                <a:latin typeface="Calibri"/>
                <a:cs typeface="Calibri"/>
              </a:rPr>
              <a:t>Different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ts val="1955"/>
              </a:lnSpc>
            </a:pPr>
            <a:r>
              <a:rPr sz="195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50">
              <a:latin typeface="Calibri"/>
              <a:cs typeface="Calibri"/>
            </a:endParaRPr>
          </a:p>
          <a:p>
            <a:pPr marL="706120">
              <a:lnSpc>
                <a:spcPts val="2039"/>
              </a:lnSpc>
            </a:pPr>
            <a:r>
              <a:rPr sz="1800" i="1" dirty="0">
                <a:solidFill>
                  <a:srgbClr val="5B6474"/>
                </a:solidFill>
                <a:latin typeface="Calibri"/>
                <a:cs typeface="Calibri"/>
              </a:rPr>
              <a:t>Links duplicate calls to one incident, not patients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84579" y="7734934"/>
            <a:ext cx="260794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dirty="0">
                <a:solidFill>
                  <a:srgbClr val="F1A800"/>
                </a:solidFill>
                <a:latin typeface="Cambria"/>
                <a:cs typeface="Cambria"/>
              </a:rPr>
              <a:t>3 → 1</a:t>
            </a:r>
            <a:endParaRPr sz="6000">
              <a:latin typeface="Cambria"/>
              <a:cs typeface="Cambr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239259" y="7887334"/>
            <a:ext cx="3837940" cy="61785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>
              <a:lnSpc>
                <a:spcPts val="2330"/>
              </a:lnSpc>
              <a:spcBef>
                <a:spcPts val="185"/>
              </a:spcBef>
            </a:pPr>
            <a:r>
              <a:rPr sz="1950" i="1" dirty="0">
                <a:solidFill>
                  <a:srgbClr val="FFFFFF"/>
                </a:solidFill>
                <a:latin typeface="Calibri"/>
                <a:cs typeface="Calibri"/>
              </a:rPr>
              <a:t>Example: 3 callers report one accident → 1 incident record; other urgent patients are still prioritized and injured counts kept.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62" name="object 6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525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1679" y="556132"/>
            <a:ext cx="800000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3865" algn="l"/>
                <a:tab pos="661035" algn="l"/>
                <a:tab pos="2249805" algn="l"/>
              </a:tabLst>
            </a:pPr>
            <a:r>
              <a:rPr sz="1650" b="1" dirty="0">
                <a:solidFill>
                  <a:srgbClr val="B07900"/>
                </a:solidFill>
                <a:latin typeface="Calibri"/>
                <a:cs typeface="Calibri"/>
              </a:rPr>
              <a:t>0 3	·	A D A P T I V E</a:t>
            </a:r>
            <a:r>
              <a:rPr lang="en-US" sz="1650" b="1" dirty="0">
                <a:solidFill>
                  <a:srgbClr val="B07900"/>
                </a:solidFill>
                <a:latin typeface="Calibri"/>
                <a:cs typeface="Calibri"/>
              </a:rPr>
              <a:t> </a:t>
            </a:r>
            <a:r>
              <a:rPr sz="1650" b="1" dirty="0">
                <a:solidFill>
                  <a:srgbClr val="B07900"/>
                </a:solidFill>
                <a:latin typeface="Calibri"/>
                <a:cs typeface="Calibri"/>
              </a:rPr>
              <a:t>Q U E S T I O N S</a:t>
            </a:r>
            <a:endParaRPr sz="165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161799" y="750951"/>
            <a:ext cx="370205" cy="333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b="1" spc="-20" dirty="0">
                <a:solidFill>
                  <a:srgbClr val="5B6474"/>
                </a:solidFill>
                <a:latin typeface="Calibri"/>
                <a:cs typeface="Calibri"/>
              </a:rPr>
              <a:t>DSIRT</a:t>
            </a:r>
            <a:endParaRPr sz="1200">
              <a:latin typeface="Calibri"/>
              <a:cs typeface="Calibri"/>
            </a:endParaRPr>
          </a:p>
          <a:p>
            <a:pPr marL="34290">
              <a:lnSpc>
                <a:spcPts val="1430"/>
              </a:lnSpc>
            </a:pPr>
            <a:r>
              <a:rPr sz="1200" b="1" spc="-20" dirty="0">
                <a:solidFill>
                  <a:srgbClr val="5B6474"/>
                </a:solidFill>
                <a:latin typeface="Calibri"/>
                <a:cs typeface="Calibri"/>
              </a:rPr>
              <a:t>Logo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Adaptive Questioning &amp; Priority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13907451" y="479488"/>
            <a:ext cx="1879600" cy="906144"/>
            <a:chOff x="13907451" y="479488"/>
            <a:chExt cx="1879600" cy="906144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07451" y="479488"/>
              <a:ext cx="905827" cy="90582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72334" y="607695"/>
              <a:ext cx="897890" cy="622935"/>
            </a:xfrm>
            <a:custGeom>
              <a:avLst/>
              <a:gdLst/>
              <a:ahLst/>
              <a:cxnLst/>
              <a:rect l="l" t="t" r="r" b="b"/>
              <a:pathLst>
                <a:path w="897890" h="622935">
                  <a:moveTo>
                    <a:pt x="897353" y="622553"/>
                  </a:moveTo>
                  <a:lnTo>
                    <a:pt x="0" y="622553"/>
                  </a:lnTo>
                  <a:lnTo>
                    <a:pt x="0" y="0"/>
                  </a:lnTo>
                  <a:lnTo>
                    <a:pt x="897353" y="0"/>
                  </a:lnTo>
                  <a:lnTo>
                    <a:pt x="897353" y="622553"/>
                  </a:lnTo>
                  <a:close/>
                </a:path>
              </a:pathLst>
            </a:custGeom>
            <a:solidFill>
              <a:srgbClr val="D0D5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872334" y="607704"/>
              <a:ext cx="895350" cy="619125"/>
            </a:xfrm>
            <a:custGeom>
              <a:avLst/>
              <a:gdLst/>
              <a:ahLst/>
              <a:cxnLst/>
              <a:rect l="l" t="t" r="r" b="b"/>
              <a:pathLst>
                <a:path w="895350" h="619125">
                  <a:moveTo>
                    <a:pt x="0" y="619115"/>
                  </a:moveTo>
                  <a:lnTo>
                    <a:pt x="0" y="0"/>
                  </a:lnTo>
                  <a:lnTo>
                    <a:pt x="895350" y="0"/>
                  </a:lnTo>
                </a:path>
              </a:pathLst>
            </a:custGeom>
            <a:ln w="38099">
              <a:solidFill>
                <a:srgbClr val="D0D5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09291" y="644652"/>
              <a:ext cx="822959" cy="54863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5831393" y="698627"/>
            <a:ext cx="15875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50" dirty="0">
                <a:solidFill>
                  <a:srgbClr val="0A1F4A"/>
                </a:solidFill>
                <a:latin typeface="Calibri"/>
                <a:cs typeface="Calibri"/>
              </a:rPr>
              <a:t>×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6032860" y="588654"/>
            <a:ext cx="933450" cy="657225"/>
            <a:chOff x="16032860" y="588654"/>
            <a:chExt cx="933450" cy="657225"/>
          </a:xfrm>
        </p:grpSpPr>
        <p:sp>
          <p:nvSpPr>
            <p:cNvPr id="12" name="object 12"/>
            <p:cNvSpPr/>
            <p:nvPr/>
          </p:nvSpPr>
          <p:spPr>
            <a:xfrm>
              <a:off x="16051910" y="607695"/>
              <a:ext cx="897890" cy="622935"/>
            </a:xfrm>
            <a:custGeom>
              <a:avLst/>
              <a:gdLst/>
              <a:ahLst/>
              <a:cxnLst/>
              <a:rect l="l" t="t" r="r" b="b"/>
              <a:pathLst>
                <a:path w="897890" h="622935">
                  <a:moveTo>
                    <a:pt x="897353" y="622553"/>
                  </a:moveTo>
                  <a:lnTo>
                    <a:pt x="0" y="622553"/>
                  </a:lnTo>
                  <a:lnTo>
                    <a:pt x="0" y="0"/>
                  </a:lnTo>
                  <a:lnTo>
                    <a:pt x="897353" y="0"/>
                  </a:lnTo>
                  <a:lnTo>
                    <a:pt x="897353" y="622553"/>
                  </a:lnTo>
                  <a:close/>
                </a:path>
              </a:pathLst>
            </a:custGeom>
            <a:solidFill>
              <a:srgbClr val="D0D5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6051910" y="607704"/>
              <a:ext cx="895350" cy="619125"/>
            </a:xfrm>
            <a:custGeom>
              <a:avLst/>
              <a:gdLst/>
              <a:ahLst/>
              <a:cxnLst/>
              <a:rect l="l" t="t" r="r" b="b"/>
              <a:pathLst>
                <a:path w="895350" h="619125">
                  <a:moveTo>
                    <a:pt x="0" y="619115"/>
                  </a:moveTo>
                  <a:lnTo>
                    <a:pt x="0" y="0"/>
                  </a:lnTo>
                  <a:lnTo>
                    <a:pt x="895350" y="0"/>
                  </a:lnTo>
                </a:path>
              </a:pathLst>
            </a:custGeom>
            <a:ln w="38099">
              <a:solidFill>
                <a:srgbClr val="D0D5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088867" y="644652"/>
              <a:ext cx="822959" cy="54863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7282576" y="750951"/>
            <a:ext cx="300990" cy="333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">
              <a:lnSpc>
                <a:spcPts val="1135"/>
              </a:lnSpc>
            </a:pPr>
            <a:r>
              <a:rPr sz="1200" b="1" spc="-25" dirty="0">
                <a:solidFill>
                  <a:srgbClr val="5B6474"/>
                </a:solidFill>
                <a:latin typeface="Calibri"/>
                <a:cs typeface="Calibri"/>
              </a:rPr>
              <a:t>DGU</a:t>
            </a:r>
            <a:endParaRPr sz="1200">
              <a:latin typeface="Calibri"/>
              <a:cs typeface="Calibri"/>
            </a:endParaRPr>
          </a:p>
          <a:p>
            <a:pPr>
              <a:lnSpc>
                <a:spcPts val="1430"/>
              </a:lnSpc>
            </a:pPr>
            <a:r>
              <a:rPr sz="1200" b="1" spc="-25" dirty="0">
                <a:solidFill>
                  <a:srgbClr val="5B6474"/>
                </a:solidFill>
                <a:latin typeface="Calibri"/>
                <a:cs typeface="Calibri"/>
              </a:rPr>
              <a:t>Logo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993551" y="479488"/>
            <a:ext cx="878966" cy="878966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1234420" y="2092325"/>
            <a:ext cx="60000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0A1F4A"/>
                </a:solidFill>
                <a:latin typeface="Cambria"/>
                <a:cs typeface="Cambria"/>
              </a:rPr>
              <a:t>Questions &amp; Priority</a:t>
            </a:r>
            <a:endParaRPr sz="2700">
              <a:latin typeface="Cambria"/>
              <a:cs typeface="Cambri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1226030" y="2790348"/>
            <a:ext cx="6324600" cy="962025"/>
            <a:chOff x="11226030" y="2790348"/>
            <a:chExt cx="6324600" cy="962025"/>
          </a:xfrm>
        </p:grpSpPr>
        <p:sp>
          <p:nvSpPr>
            <p:cNvPr id="25" name="object 25"/>
            <p:cNvSpPr/>
            <p:nvPr/>
          </p:nvSpPr>
          <p:spPr>
            <a:xfrm>
              <a:off x="11239976" y="2804636"/>
              <a:ext cx="6296025" cy="933450"/>
            </a:xfrm>
            <a:custGeom>
              <a:avLst/>
              <a:gdLst/>
              <a:ahLst/>
              <a:cxnLst/>
              <a:rect l="l" t="t" r="r" b="b"/>
              <a:pathLst>
                <a:path w="6296025" h="933450">
                  <a:moveTo>
                    <a:pt x="6184772" y="933259"/>
                  </a:moveTo>
                  <a:lnTo>
                    <a:pt x="111442" y="933259"/>
                  </a:lnTo>
                  <a:lnTo>
                    <a:pt x="68071" y="924499"/>
                  </a:lnTo>
                  <a:lnTo>
                    <a:pt x="32647" y="900612"/>
                  </a:lnTo>
                  <a:lnTo>
                    <a:pt x="8760" y="865188"/>
                  </a:lnTo>
                  <a:lnTo>
                    <a:pt x="0" y="821816"/>
                  </a:lnTo>
                  <a:lnTo>
                    <a:pt x="0" y="111442"/>
                  </a:lnTo>
                  <a:lnTo>
                    <a:pt x="8760" y="68071"/>
                  </a:lnTo>
                  <a:lnTo>
                    <a:pt x="32647" y="32646"/>
                  </a:lnTo>
                  <a:lnTo>
                    <a:pt x="68071" y="8760"/>
                  </a:lnTo>
                  <a:lnTo>
                    <a:pt x="111442" y="0"/>
                  </a:lnTo>
                  <a:lnTo>
                    <a:pt x="6184772" y="0"/>
                  </a:lnTo>
                  <a:lnTo>
                    <a:pt x="6228143" y="8760"/>
                  </a:lnTo>
                  <a:lnTo>
                    <a:pt x="6263567" y="32646"/>
                  </a:lnTo>
                  <a:lnTo>
                    <a:pt x="6287454" y="68071"/>
                  </a:lnTo>
                  <a:lnTo>
                    <a:pt x="6295855" y="109665"/>
                  </a:lnTo>
                  <a:lnTo>
                    <a:pt x="6295855" y="823593"/>
                  </a:lnTo>
                  <a:lnTo>
                    <a:pt x="6287454" y="865188"/>
                  </a:lnTo>
                  <a:lnTo>
                    <a:pt x="6263567" y="900612"/>
                  </a:lnTo>
                  <a:lnTo>
                    <a:pt x="6228143" y="924499"/>
                  </a:lnTo>
                  <a:lnTo>
                    <a:pt x="6184772" y="933259"/>
                  </a:lnTo>
                  <a:close/>
                </a:path>
              </a:pathLst>
            </a:custGeom>
            <a:solidFill>
              <a:srgbClr val="F5F7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1240317" y="2804635"/>
              <a:ext cx="6296025" cy="933450"/>
            </a:xfrm>
            <a:custGeom>
              <a:avLst/>
              <a:gdLst/>
              <a:ahLst/>
              <a:cxnLst/>
              <a:rect l="l" t="t" r="r" b="b"/>
              <a:pathLst>
                <a:path w="6296025" h="933450">
                  <a:moveTo>
                    <a:pt x="0" y="111429"/>
                  </a:moveTo>
                  <a:lnTo>
                    <a:pt x="8758" y="68063"/>
                  </a:lnTo>
                  <a:lnTo>
                    <a:pt x="32642" y="32643"/>
                  </a:lnTo>
                  <a:lnTo>
                    <a:pt x="68062" y="8759"/>
                  </a:lnTo>
                  <a:lnTo>
                    <a:pt x="111429" y="0"/>
                  </a:lnTo>
                  <a:lnTo>
                    <a:pt x="6184062" y="0"/>
                  </a:lnTo>
                  <a:lnTo>
                    <a:pt x="6227429" y="8758"/>
                  </a:lnTo>
                  <a:lnTo>
                    <a:pt x="6262849" y="32642"/>
                  </a:lnTo>
                  <a:lnTo>
                    <a:pt x="6286734" y="68062"/>
                  </a:lnTo>
                  <a:lnTo>
                    <a:pt x="6295493" y="111429"/>
                  </a:lnTo>
                  <a:lnTo>
                    <a:pt x="6295493" y="821722"/>
                  </a:lnTo>
                  <a:lnTo>
                    <a:pt x="6286733" y="865089"/>
                  </a:lnTo>
                  <a:lnTo>
                    <a:pt x="6262849" y="900509"/>
                  </a:lnTo>
                  <a:lnTo>
                    <a:pt x="6227429" y="924393"/>
                  </a:lnTo>
                  <a:lnTo>
                    <a:pt x="6184062" y="933152"/>
                  </a:lnTo>
                  <a:lnTo>
                    <a:pt x="111429" y="933152"/>
                  </a:lnTo>
                  <a:lnTo>
                    <a:pt x="68063" y="924393"/>
                  </a:lnTo>
                  <a:lnTo>
                    <a:pt x="32643" y="900508"/>
                  </a:lnTo>
                  <a:lnTo>
                    <a:pt x="8758" y="865089"/>
                  </a:lnTo>
                  <a:lnTo>
                    <a:pt x="0" y="821722"/>
                  </a:lnTo>
                  <a:lnTo>
                    <a:pt x="0" y="111429"/>
                  </a:lnTo>
                </a:path>
              </a:pathLst>
            </a:custGeom>
            <a:ln w="28575">
              <a:solidFill>
                <a:srgbClr val="C8D3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1470766" y="2994278"/>
              <a:ext cx="567690" cy="567690"/>
            </a:xfrm>
            <a:custGeom>
              <a:avLst/>
              <a:gdLst/>
              <a:ahLst/>
              <a:cxnLst/>
              <a:rect l="l" t="t" r="r" b="b"/>
              <a:pathLst>
                <a:path w="567690" h="567689">
                  <a:moveTo>
                    <a:pt x="283844" y="567690"/>
                  </a:moveTo>
                  <a:lnTo>
                    <a:pt x="237799" y="563975"/>
                  </a:lnTo>
                  <a:lnTo>
                    <a:pt x="194121" y="553221"/>
                  </a:lnTo>
                  <a:lnTo>
                    <a:pt x="153393" y="536011"/>
                  </a:lnTo>
                  <a:lnTo>
                    <a:pt x="116201" y="512929"/>
                  </a:lnTo>
                  <a:lnTo>
                    <a:pt x="83129" y="484560"/>
                  </a:lnTo>
                  <a:lnTo>
                    <a:pt x="54760" y="451488"/>
                  </a:lnTo>
                  <a:lnTo>
                    <a:pt x="31678" y="414296"/>
                  </a:lnTo>
                  <a:lnTo>
                    <a:pt x="14468" y="373569"/>
                  </a:lnTo>
                  <a:lnTo>
                    <a:pt x="3714" y="329890"/>
                  </a:lnTo>
                  <a:lnTo>
                    <a:pt x="0" y="283845"/>
                  </a:lnTo>
                  <a:lnTo>
                    <a:pt x="3714" y="237799"/>
                  </a:lnTo>
                  <a:lnTo>
                    <a:pt x="14468" y="194121"/>
                  </a:lnTo>
                  <a:lnTo>
                    <a:pt x="31678" y="153393"/>
                  </a:lnTo>
                  <a:lnTo>
                    <a:pt x="54760" y="116202"/>
                  </a:lnTo>
                  <a:lnTo>
                    <a:pt x="83129" y="83129"/>
                  </a:lnTo>
                  <a:lnTo>
                    <a:pt x="116201" y="54760"/>
                  </a:lnTo>
                  <a:lnTo>
                    <a:pt x="153393" y="31678"/>
                  </a:lnTo>
                  <a:lnTo>
                    <a:pt x="194121" y="14468"/>
                  </a:lnTo>
                  <a:lnTo>
                    <a:pt x="237799" y="3714"/>
                  </a:lnTo>
                  <a:lnTo>
                    <a:pt x="283844" y="0"/>
                  </a:lnTo>
                  <a:lnTo>
                    <a:pt x="329890" y="3714"/>
                  </a:lnTo>
                  <a:lnTo>
                    <a:pt x="373568" y="14468"/>
                  </a:lnTo>
                  <a:lnTo>
                    <a:pt x="414296" y="31678"/>
                  </a:lnTo>
                  <a:lnTo>
                    <a:pt x="451488" y="54760"/>
                  </a:lnTo>
                  <a:lnTo>
                    <a:pt x="484560" y="83129"/>
                  </a:lnTo>
                  <a:lnTo>
                    <a:pt x="512929" y="116202"/>
                  </a:lnTo>
                  <a:lnTo>
                    <a:pt x="536011" y="153393"/>
                  </a:lnTo>
                  <a:lnTo>
                    <a:pt x="553221" y="194121"/>
                  </a:lnTo>
                  <a:lnTo>
                    <a:pt x="563975" y="237799"/>
                  </a:lnTo>
                  <a:lnTo>
                    <a:pt x="567689" y="283845"/>
                  </a:lnTo>
                  <a:lnTo>
                    <a:pt x="563975" y="329890"/>
                  </a:lnTo>
                  <a:lnTo>
                    <a:pt x="553221" y="373569"/>
                  </a:lnTo>
                  <a:lnTo>
                    <a:pt x="536011" y="414296"/>
                  </a:lnTo>
                  <a:lnTo>
                    <a:pt x="512929" y="451488"/>
                  </a:lnTo>
                  <a:lnTo>
                    <a:pt x="484560" y="484560"/>
                  </a:lnTo>
                  <a:lnTo>
                    <a:pt x="451488" y="512929"/>
                  </a:lnTo>
                  <a:lnTo>
                    <a:pt x="414296" y="536011"/>
                  </a:lnTo>
                  <a:lnTo>
                    <a:pt x="373568" y="553221"/>
                  </a:lnTo>
                  <a:lnTo>
                    <a:pt x="329890" y="563975"/>
                  </a:lnTo>
                  <a:lnTo>
                    <a:pt x="283844" y="567690"/>
                  </a:lnTo>
                  <a:close/>
                </a:path>
              </a:pathLst>
            </a:custGeom>
            <a:solidFill>
              <a:srgbClr val="0A1F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1470764" y="2994281"/>
              <a:ext cx="567690" cy="567690"/>
            </a:xfrm>
            <a:custGeom>
              <a:avLst/>
              <a:gdLst/>
              <a:ahLst/>
              <a:cxnLst/>
              <a:rect l="l" t="t" r="r" b="b"/>
              <a:pathLst>
                <a:path w="567690" h="567689">
                  <a:moveTo>
                    <a:pt x="4" y="283812"/>
                  </a:moveTo>
                  <a:lnTo>
                    <a:pt x="3722" y="237773"/>
                  </a:lnTo>
                  <a:lnTo>
                    <a:pt x="14478" y="194101"/>
                  </a:lnTo>
                  <a:lnTo>
                    <a:pt x="31687" y="153381"/>
                  </a:lnTo>
                  <a:lnTo>
                    <a:pt x="54766" y="116195"/>
                  </a:lnTo>
                  <a:lnTo>
                    <a:pt x="83130" y="83127"/>
                  </a:lnTo>
                  <a:lnTo>
                    <a:pt x="116197" y="54761"/>
                  </a:lnTo>
                  <a:lnTo>
                    <a:pt x="153383" y="31681"/>
                  </a:lnTo>
                  <a:lnTo>
                    <a:pt x="194104" y="14471"/>
                  </a:lnTo>
                  <a:lnTo>
                    <a:pt x="237776" y="3714"/>
                  </a:lnTo>
                  <a:lnTo>
                    <a:pt x="283817" y="0"/>
                  </a:lnTo>
                  <a:lnTo>
                    <a:pt x="329859" y="3704"/>
                  </a:lnTo>
                  <a:lnTo>
                    <a:pt x="373537" y="14452"/>
                  </a:lnTo>
                  <a:lnTo>
                    <a:pt x="414265" y="31655"/>
                  </a:lnTo>
                  <a:lnTo>
                    <a:pt x="451460" y="54732"/>
                  </a:lnTo>
                  <a:lnTo>
                    <a:pt x="484536" y="83096"/>
                  </a:lnTo>
                  <a:lnTo>
                    <a:pt x="512911" y="116166"/>
                  </a:lnTo>
                  <a:lnTo>
                    <a:pt x="535999" y="153357"/>
                  </a:lnTo>
                  <a:lnTo>
                    <a:pt x="553215" y="194085"/>
                  </a:lnTo>
                  <a:lnTo>
                    <a:pt x="563975" y="237767"/>
                  </a:lnTo>
                  <a:lnTo>
                    <a:pt x="567694" y="283817"/>
                  </a:lnTo>
                  <a:lnTo>
                    <a:pt x="563982" y="329869"/>
                  </a:lnTo>
                  <a:lnTo>
                    <a:pt x="553228" y="373554"/>
                  </a:lnTo>
                  <a:lnTo>
                    <a:pt x="536017" y="414287"/>
                  </a:lnTo>
                  <a:lnTo>
                    <a:pt x="512932" y="451485"/>
                  </a:lnTo>
                  <a:lnTo>
                    <a:pt x="484558" y="484561"/>
                  </a:lnTo>
                  <a:lnTo>
                    <a:pt x="451480" y="512933"/>
                  </a:lnTo>
                  <a:lnTo>
                    <a:pt x="414281" y="536016"/>
                  </a:lnTo>
                  <a:lnTo>
                    <a:pt x="373547" y="553224"/>
                  </a:lnTo>
                  <a:lnTo>
                    <a:pt x="329863" y="563975"/>
                  </a:lnTo>
                  <a:lnTo>
                    <a:pt x="283812" y="567684"/>
                  </a:lnTo>
                  <a:lnTo>
                    <a:pt x="237764" y="563963"/>
                  </a:lnTo>
                  <a:lnTo>
                    <a:pt x="194084" y="553202"/>
                  </a:lnTo>
                  <a:lnTo>
                    <a:pt x="153359" y="535985"/>
                  </a:lnTo>
                  <a:lnTo>
                    <a:pt x="116170" y="512898"/>
                  </a:lnTo>
                  <a:lnTo>
                    <a:pt x="83102" y="484524"/>
                  </a:lnTo>
                  <a:lnTo>
                    <a:pt x="54739" y="451448"/>
                  </a:lnTo>
                  <a:lnTo>
                    <a:pt x="31664" y="414255"/>
                  </a:lnTo>
                  <a:lnTo>
                    <a:pt x="14461" y="373529"/>
                  </a:lnTo>
                  <a:lnTo>
                    <a:pt x="3714" y="329853"/>
                  </a:lnTo>
                  <a:lnTo>
                    <a:pt x="0" y="283812"/>
                  </a:lnTo>
                </a:path>
              </a:pathLst>
            </a:custGeom>
            <a:ln w="38100">
              <a:solidFill>
                <a:srgbClr val="0A1F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1679076" y="3076828"/>
            <a:ext cx="15113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263120" y="2815346"/>
            <a:ext cx="5200000" cy="76200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1950" b="1" spc="-10" dirty="0">
                <a:solidFill>
                  <a:srgbClr val="0A1F4A"/>
                </a:solidFill>
                <a:latin typeface="Calibri"/>
                <a:cs typeface="Calibri"/>
              </a:rPr>
              <a:t>Essential Questions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i="1" dirty="0">
                <a:solidFill>
                  <a:srgbClr val="5B6474"/>
                </a:solidFill>
                <a:latin typeface="Calibri"/>
                <a:cs typeface="Calibri"/>
              </a:rPr>
              <a:t>Event, consciousness, breathing, bleeding, location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1226030" y="3873912"/>
            <a:ext cx="6324600" cy="962025"/>
            <a:chOff x="11226030" y="3873912"/>
            <a:chExt cx="6324600" cy="962025"/>
          </a:xfrm>
        </p:grpSpPr>
        <p:sp>
          <p:nvSpPr>
            <p:cNvPr id="32" name="object 32"/>
            <p:cNvSpPr/>
            <p:nvPr/>
          </p:nvSpPr>
          <p:spPr>
            <a:xfrm>
              <a:off x="11239976" y="3888199"/>
              <a:ext cx="6296025" cy="933450"/>
            </a:xfrm>
            <a:custGeom>
              <a:avLst/>
              <a:gdLst/>
              <a:ahLst/>
              <a:cxnLst/>
              <a:rect l="l" t="t" r="r" b="b"/>
              <a:pathLst>
                <a:path w="6296025" h="933450">
                  <a:moveTo>
                    <a:pt x="6184772" y="933259"/>
                  </a:moveTo>
                  <a:lnTo>
                    <a:pt x="111442" y="933259"/>
                  </a:lnTo>
                  <a:lnTo>
                    <a:pt x="68071" y="924499"/>
                  </a:lnTo>
                  <a:lnTo>
                    <a:pt x="32647" y="900612"/>
                  </a:lnTo>
                  <a:lnTo>
                    <a:pt x="8760" y="865188"/>
                  </a:lnTo>
                  <a:lnTo>
                    <a:pt x="0" y="821817"/>
                  </a:lnTo>
                  <a:lnTo>
                    <a:pt x="0" y="111442"/>
                  </a:lnTo>
                  <a:lnTo>
                    <a:pt x="8760" y="68071"/>
                  </a:lnTo>
                  <a:lnTo>
                    <a:pt x="32647" y="32647"/>
                  </a:lnTo>
                  <a:lnTo>
                    <a:pt x="68071" y="8760"/>
                  </a:lnTo>
                  <a:lnTo>
                    <a:pt x="111442" y="0"/>
                  </a:lnTo>
                  <a:lnTo>
                    <a:pt x="6184772" y="0"/>
                  </a:lnTo>
                  <a:lnTo>
                    <a:pt x="6228143" y="8760"/>
                  </a:lnTo>
                  <a:lnTo>
                    <a:pt x="6263567" y="32647"/>
                  </a:lnTo>
                  <a:lnTo>
                    <a:pt x="6287454" y="68071"/>
                  </a:lnTo>
                  <a:lnTo>
                    <a:pt x="6295855" y="109665"/>
                  </a:lnTo>
                  <a:lnTo>
                    <a:pt x="6295855" y="823593"/>
                  </a:lnTo>
                  <a:lnTo>
                    <a:pt x="6287454" y="865188"/>
                  </a:lnTo>
                  <a:lnTo>
                    <a:pt x="6263567" y="900612"/>
                  </a:lnTo>
                  <a:lnTo>
                    <a:pt x="6228143" y="924499"/>
                  </a:lnTo>
                  <a:lnTo>
                    <a:pt x="6184772" y="933259"/>
                  </a:lnTo>
                  <a:close/>
                </a:path>
              </a:pathLst>
            </a:custGeom>
            <a:solidFill>
              <a:srgbClr val="F5F7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1240317" y="3888199"/>
              <a:ext cx="6296025" cy="933450"/>
            </a:xfrm>
            <a:custGeom>
              <a:avLst/>
              <a:gdLst/>
              <a:ahLst/>
              <a:cxnLst/>
              <a:rect l="l" t="t" r="r" b="b"/>
              <a:pathLst>
                <a:path w="6296025" h="933450">
                  <a:moveTo>
                    <a:pt x="0" y="111429"/>
                  </a:moveTo>
                  <a:lnTo>
                    <a:pt x="8759" y="68063"/>
                  </a:lnTo>
                  <a:lnTo>
                    <a:pt x="32643" y="32643"/>
                  </a:lnTo>
                  <a:lnTo>
                    <a:pt x="68062" y="8759"/>
                  </a:lnTo>
                  <a:lnTo>
                    <a:pt x="111429" y="0"/>
                  </a:lnTo>
                  <a:lnTo>
                    <a:pt x="6184062" y="0"/>
                  </a:lnTo>
                  <a:lnTo>
                    <a:pt x="6227429" y="8758"/>
                  </a:lnTo>
                  <a:lnTo>
                    <a:pt x="6262849" y="32642"/>
                  </a:lnTo>
                  <a:lnTo>
                    <a:pt x="6286734" y="68062"/>
                  </a:lnTo>
                  <a:lnTo>
                    <a:pt x="6295493" y="111429"/>
                  </a:lnTo>
                  <a:lnTo>
                    <a:pt x="6295493" y="821722"/>
                  </a:lnTo>
                  <a:lnTo>
                    <a:pt x="6286733" y="865089"/>
                  </a:lnTo>
                  <a:lnTo>
                    <a:pt x="6262849" y="900509"/>
                  </a:lnTo>
                  <a:lnTo>
                    <a:pt x="6227429" y="924393"/>
                  </a:lnTo>
                  <a:lnTo>
                    <a:pt x="6184062" y="933152"/>
                  </a:lnTo>
                  <a:lnTo>
                    <a:pt x="111429" y="933152"/>
                  </a:lnTo>
                  <a:lnTo>
                    <a:pt x="68062" y="924393"/>
                  </a:lnTo>
                  <a:lnTo>
                    <a:pt x="32643" y="900508"/>
                  </a:lnTo>
                  <a:lnTo>
                    <a:pt x="8759" y="865088"/>
                  </a:lnTo>
                  <a:lnTo>
                    <a:pt x="0" y="821722"/>
                  </a:lnTo>
                  <a:lnTo>
                    <a:pt x="0" y="111429"/>
                  </a:lnTo>
                </a:path>
              </a:pathLst>
            </a:custGeom>
            <a:ln w="28575">
              <a:solidFill>
                <a:srgbClr val="C8D3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1470766" y="4077842"/>
              <a:ext cx="567690" cy="567690"/>
            </a:xfrm>
            <a:custGeom>
              <a:avLst/>
              <a:gdLst/>
              <a:ahLst/>
              <a:cxnLst/>
              <a:rect l="l" t="t" r="r" b="b"/>
              <a:pathLst>
                <a:path w="567690" h="567689">
                  <a:moveTo>
                    <a:pt x="283844" y="567689"/>
                  </a:moveTo>
                  <a:lnTo>
                    <a:pt x="237799" y="563975"/>
                  </a:lnTo>
                  <a:lnTo>
                    <a:pt x="194121" y="553221"/>
                  </a:lnTo>
                  <a:lnTo>
                    <a:pt x="153393" y="536011"/>
                  </a:lnTo>
                  <a:lnTo>
                    <a:pt x="116201" y="512929"/>
                  </a:lnTo>
                  <a:lnTo>
                    <a:pt x="83129" y="484560"/>
                  </a:lnTo>
                  <a:lnTo>
                    <a:pt x="54760" y="451488"/>
                  </a:lnTo>
                  <a:lnTo>
                    <a:pt x="31678" y="414296"/>
                  </a:lnTo>
                  <a:lnTo>
                    <a:pt x="14468" y="373568"/>
                  </a:lnTo>
                  <a:lnTo>
                    <a:pt x="3714" y="329890"/>
                  </a:lnTo>
                  <a:lnTo>
                    <a:pt x="0" y="283844"/>
                  </a:lnTo>
                  <a:lnTo>
                    <a:pt x="3714" y="237799"/>
                  </a:lnTo>
                  <a:lnTo>
                    <a:pt x="14468" y="194121"/>
                  </a:lnTo>
                  <a:lnTo>
                    <a:pt x="31678" y="153393"/>
                  </a:lnTo>
                  <a:lnTo>
                    <a:pt x="54760" y="116201"/>
                  </a:lnTo>
                  <a:lnTo>
                    <a:pt x="83129" y="83129"/>
                  </a:lnTo>
                  <a:lnTo>
                    <a:pt x="116201" y="54760"/>
                  </a:lnTo>
                  <a:lnTo>
                    <a:pt x="153393" y="31678"/>
                  </a:lnTo>
                  <a:lnTo>
                    <a:pt x="194121" y="14468"/>
                  </a:lnTo>
                  <a:lnTo>
                    <a:pt x="237799" y="3714"/>
                  </a:lnTo>
                  <a:lnTo>
                    <a:pt x="283844" y="0"/>
                  </a:lnTo>
                  <a:lnTo>
                    <a:pt x="329890" y="3714"/>
                  </a:lnTo>
                  <a:lnTo>
                    <a:pt x="373568" y="14468"/>
                  </a:lnTo>
                  <a:lnTo>
                    <a:pt x="414296" y="31678"/>
                  </a:lnTo>
                  <a:lnTo>
                    <a:pt x="451488" y="54760"/>
                  </a:lnTo>
                  <a:lnTo>
                    <a:pt x="484560" y="83129"/>
                  </a:lnTo>
                  <a:lnTo>
                    <a:pt x="512929" y="116201"/>
                  </a:lnTo>
                  <a:lnTo>
                    <a:pt x="536011" y="153393"/>
                  </a:lnTo>
                  <a:lnTo>
                    <a:pt x="553221" y="194121"/>
                  </a:lnTo>
                  <a:lnTo>
                    <a:pt x="563975" y="237799"/>
                  </a:lnTo>
                  <a:lnTo>
                    <a:pt x="567689" y="283844"/>
                  </a:lnTo>
                  <a:lnTo>
                    <a:pt x="563975" y="329890"/>
                  </a:lnTo>
                  <a:lnTo>
                    <a:pt x="553221" y="373568"/>
                  </a:lnTo>
                  <a:lnTo>
                    <a:pt x="536011" y="414296"/>
                  </a:lnTo>
                  <a:lnTo>
                    <a:pt x="512929" y="451488"/>
                  </a:lnTo>
                  <a:lnTo>
                    <a:pt x="484560" y="484560"/>
                  </a:lnTo>
                  <a:lnTo>
                    <a:pt x="451488" y="512929"/>
                  </a:lnTo>
                  <a:lnTo>
                    <a:pt x="414296" y="536011"/>
                  </a:lnTo>
                  <a:lnTo>
                    <a:pt x="373568" y="553221"/>
                  </a:lnTo>
                  <a:lnTo>
                    <a:pt x="329890" y="563975"/>
                  </a:lnTo>
                  <a:lnTo>
                    <a:pt x="283844" y="567689"/>
                  </a:lnTo>
                  <a:close/>
                </a:path>
              </a:pathLst>
            </a:custGeom>
            <a:solidFill>
              <a:srgbClr val="F1A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1470764" y="4077845"/>
              <a:ext cx="567690" cy="567690"/>
            </a:xfrm>
            <a:custGeom>
              <a:avLst/>
              <a:gdLst/>
              <a:ahLst/>
              <a:cxnLst/>
              <a:rect l="l" t="t" r="r" b="b"/>
              <a:pathLst>
                <a:path w="567690" h="567689">
                  <a:moveTo>
                    <a:pt x="4" y="283812"/>
                  </a:moveTo>
                  <a:lnTo>
                    <a:pt x="3722" y="237773"/>
                  </a:lnTo>
                  <a:lnTo>
                    <a:pt x="14478" y="194101"/>
                  </a:lnTo>
                  <a:lnTo>
                    <a:pt x="31687" y="153381"/>
                  </a:lnTo>
                  <a:lnTo>
                    <a:pt x="54766" y="116195"/>
                  </a:lnTo>
                  <a:lnTo>
                    <a:pt x="83130" y="83127"/>
                  </a:lnTo>
                  <a:lnTo>
                    <a:pt x="116197" y="54761"/>
                  </a:lnTo>
                  <a:lnTo>
                    <a:pt x="153383" y="31681"/>
                  </a:lnTo>
                  <a:lnTo>
                    <a:pt x="194104" y="14471"/>
                  </a:lnTo>
                  <a:lnTo>
                    <a:pt x="237776" y="3714"/>
                  </a:lnTo>
                  <a:lnTo>
                    <a:pt x="283817" y="0"/>
                  </a:lnTo>
                  <a:lnTo>
                    <a:pt x="329859" y="3704"/>
                  </a:lnTo>
                  <a:lnTo>
                    <a:pt x="373537" y="14452"/>
                  </a:lnTo>
                  <a:lnTo>
                    <a:pt x="414265" y="31655"/>
                  </a:lnTo>
                  <a:lnTo>
                    <a:pt x="451460" y="54731"/>
                  </a:lnTo>
                  <a:lnTo>
                    <a:pt x="484536" y="83096"/>
                  </a:lnTo>
                  <a:lnTo>
                    <a:pt x="512911" y="116166"/>
                  </a:lnTo>
                  <a:lnTo>
                    <a:pt x="535999" y="153357"/>
                  </a:lnTo>
                  <a:lnTo>
                    <a:pt x="553215" y="194085"/>
                  </a:lnTo>
                  <a:lnTo>
                    <a:pt x="563975" y="237767"/>
                  </a:lnTo>
                  <a:lnTo>
                    <a:pt x="567694" y="283817"/>
                  </a:lnTo>
                  <a:lnTo>
                    <a:pt x="563982" y="329869"/>
                  </a:lnTo>
                  <a:lnTo>
                    <a:pt x="553228" y="373554"/>
                  </a:lnTo>
                  <a:lnTo>
                    <a:pt x="536017" y="414287"/>
                  </a:lnTo>
                  <a:lnTo>
                    <a:pt x="512932" y="451485"/>
                  </a:lnTo>
                  <a:lnTo>
                    <a:pt x="484558" y="484561"/>
                  </a:lnTo>
                  <a:lnTo>
                    <a:pt x="451480" y="512933"/>
                  </a:lnTo>
                  <a:lnTo>
                    <a:pt x="414281" y="536015"/>
                  </a:lnTo>
                  <a:lnTo>
                    <a:pt x="373547" y="553224"/>
                  </a:lnTo>
                  <a:lnTo>
                    <a:pt x="329863" y="563975"/>
                  </a:lnTo>
                  <a:lnTo>
                    <a:pt x="283812" y="567684"/>
                  </a:lnTo>
                  <a:lnTo>
                    <a:pt x="237764" y="563963"/>
                  </a:lnTo>
                  <a:lnTo>
                    <a:pt x="194085" y="553202"/>
                  </a:lnTo>
                  <a:lnTo>
                    <a:pt x="153359" y="535985"/>
                  </a:lnTo>
                  <a:lnTo>
                    <a:pt x="116170" y="512898"/>
                  </a:lnTo>
                  <a:lnTo>
                    <a:pt x="83102" y="484524"/>
                  </a:lnTo>
                  <a:lnTo>
                    <a:pt x="54739" y="451448"/>
                  </a:lnTo>
                  <a:lnTo>
                    <a:pt x="31664" y="414255"/>
                  </a:lnTo>
                  <a:lnTo>
                    <a:pt x="14461" y="373529"/>
                  </a:lnTo>
                  <a:lnTo>
                    <a:pt x="3714" y="329853"/>
                  </a:lnTo>
                  <a:lnTo>
                    <a:pt x="0" y="283812"/>
                  </a:lnTo>
                </a:path>
              </a:pathLst>
            </a:custGeom>
            <a:ln w="38100">
              <a:solidFill>
                <a:srgbClr val="F1A8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1679076" y="4160392"/>
            <a:ext cx="15113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b="1" spc="-50" dirty="0">
                <a:solidFill>
                  <a:srgbClr val="0A1F4A"/>
                </a:solidFill>
                <a:latin typeface="Calibri"/>
                <a:cs typeface="Calibri"/>
              </a:rPr>
              <a:t>2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2263120" y="3898910"/>
            <a:ext cx="5200000" cy="76200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1950" b="1" spc="-10" dirty="0">
                <a:solidFill>
                  <a:srgbClr val="0A1F4A"/>
                </a:solidFill>
                <a:latin typeface="Calibri"/>
                <a:cs typeface="Calibri"/>
              </a:rPr>
              <a:t>Road Accident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i="1" dirty="0">
                <a:solidFill>
                  <a:srgbClr val="5B6474"/>
                </a:solidFill>
                <a:latin typeface="Calibri"/>
                <a:cs typeface="Calibri"/>
              </a:rPr>
              <a:t>Injured count, hazards, trapped patients, injuries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78677" y="5254624"/>
            <a:ext cx="6163945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5955" marR="648335" algn="ctr">
              <a:lnSpc>
                <a:spcPct val="100000"/>
              </a:lnSpc>
              <a:spcBef>
                <a:spcPts val="100"/>
              </a:spcBef>
            </a:pPr>
            <a:r>
              <a:rPr sz="2250" i="1" dirty="0">
                <a:solidFill>
                  <a:srgbClr val="5B6474"/>
                </a:solidFill>
                <a:latin typeface="Calibri"/>
                <a:cs typeface="Calibri"/>
              </a:rPr>
              <a:t>Incoming Call</a:t>
            </a:r>
            <a:endParaRPr sz="225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2250" i="1" dirty="0">
                <a:solidFill>
                  <a:srgbClr val="5B6474"/>
                </a:solidFill>
                <a:latin typeface="Calibri"/>
                <a:cs typeface="Calibri"/>
              </a:rPr>
              <a:t>↓  Essential Questions (5)</a:t>
            </a:r>
            <a:endParaRPr sz="225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2250" i="1" dirty="0">
                <a:solidFill>
                  <a:srgbClr val="5B6474"/>
                </a:solidFill>
                <a:latin typeface="Calibri"/>
                <a:cs typeface="Calibri"/>
              </a:rPr>
              <a:t>↓  Relevant Follow-up Questions</a:t>
            </a:r>
            <a:endParaRPr sz="225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2250" i="1" dirty="0">
                <a:solidFill>
                  <a:srgbClr val="5B6474"/>
                </a:solidFill>
                <a:latin typeface="Calibri"/>
                <a:cs typeface="Calibri"/>
              </a:rPr>
              <a:t>↓  Priority Assessment (P1 / P2 / P3)</a:t>
            </a:r>
            <a:endParaRPr sz="225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2250" i="1" dirty="0">
                <a:solidFill>
                  <a:srgbClr val="5B6474"/>
                </a:solidFill>
                <a:latin typeface="Calibri"/>
                <a:cs typeface="Calibri"/>
              </a:rPr>
              <a:t>↓  Dispatcher Review</a:t>
            </a:r>
            <a:endParaRPr sz="225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2250" i="1" dirty="0">
                <a:solidFill>
                  <a:srgbClr val="5B6474"/>
                </a:solidFill>
                <a:latin typeface="Calibri"/>
                <a:cs typeface="Calibri"/>
              </a:rPr>
              <a:t>Critical cases escalate immediately; questioning never delays P1 response.</a:t>
            </a:r>
            <a:endParaRPr sz="2250" dirty="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1226030" y="4957476"/>
            <a:ext cx="6324600" cy="962025"/>
            <a:chOff x="11226030" y="4957476"/>
            <a:chExt cx="6324600" cy="962025"/>
          </a:xfrm>
        </p:grpSpPr>
        <p:sp>
          <p:nvSpPr>
            <p:cNvPr id="39" name="object 39"/>
            <p:cNvSpPr/>
            <p:nvPr/>
          </p:nvSpPr>
          <p:spPr>
            <a:xfrm>
              <a:off x="11239976" y="4971764"/>
              <a:ext cx="6296025" cy="933450"/>
            </a:xfrm>
            <a:custGeom>
              <a:avLst/>
              <a:gdLst/>
              <a:ahLst/>
              <a:cxnLst/>
              <a:rect l="l" t="t" r="r" b="b"/>
              <a:pathLst>
                <a:path w="6296025" h="933450">
                  <a:moveTo>
                    <a:pt x="6184772" y="933259"/>
                  </a:moveTo>
                  <a:lnTo>
                    <a:pt x="111442" y="933259"/>
                  </a:lnTo>
                  <a:lnTo>
                    <a:pt x="68071" y="924499"/>
                  </a:lnTo>
                  <a:lnTo>
                    <a:pt x="32647" y="900612"/>
                  </a:lnTo>
                  <a:lnTo>
                    <a:pt x="8760" y="865188"/>
                  </a:lnTo>
                  <a:lnTo>
                    <a:pt x="0" y="821816"/>
                  </a:lnTo>
                  <a:lnTo>
                    <a:pt x="0" y="111442"/>
                  </a:lnTo>
                  <a:lnTo>
                    <a:pt x="8760" y="68071"/>
                  </a:lnTo>
                  <a:lnTo>
                    <a:pt x="32647" y="32647"/>
                  </a:lnTo>
                  <a:lnTo>
                    <a:pt x="68071" y="8760"/>
                  </a:lnTo>
                  <a:lnTo>
                    <a:pt x="111442" y="0"/>
                  </a:lnTo>
                  <a:lnTo>
                    <a:pt x="6184772" y="0"/>
                  </a:lnTo>
                  <a:lnTo>
                    <a:pt x="6228143" y="8760"/>
                  </a:lnTo>
                  <a:lnTo>
                    <a:pt x="6263567" y="32647"/>
                  </a:lnTo>
                  <a:lnTo>
                    <a:pt x="6287454" y="68071"/>
                  </a:lnTo>
                  <a:lnTo>
                    <a:pt x="6295855" y="109665"/>
                  </a:lnTo>
                  <a:lnTo>
                    <a:pt x="6295855" y="823593"/>
                  </a:lnTo>
                  <a:lnTo>
                    <a:pt x="6287454" y="865188"/>
                  </a:lnTo>
                  <a:lnTo>
                    <a:pt x="6263567" y="900612"/>
                  </a:lnTo>
                  <a:lnTo>
                    <a:pt x="6228143" y="924499"/>
                  </a:lnTo>
                  <a:lnTo>
                    <a:pt x="6184772" y="933259"/>
                  </a:lnTo>
                  <a:close/>
                </a:path>
              </a:pathLst>
            </a:custGeom>
            <a:solidFill>
              <a:srgbClr val="F5F7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1240317" y="4971763"/>
              <a:ext cx="6296025" cy="933450"/>
            </a:xfrm>
            <a:custGeom>
              <a:avLst/>
              <a:gdLst/>
              <a:ahLst/>
              <a:cxnLst/>
              <a:rect l="l" t="t" r="r" b="b"/>
              <a:pathLst>
                <a:path w="6296025" h="933450">
                  <a:moveTo>
                    <a:pt x="0" y="111429"/>
                  </a:moveTo>
                  <a:lnTo>
                    <a:pt x="8759" y="68063"/>
                  </a:lnTo>
                  <a:lnTo>
                    <a:pt x="32643" y="32643"/>
                  </a:lnTo>
                  <a:lnTo>
                    <a:pt x="68062" y="8759"/>
                  </a:lnTo>
                  <a:lnTo>
                    <a:pt x="111429" y="0"/>
                  </a:lnTo>
                  <a:lnTo>
                    <a:pt x="6184062" y="0"/>
                  </a:lnTo>
                  <a:lnTo>
                    <a:pt x="6227429" y="8758"/>
                  </a:lnTo>
                  <a:lnTo>
                    <a:pt x="6262849" y="32642"/>
                  </a:lnTo>
                  <a:lnTo>
                    <a:pt x="6286734" y="68062"/>
                  </a:lnTo>
                  <a:lnTo>
                    <a:pt x="6295493" y="111429"/>
                  </a:lnTo>
                  <a:lnTo>
                    <a:pt x="6295493" y="821722"/>
                  </a:lnTo>
                  <a:lnTo>
                    <a:pt x="6286733" y="865089"/>
                  </a:lnTo>
                  <a:lnTo>
                    <a:pt x="6262849" y="900509"/>
                  </a:lnTo>
                  <a:lnTo>
                    <a:pt x="6227429" y="924393"/>
                  </a:lnTo>
                  <a:lnTo>
                    <a:pt x="6184062" y="933152"/>
                  </a:lnTo>
                  <a:lnTo>
                    <a:pt x="111429" y="933152"/>
                  </a:lnTo>
                  <a:lnTo>
                    <a:pt x="68062" y="924393"/>
                  </a:lnTo>
                  <a:lnTo>
                    <a:pt x="32643" y="900508"/>
                  </a:lnTo>
                  <a:lnTo>
                    <a:pt x="8759" y="865088"/>
                  </a:lnTo>
                  <a:lnTo>
                    <a:pt x="0" y="821722"/>
                  </a:lnTo>
                  <a:lnTo>
                    <a:pt x="0" y="111429"/>
                  </a:lnTo>
                </a:path>
              </a:pathLst>
            </a:custGeom>
            <a:ln w="28575">
              <a:solidFill>
                <a:srgbClr val="C8D3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1470766" y="5161407"/>
              <a:ext cx="567690" cy="567690"/>
            </a:xfrm>
            <a:custGeom>
              <a:avLst/>
              <a:gdLst/>
              <a:ahLst/>
              <a:cxnLst/>
              <a:rect l="l" t="t" r="r" b="b"/>
              <a:pathLst>
                <a:path w="567690" h="567689">
                  <a:moveTo>
                    <a:pt x="283844" y="567689"/>
                  </a:moveTo>
                  <a:lnTo>
                    <a:pt x="237799" y="563975"/>
                  </a:lnTo>
                  <a:lnTo>
                    <a:pt x="194121" y="553221"/>
                  </a:lnTo>
                  <a:lnTo>
                    <a:pt x="153393" y="536011"/>
                  </a:lnTo>
                  <a:lnTo>
                    <a:pt x="116201" y="512929"/>
                  </a:lnTo>
                  <a:lnTo>
                    <a:pt x="83129" y="484560"/>
                  </a:lnTo>
                  <a:lnTo>
                    <a:pt x="54760" y="451488"/>
                  </a:lnTo>
                  <a:lnTo>
                    <a:pt x="31678" y="414296"/>
                  </a:lnTo>
                  <a:lnTo>
                    <a:pt x="14468" y="373568"/>
                  </a:lnTo>
                  <a:lnTo>
                    <a:pt x="3714" y="329890"/>
                  </a:lnTo>
                  <a:lnTo>
                    <a:pt x="0" y="283844"/>
                  </a:lnTo>
                  <a:lnTo>
                    <a:pt x="3714" y="237799"/>
                  </a:lnTo>
                  <a:lnTo>
                    <a:pt x="14468" y="194121"/>
                  </a:lnTo>
                  <a:lnTo>
                    <a:pt x="31678" y="153393"/>
                  </a:lnTo>
                  <a:lnTo>
                    <a:pt x="54760" y="116201"/>
                  </a:lnTo>
                  <a:lnTo>
                    <a:pt x="83129" y="83129"/>
                  </a:lnTo>
                  <a:lnTo>
                    <a:pt x="116201" y="54760"/>
                  </a:lnTo>
                  <a:lnTo>
                    <a:pt x="153393" y="31678"/>
                  </a:lnTo>
                  <a:lnTo>
                    <a:pt x="194121" y="14468"/>
                  </a:lnTo>
                  <a:lnTo>
                    <a:pt x="237799" y="3714"/>
                  </a:lnTo>
                  <a:lnTo>
                    <a:pt x="283844" y="0"/>
                  </a:lnTo>
                  <a:lnTo>
                    <a:pt x="329890" y="3714"/>
                  </a:lnTo>
                  <a:lnTo>
                    <a:pt x="373568" y="14468"/>
                  </a:lnTo>
                  <a:lnTo>
                    <a:pt x="414296" y="31678"/>
                  </a:lnTo>
                  <a:lnTo>
                    <a:pt x="451488" y="54760"/>
                  </a:lnTo>
                  <a:lnTo>
                    <a:pt x="484560" y="83129"/>
                  </a:lnTo>
                  <a:lnTo>
                    <a:pt x="512929" y="116201"/>
                  </a:lnTo>
                  <a:lnTo>
                    <a:pt x="536011" y="153393"/>
                  </a:lnTo>
                  <a:lnTo>
                    <a:pt x="553221" y="194121"/>
                  </a:lnTo>
                  <a:lnTo>
                    <a:pt x="563975" y="237799"/>
                  </a:lnTo>
                  <a:lnTo>
                    <a:pt x="567689" y="283844"/>
                  </a:lnTo>
                  <a:lnTo>
                    <a:pt x="563975" y="329890"/>
                  </a:lnTo>
                  <a:lnTo>
                    <a:pt x="553221" y="373568"/>
                  </a:lnTo>
                  <a:lnTo>
                    <a:pt x="536011" y="414296"/>
                  </a:lnTo>
                  <a:lnTo>
                    <a:pt x="512929" y="451488"/>
                  </a:lnTo>
                  <a:lnTo>
                    <a:pt x="484560" y="484560"/>
                  </a:lnTo>
                  <a:lnTo>
                    <a:pt x="451488" y="512929"/>
                  </a:lnTo>
                  <a:lnTo>
                    <a:pt x="414296" y="536011"/>
                  </a:lnTo>
                  <a:lnTo>
                    <a:pt x="373568" y="553221"/>
                  </a:lnTo>
                  <a:lnTo>
                    <a:pt x="329890" y="563975"/>
                  </a:lnTo>
                  <a:lnTo>
                    <a:pt x="283844" y="567689"/>
                  </a:lnTo>
                  <a:close/>
                </a:path>
              </a:pathLst>
            </a:custGeom>
            <a:solidFill>
              <a:srgbClr val="0A1F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1470764" y="5161409"/>
              <a:ext cx="567690" cy="567690"/>
            </a:xfrm>
            <a:custGeom>
              <a:avLst/>
              <a:gdLst/>
              <a:ahLst/>
              <a:cxnLst/>
              <a:rect l="l" t="t" r="r" b="b"/>
              <a:pathLst>
                <a:path w="567690" h="567689">
                  <a:moveTo>
                    <a:pt x="4" y="283812"/>
                  </a:moveTo>
                  <a:lnTo>
                    <a:pt x="3722" y="237773"/>
                  </a:lnTo>
                  <a:lnTo>
                    <a:pt x="14478" y="194101"/>
                  </a:lnTo>
                  <a:lnTo>
                    <a:pt x="31687" y="153381"/>
                  </a:lnTo>
                  <a:lnTo>
                    <a:pt x="54766" y="116195"/>
                  </a:lnTo>
                  <a:lnTo>
                    <a:pt x="83130" y="83127"/>
                  </a:lnTo>
                  <a:lnTo>
                    <a:pt x="116197" y="54761"/>
                  </a:lnTo>
                  <a:lnTo>
                    <a:pt x="153383" y="31681"/>
                  </a:lnTo>
                  <a:lnTo>
                    <a:pt x="194104" y="14471"/>
                  </a:lnTo>
                  <a:lnTo>
                    <a:pt x="237776" y="3714"/>
                  </a:lnTo>
                  <a:lnTo>
                    <a:pt x="283817" y="0"/>
                  </a:lnTo>
                  <a:lnTo>
                    <a:pt x="329859" y="3704"/>
                  </a:lnTo>
                  <a:lnTo>
                    <a:pt x="373537" y="14452"/>
                  </a:lnTo>
                  <a:lnTo>
                    <a:pt x="414265" y="31655"/>
                  </a:lnTo>
                  <a:lnTo>
                    <a:pt x="451460" y="54731"/>
                  </a:lnTo>
                  <a:lnTo>
                    <a:pt x="484536" y="83096"/>
                  </a:lnTo>
                  <a:lnTo>
                    <a:pt x="512911" y="116166"/>
                  </a:lnTo>
                  <a:lnTo>
                    <a:pt x="535999" y="153357"/>
                  </a:lnTo>
                  <a:lnTo>
                    <a:pt x="553215" y="194085"/>
                  </a:lnTo>
                  <a:lnTo>
                    <a:pt x="563975" y="237767"/>
                  </a:lnTo>
                  <a:lnTo>
                    <a:pt x="567694" y="283817"/>
                  </a:lnTo>
                  <a:lnTo>
                    <a:pt x="563982" y="329869"/>
                  </a:lnTo>
                  <a:lnTo>
                    <a:pt x="553228" y="373554"/>
                  </a:lnTo>
                  <a:lnTo>
                    <a:pt x="536017" y="414287"/>
                  </a:lnTo>
                  <a:lnTo>
                    <a:pt x="512932" y="451485"/>
                  </a:lnTo>
                  <a:lnTo>
                    <a:pt x="484558" y="484561"/>
                  </a:lnTo>
                  <a:lnTo>
                    <a:pt x="451480" y="512933"/>
                  </a:lnTo>
                  <a:lnTo>
                    <a:pt x="414281" y="536015"/>
                  </a:lnTo>
                  <a:lnTo>
                    <a:pt x="373547" y="553224"/>
                  </a:lnTo>
                  <a:lnTo>
                    <a:pt x="329863" y="563975"/>
                  </a:lnTo>
                  <a:lnTo>
                    <a:pt x="283812" y="567684"/>
                  </a:lnTo>
                  <a:lnTo>
                    <a:pt x="237764" y="563963"/>
                  </a:lnTo>
                  <a:lnTo>
                    <a:pt x="194085" y="553202"/>
                  </a:lnTo>
                  <a:lnTo>
                    <a:pt x="153359" y="535985"/>
                  </a:lnTo>
                  <a:lnTo>
                    <a:pt x="116170" y="512898"/>
                  </a:lnTo>
                  <a:lnTo>
                    <a:pt x="83102" y="484524"/>
                  </a:lnTo>
                  <a:lnTo>
                    <a:pt x="54739" y="451448"/>
                  </a:lnTo>
                  <a:lnTo>
                    <a:pt x="31664" y="414255"/>
                  </a:lnTo>
                  <a:lnTo>
                    <a:pt x="14461" y="373529"/>
                  </a:lnTo>
                  <a:lnTo>
                    <a:pt x="3714" y="329853"/>
                  </a:lnTo>
                  <a:lnTo>
                    <a:pt x="0" y="283812"/>
                  </a:lnTo>
                </a:path>
              </a:pathLst>
            </a:custGeom>
            <a:ln w="38100">
              <a:solidFill>
                <a:srgbClr val="0A1F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1679076" y="5243956"/>
            <a:ext cx="15113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2263120" y="4982474"/>
            <a:ext cx="5200000" cy="76200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1950" b="1" spc="-10" dirty="0">
                <a:solidFill>
                  <a:srgbClr val="0A1F4A"/>
                </a:solidFill>
                <a:latin typeface="Calibri"/>
                <a:cs typeface="Calibri"/>
              </a:rPr>
              <a:t>Chest Pain / Unconscious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i="1" dirty="0">
                <a:solidFill>
                  <a:srgbClr val="5B6474"/>
                </a:solidFill>
                <a:latin typeface="Calibri"/>
                <a:cs typeface="Calibri"/>
              </a:rPr>
              <a:t>Onset &amp; breathing; last-responsive time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1226030" y="6041040"/>
            <a:ext cx="6324600" cy="962025"/>
            <a:chOff x="11226030" y="6041040"/>
            <a:chExt cx="6324600" cy="962025"/>
          </a:xfrm>
        </p:grpSpPr>
        <p:sp>
          <p:nvSpPr>
            <p:cNvPr id="46" name="object 46"/>
            <p:cNvSpPr/>
            <p:nvPr/>
          </p:nvSpPr>
          <p:spPr>
            <a:xfrm>
              <a:off x="11239976" y="6055328"/>
              <a:ext cx="6296025" cy="933450"/>
            </a:xfrm>
            <a:custGeom>
              <a:avLst/>
              <a:gdLst/>
              <a:ahLst/>
              <a:cxnLst/>
              <a:rect l="l" t="t" r="r" b="b"/>
              <a:pathLst>
                <a:path w="6296025" h="933450">
                  <a:moveTo>
                    <a:pt x="6184772" y="933259"/>
                  </a:moveTo>
                  <a:lnTo>
                    <a:pt x="111442" y="933259"/>
                  </a:lnTo>
                  <a:lnTo>
                    <a:pt x="68071" y="924499"/>
                  </a:lnTo>
                  <a:lnTo>
                    <a:pt x="32647" y="900612"/>
                  </a:lnTo>
                  <a:lnTo>
                    <a:pt x="8760" y="865188"/>
                  </a:lnTo>
                  <a:lnTo>
                    <a:pt x="0" y="821817"/>
                  </a:lnTo>
                  <a:lnTo>
                    <a:pt x="0" y="111442"/>
                  </a:lnTo>
                  <a:lnTo>
                    <a:pt x="8760" y="68071"/>
                  </a:lnTo>
                  <a:lnTo>
                    <a:pt x="32647" y="32647"/>
                  </a:lnTo>
                  <a:lnTo>
                    <a:pt x="68071" y="8760"/>
                  </a:lnTo>
                  <a:lnTo>
                    <a:pt x="111442" y="0"/>
                  </a:lnTo>
                  <a:lnTo>
                    <a:pt x="6184772" y="0"/>
                  </a:lnTo>
                  <a:lnTo>
                    <a:pt x="6228143" y="8760"/>
                  </a:lnTo>
                  <a:lnTo>
                    <a:pt x="6263567" y="32647"/>
                  </a:lnTo>
                  <a:lnTo>
                    <a:pt x="6287454" y="68071"/>
                  </a:lnTo>
                  <a:lnTo>
                    <a:pt x="6295855" y="109666"/>
                  </a:lnTo>
                  <a:lnTo>
                    <a:pt x="6295855" y="823593"/>
                  </a:lnTo>
                  <a:lnTo>
                    <a:pt x="6287454" y="865188"/>
                  </a:lnTo>
                  <a:lnTo>
                    <a:pt x="6263567" y="900612"/>
                  </a:lnTo>
                  <a:lnTo>
                    <a:pt x="6228143" y="924499"/>
                  </a:lnTo>
                  <a:lnTo>
                    <a:pt x="6184772" y="933259"/>
                  </a:lnTo>
                  <a:close/>
                </a:path>
              </a:pathLst>
            </a:custGeom>
            <a:solidFill>
              <a:srgbClr val="F5F7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1240317" y="6055328"/>
              <a:ext cx="6296025" cy="933450"/>
            </a:xfrm>
            <a:custGeom>
              <a:avLst/>
              <a:gdLst/>
              <a:ahLst/>
              <a:cxnLst/>
              <a:rect l="l" t="t" r="r" b="b"/>
              <a:pathLst>
                <a:path w="6296025" h="933450">
                  <a:moveTo>
                    <a:pt x="0" y="111429"/>
                  </a:moveTo>
                  <a:lnTo>
                    <a:pt x="8758" y="68063"/>
                  </a:lnTo>
                  <a:lnTo>
                    <a:pt x="32643" y="32643"/>
                  </a:lnTo>
                  <a:lnTo>
                    <a:pt x="68062" y="8759"/>
                  </a:lnTo>
                  <a:lnTo>
                    <a:pt x="111429" y="0"/>
                  </a:lnTo>
                  <a:lnTo>
                    <a:pt x="6184062" y="0"/>
                  </a:lnTo>
                  <a:lnTo>
                    <a:pt x="6227429" y="8758"/>
                  </a:lnTo>
                  <a:lnTo>
                    <a:pt x="6262849" y="32642"/>
                  </a:lnTo>
                  <a:lnTo>
                    <a:pt x="6286734" y="68062"/>
                  </a:lnTo>
                  <a:lnTo>
                    <a:pt x="6295493" y="111429"/>
                  </a:lnTo>
                  <a:lnTo>
                    <a:pt x="6295493" y="821722"/>
                  </a:lnTo>
                  <a:lnTo>
                    <a:pt x="6286733" y="865089"/>
                  </a:lnTo>
                  <a:lnTo>
                    <a:pt x="6262849" y="900509"/>
                  </a:lnTo>
                  <a:lnTo>
                    <a:pt x="6227429" y="924393"/>
                  </a:lnTo>
                  <a:lnTo>
                    <a:pt x="6184062" y="933152"/>
                  </a:lnTo>
                  <a:lnTo>
                    <a:pt x="111429" y="933152"/>
                  </a:lnTo>
                  <a:lnTo>
                    <a:pt x="68062" y="924393"/>
                  </a:lnTo>
                  <a:lnTo>
                    <a:pt x="32643" y="900508"/>
                  </a:lnTo>
                  <a:lnTo>
                    <a:pt x="8759" y="865088"/>
                  </a:lnTo>
                  <a:lnTo>
                    <a:pt x="0" y="821722"/>
                  </a:lnTo>
                  <a:lnTo>
                    <a:pt x="0" y="111429"/>
                  </a:lnTo>
                </a:path>
              </a:pathLst>
            </a:custGeom>
            <a:ln w="28575">
              <a:solidFill>
                <a:srgbClr val="C8D3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1470766" y="6244971"/>
              <a:ext cx="567690" cy="567690"/>
            </a:xfrm>
            <a:custGeom>
              <a:avLst/>
              <a:gdLst/>
              <a:ahLst/>
              <a:cxnLst/>
              <a:rect l="l" t="t" r="r" b="b"/>
              <a:pathLst>
                <a:path w="567690" h="567690">
                  <a:moveTo>
                    <a:pt x="283844" y="567689"/>
                  </a:moveTo>
                  <a:lnTo>
                    <a:pt x="237799" y="563975"/>
                  </a:lnTo>
                  <a:lnTo>
                    <a:pt x="194121" y="553221"/>
                  </a:lnTo>
                  <a:lnTo>
                    <a:pt x="153393" y="536011"/>
                  </a:lnTo>
                  <a:lnTo>
                    <a:pt x="116201" y="512929"/>
                  </a:lnTo>
                  <a:lnTo>
                    <a:pt x="83129" y="484560"/>
                  </a:lnTo>
                  <a:lnTo>
                    <a:pt x="54760" y="451488"/>
                  </a:lnTo>
                  <a:lnTo>
                    <a:pt x="31678" y="414296"/>
                  </a:lnTo>
                  <a:lnTo>
                    <a:pt x="14468" y="373568"/>
                  </a:lnTo>
                  <a:lnTo>
                    <a:pt x="3714" y="329890"/>
                  </a:lnTo>
                  <a:lnTo>
                    <a:pt x="0" y="283844"/>
                  </a:lnTo>
                  <a:lnTo>
                    <a:pt x="3714" y="237799"/>
                  </a:lnTo>
                  <a:lnTo>
                    <a:pt x="14468" y="194121"/>
                  </a:lnTo>
                  <a:lnTo>
                    <a:pt x="31678" y="153393"/>
                  </a:lnTo>
                  <a:lnTo>
                    <a:pt x="54760" y="116201"/>
                  </a:lnTo>
                  <a:lnTo>
                    <a:pt x="83129" y="83129"/>
                  </a:lnTo>
                  <a:lnTo>
                    <a:pt x="116201" y="54760"/>
                  </a:lnTo>
                  <a:lnTo>
                    <a:pt x="153393" y="31678"/>
                  </a:lnTo>
                  <a:lnTo>
                    <a:pt x="194121" y="14468"/>
                  </a:lnTo>
                  <a:lnTo>
                    <a:pt x="237799" y="3714"/>
                  </a:lnTo>
                  <a:lnTo>
                    <a:pt x="283844" y="0"/>
                  </a:lnTo>
                  <a:lnTo>
                    <a:pt x="329890" y="3714"/>
                  </a:lnTo>
                  <a:lnTo>
                    <a:pt x="373568" y="14468"/>
                  </a:lnTo>
                  <a:lnTo>
                    <a:pt x="414296" y="31678"/>
                  </a:lnTo>
                  <a:lnTo>
                    <a:pt x="451488" y="54760"/>
                  </a:lnTo>
                  <a:lnTo>
                    <a:pt x="484560" y="83129"/>
                  </a:lnTo>
                  <a:lnTo>
                    <a:pt x="512929" y="116201"/>
                  </a:lnTo>
                  <a:lnTo>
                    <a:pt x="536011" y="153393"/>
                  </a:lnTo>
                  <a:lnTo>
                    <a:pt x="553221" y="194121"/>
                  </a:lnTo>
                  <a:lnTo>
                    <a:pt x="563975" y="237799"/>
                  </a:lnTo>
                  <a:lnTo>
                    <a:pt x="567689" y="283844"/>
                  </a:lnTo>
                  <a:lnTo>
                    <a:pt x="563975" y="329890"/>
                  </a:lnTo>
                  <a:lnTo>
                    <a:pt x="553221" y="373568"/>
                  </a:lnTo>
                  <a:lnTo>
                    <a:pt x="536011" y="414296"/>
                  </a:lnTo>
                  <a:lnTo>
                    <a:pt x="512929" y="451488"/>
                  </a:lnTo>
                  <a:lnTo>
                    <a:pt x="484560" y="484560"/>
                  </a:lnTo>
                  <a:lnTo>
                    <a:pt x="451488" y="512929"/>
                  </a:lnTo>
                  <a:lnTo>
                    <a:pt x="414296" y="536011"/>
                  </a:lnTo>
                  <a:lnTo>
                    <a:pt x="373568" y="553221"/>
                  </a:lnTo>
                  <a:lnTo>
                    <a:pt x="329890" y="563975"/>
                  </a:lnTo>
                  <a:lnTo>
                    <a:pt x="283844" y="567689"/>
                  </a:lnTo>
                  <a:close/>
                </a:path>
              </a:pathLst>
            </a:custGeom>
            <a:solidFill>
              <a:srgbClr val="F1A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1470764" y="6244973"/>
              <a:ext cx="567690" cy="567690"/>
            </a:xfrm>
            <a:custGeom>
              <a:avLst/>
              <a:gdLst/>
              <a:ahLst/>
              <a:cxnLst/>
              <a:rect l="l" t="t" r="r" b="b"/>
              <a:pathLst>
                <a:path w="567690" h="567690">
                  <a:moveTo>
                    <a:pt x="4" y="283812"/>
                  </a:moveTo>
                  <a:lnTo>
                    <a:pt x="3722" y="237773"/>
                  </a:lnTo>
                  <a:lnTo>
                    <a:pt x="14478" y="194101"/>
                  </a:lnTo>
                  <a:lnTo>
                    <a:pt x="31687" y="153381"/>
                  </a:lnTo>
                  <a:lnTo>
                    <a:pt x="54766" y="116195"/>
                  </a:lnTo>
                  <a:lnTo>
                    <a:pt x="83130" y="83127"/>
                  </a:lnTo>
                  <a:lnTo>
                    <a:pt x="116197" y="54761"/>
                  </a:lnTo>
                  <a:lnTo>
                    <a:pt x="153383" y="31681"/>
                  </a:lnTo>
                  <a:lnTo>
                    <a:pt x="194104" y="14471"/>
                  </a:lnTo>
                  <a:lnTo>
                    <a:pt x="237776" y="3714"/>
                  </a:lnTo>
                  <a:lnTo>
                    <a:pt x="283817" y="0"/>
                  </a:lnTo>
                  <a:lnTo>
                    <a:pt x="329859" y="3704"/>
                  </a:lnTo>
                  <a:lnTo>
                    <a:pt x="373537" y="14452"/>
                  </a:lnTo>
                  <a:lnTo>
                    <a:pt x="414265" y="31655"/>
                  </a:lnTo>
                  <a:lnTo>
                    <a:pt x="451460" y="54731"/>
                  </a:lnTo>
                  <a:lnTo>
                    <a:pt x="484536" y="83096"/>
                  </a:lnTo>
                  <a:lnTo>
                    <a:pt x="512911" y="116166"/>
                  </a:lnTo>
                  <a:lnTo>
                    <a:pt x="535999" y="153357"/>
                  </a:lnTo>
                  <a:lnTo>
                    <a:pt x="553215" y="194085"/>
                  </a:lnTo>
                  <a:lnTo>
                    <a:pt x="563975" y="237767"/>
                  </a:lnTo>
                  <a:lnTo>
                    <a:pt x="567694" y="283817"/>
                  </a:lnTo>
                  <a:lnTo>
                    <a:pt x="563982" y="329869"/>
                  </a:lnTo>
                  <a:lnTo>
                    <a:pt x="553228" y="373554"/>
                  </a:lnTo>
                  <a:lnTo>
                    <a:pt x="536017" y="414287"/>
                  </a:lnTo>
                  <a:lnTo>
                    <a:pt x="512932" y="451484"/>
                  </a:lnTo>
                  <a:lnTo>
                    <a:pt x="484558" y="484561"/>
                  </a:lnTo>
                  <a:lnTo>
                    <a:pt x="451480" y="512933"/>
                  </a:lnTo>
                  <a:lnTo>
                    <a:pt x="414281" y="536015"/>
                  </a:lnTo>
                  <a:lnTo>
                    <a:pt x="373547" y="553224"/>
                  </a:lnTo>
                  <a:lnTo>
                    <a:pt x="329863" y="563975"/>
                  </a:lnTo>
                  <a:lnTo>
                    <a:pt x="283812" y="567684"/>
                  </a:lnTo>
                  <a:lnTo>
                    <a:pt x="237764" y="563963"/>
                  </a:lnTo>
                  <a:lnTo>
                    <a:pt x="194085" y="553202"/>
                  </a:lnTo>
                  <a:lnTo>
                    <a:pt x="153359" y="535985"/>
                  </a:lnTo>
                  <a:lnTo>
                    <a:pt x="116170" y="512898"/>
                  </a:lnTo>
                  <a:lnTo>
                    <a:pt x="83102" y="484524"/>
                  </a:lnTo>
                  <a:lnTo>
                    <a:pt x="54739" y="451448"/>
                  </a:lnTo>
                  <a:lnTo>
                    <a:pt x="31664" y="414255"/>
                  </a:lnTo>
                  <a:lnTo>
                    <a:pt x="14461" y="373529"/>
                  </a:lnTo>
                  <a:lnTo>
                    <a:pt x="3714" y="329853"/>
                  </a:lnTo>
                  <a:lnTo>
                    <a:pt x="0" y="283812"/>
                  </a:lnTo>
                </a:path>
              </a:pathLst>
            </a:custGeom>
            <a:ln w="38100">
              <a:solidFill>
                <a:srgbClr val="F1A8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11679076" y="6327520"/>
            <a:ext cx="15113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b="1" spc="-50" dirty="0">
                <a:solidFill>
                  <a:srgbClr val="0A1F4A"/>
                </a:solidFill>
                <a:latin typeface="Calibri"/>
                <a:cs typeface="Calibri"/>
              </a:rPr>
              <a:t>4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2263120" y="6066038"/>
            <a:ext cx="5200000" cy="76200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1950" b="1" dirty="0">
                <a:solidFill>
                  <a:srgbClr val="0A1F4A"/>
                </a:solidFill>
                <a:latin typeface="Calibri"/>
                <a:cs typeface="Calibri"/>
              </a:rPr>
              <a:t>P1 — Critical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i="1" dirty="0">
                <a:solidFill>
                  <a:srgbClr val="5B6474"/>
                </a:solidFill>
                <a:latin typeface="Calibri"/>
                <a:cs typeface="Calibri"/>
              </a:rPr>
              <a:t>Immediate escalation &amp; emergency response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11226030" y="7124604"/>
            <a:ext cx="6324600" cy="962025"/>
            <a:chOff x="11226030" y="7124604"/>
            <a:chExt cx="6324600" cy="962025"/>
          </a:xfrm>
        </p:grpSpPr>
        <p:sp>
          <p:nvSpPr>
            <p:cNvPr id="53" name="object 53"/>
            <p:cNvSpPr/>
            <p:nvPr/>
          </p:nvSpPr>
          <p:spPr>
            <a:xfrm>
              <a:off x="11239976" y="7138891"/>
              <a:ext cx="6296025" cy="933450"/>
            </a:xfrm>
            <a:custGeom>
              <a:avLst/>
              <a:gdLst/>
              <a:ahLst/>
              <a:cxnLst/>
              <a:rect l="l" t="t" r="r" b="b"/>
              <a:pathLst>
                <a:path w="6296025" h="933450">
                  <a:moveTo>
                    <a:pt x="6184772" y="933259"/>
                  </a:moveTo>
                  <a:lnTo>
                    <a:pt x="111442" y="933259"/>
                  </a:lnTo>
                  <a:lnTo>
                    <a:pt x="68071" y="924499"/>
                  </a:lnTo>
                  <a:lnTo>
                    <a:pt x="32647" y="900612"/>
                  </a:lnTo>
                  <a:lnTo>
                    <a:pt x="8760" y="865188"/>
                  </a:lnTo>
                  <a:lnTo>
                    <a:pt x="0" y="821817"/>
                  </a:lnTo>
                  <a:lnTo>
                    <a:pt x="0" y="111442"/>
                  </a:lnTo>
                  <a:lnTo>
                    <a:pt x="8760" y="68071"/>
                  </a:lnTo>
                  <a:lnTo>
                    <a:pt x="32647" y="32647"/>
                  </a:lnTo>
                  <a:lnTo>
                    <a:pt x="68071" y="8760"/>
                  </a:lnTo>
                  <a:lnTo>
                    <a:pt x="111442" y="0"/>
                  </a:lnTo>
                  <a:lnTo>
                    <a:pt x="6184772" y="0"/>
                  </a:lnTo>
                  <a:lnTo>
                    <a:pt x="6228143" y="8760"/>
                  </a:lnTo>
                  <a:lnTo>
                    <a:pt x="6263567" y="32647"/>
                  </a:lnTo>
                  <a:lnTo>
                    <a:pt x="6287454" y="68071"/>
                  </a:lnTo>
                  <a:lnTo>
                    <a:pt x="6295855" y="109666"/>
                  </a:lnTo>
                  <a:lnTo>
                    <a:pt x="6295855" y="823593"/>
                  </a:lnTo>
                  <a:lnTo>
                    <a:pt x="6287454" y="865188"/>
                  </a:lnTo>
                  <a:lnTo>
                    <a:pt x="6263567" y="900612"/>
                  </a:lnTo>
                  <a:lnTo>
                    <a:pt x="6228143" y="924499"/>
                  </a:lnTo>
                  <a:lnTo>
                    <a:pt x="6184772" y="933259"/>
                  </a:lnTo>
                  <a:close/>
                </a:path>
              </a:pathLst>
            </a:custGeom>
            <a:solidFill>
              <a:srgbClr val="F5F7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1240317" y="7138892"/>
              <a:ext cx="6296025" cy="933450"/>
            </a:xfrm>
            <a:custGeom>
              <a:avLst/>
              <a:gdLst/>
              <a:ahLst/>
              <a:cxnLst/>
              <a:rect l="l" t="t" r="r" b="b"/>
              <a:pathLst>
                <a:path w="6296025" h="933450">
                  <a:moveTo>
                    <a:pt x="0" y="111429"/>
                  </a:moveTo>
                  <a:lnTo>
                    <a:pt x="8758" y="68063"/>
                  </a:lnTo>
                  <a:lnTo>
                    <a:pt x="32642" y="32643"/>
                  </a:lnTo>
                  <a:lnTo>
                    <a:pt x="68062" y="8759"/>
                  </a:lnTo>
                  <a:lnTo>
                    <a:pt x="111429" y="0"/>
                  </a:lnTo>
                  <a:lnTo>
                    <a:pt x="6184062" y="0"/>
                  </a:lnTo>
                  <a:lnTo>
                    <a:pt x="6227429" y="8758"/>
                  </a:lnTo>
                  <a:lnTo>
                    <a:pt x="6262849" y="32642"/>
                  </a:lnTo>
                  <a:lnTo>
                    <a:pt x="6286734" y="68062"/>
                  </a:lnTo>
                  <a:lnTo>
                    <a:pt x="6295493" y="111429"/>
                  </a:lnTo>
                  <a:lnTo>
                    <a:pt x="6295493" y="821722"/>
                  </a:lnTo>
                  <a:lnTo>
                    <a:pt x="6286733" y="865089"/>
                  </a:lnTo>
                  <a:lnTo>
                    <a:pt x="6262849" y="900509"/>
                  </a:lnTo>
                  <a:lnTo>
                    <a:pt x="6227429" y="924393"/>
                  </a:lnTo>
                  <a:lnTo>
                    <a:pt x="6184062" y="933152"/>
                  </a:lnTo>
                  <a:lnTo>
                    <a:pt x="111429" y="933152"/>
                  </a:lnTo>
                  <a:lnTo>
                    <a:pt x="68062" y="924392"/>
                  </a:lnTo>
                  <a:lnTo>
                    <a:pt x="32643" y="900508"/>
                  </a:lnTo>
                  <a:lnTo>
                    <a:pt x="8759" y="865088"/>
                  </a:lnTo>
                  <a:lnTo>
                    <a:pt x="0" y="821722"/>
                  </a:lnTo>
                  <a:lnTo>
                    <a:pt x="0" y="111429"/>
                  </a:lnTo>
                </a:path>
              </a:pathLst>
            </a:custGeom>
            <a:ln w="28575">
              <a:solidFill>
                <a:srgbClr val="C8D3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1470766" y="7328534"/>
              <a:ext cx="567690" cy="567690"/>
            </a:xfrm>
            <a:custGeom>
              <a:avLst/>
              <a:gdLst/>
              <a:ahLst/>
              <a:cxnLst/>
              <a:rect l="l" t="t" r="r" b="b"/>
              <a:pathLst>
                <a:path w="567690" h="567690">
                  <a:moveTo>
                    <a:pt x="283844" y="567689"/>
                  </a:moveTo>
                  <a:lnTo>
                    <a:pt x="237799" y="563975"/>
                  </a:lnTo>
                  <a:lnTo>
                    <a:pt x="194121" y="553221"/>
                  </a:lnTo>
                  <a:lnTo>
                    <a:pt x="153393" y="536011"/>
                  </a:lnTo>
                  <a:lnTo>
                    <a:pt x="116201" y="512929"/>
                  </a:lnTo>
                  <a:lnTo>
                    <a:pt x="83129" y="484560"/>
                  </a:lnTo>
                  <a:lnTo>
                    <a:pt x="54760" y="451488"/>
                  </a:lnTo>
                  <a:lnTo>
                    <a:pt x="31678" y="414296"/>
                  </a:lnTo>
                  <a:lnTo>
                    <a:pt x="14468" y="373568"/>
                  </a:lnTo>
                  <a:lnTo>
                    <a:pt x="3714" y="329890"/>
                  </a:lnTo>
                  <a:lnTo>
                    <a:pt x="0" y="283844"/>
                  </a:lnTo>
                  <a:lnTo>
                    <a:pt x="3714" y="237799"/>
                  </a:lnTo>
                  <a:lnTo>
                    <a:pt x="14468" y="194121"/>
                  </a:lnTo>
                  <a:lnTo>
                    <a:pt x="31678" y="153393"/>
                  </a:lnTo>
                  <a:lnTo>
                    <a:pt x="54760" y="116201"/>
                  </a:lnTo>
                  <a:lnTo>
                    <a:pt x="83129" y="83129"/>
                  </a:lnTo>
                  <a:lnTo>
                    <a:pt x="116201" y="54760"/>
                  </a:lnTo>
                  <a:lnTo>
                    <a:pt x="153393" y="31678"/>
                  </a:lnTo>
                  <a:lnTo>
                    <a:pt x="194121" y="14468"/>
                  </a:lnTo>
                  <a:lnTo>
                    <a:pt x="237799" y="3714"/>
                  </a:lnTo>
                  <a:lnTo>
                    <a:pt x="283844" y="0"/>
                  </a:lnTo>
                  <a:lnTo>
                    <a:pt x="329890" y="3714"/>
                  </a:lnTo>
                  <a:lnTo>
                    <a:pt x="373568" y="14468"/>
                  </a:lnTo>
                  <a:lnTo>
                    <a:pt x="414296" y="31678"/>
                  </a:lnTo>
                  <a:lnTo>
                    <a:pt x="451488" y="54760"/>
                  </a:lnTo>
                  <a:lnTo>
                    <a:pt x="484560" y="83129"/>
                  </a:lnTo>
                  <a:lnTo>
                    <a:pt x="512929" y="116201"/>
                  </a:lnTo>
                  <a:lnTo>
                    <a:pt x="536011" y="153393"/>
                  </a:lnTo>
                  <a:lnTo>
                    <a:pt x="553221" y="194121"/>
                  </a:lnTo>
                  <a:lnTo>
                    <a:pt x="563975" y="237799"/>
                  </a:lnTo>
                  <a:lnTo>
                    <a:pt x="567689" y="283844"/>
                  </a:lnTo>
                  <a:lnTo>
                    <a:pt x="563975" y="329890"/>
                  </a:lnTo>
                  <a:lnTo>
                    <a:pt x="553221" y="373568"/>
                  </a:lnTo>
                  <a:lnTo>
                    <a:pt x="536011" y="414296"/>
                  </a:lnTo>
                  <a:lnTo>
                    <a:pt x="512929" y="451488"/>
                  </a:lnTo>
                  <a:lnTo>
                    <a:pt x="484560" y="484560"/>
                  </a:lnTo>
                  <a:lnTo>
                    <a:pt x="451488" y="512929"/>
                  </a:lnTo>
                  <a:lnTo>
                    <a:pt x="414296" y="536011"/>
                  </a:lnTo>
                  <a:lnTo>
                    <a:pt x="373568" y="553221"/>
                  </a:lnTo>
                  <a:lnTo>
                    <a:pt x="329890" y="563975"/>
                  </a:lnTo>
                  <a:lnTo>
                    <a:pt x="283844" y="567689"/>
                  </a:lnTo>
                  <a:close/>
                </a:path>
              </a:pathLst>
            </a:custGeom>
            <a:solidFill>
              <a:srgbClr val="0A1F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1470764" y="7328537"/>
              <a:ext cx="567690" cy="567690"/>
            </a:xfrm>
            <a:custGeom>
              <a:avLst/>
              <a:gdLst/>
              <a:ahLst/>
              <a:cxnLst/>
              <a:rect l="l" t="t" r="r" b="b"/>
              <a:pathLst>
                <a:path w="567690" h="567690">
                  <a:moveTo>
                    <a:pt x="4" y="283812"/>
                  </a:moveTo>
                  <a:lnTo>
                    <a:pt x="3722" y="237773"/>
                  </a:lnTo>
                  <a:lnTo>
                    <a:pt x="14478" y="194101"/>
                  </a:lnTo>
                  <a:lnTo>
                    <a:pt x="31687" y="153381"/>
                  </a:lnTo>
                  <a:lnTo>
                    <a:pt x="54766" y="116195"/>
                  </a:lnTo>
                  <a:lnTo>
                    <a:pt x="83130" y="83127"/>
                  </a:lnTo>
                  <a:lnTo>
                    <a:pt x="116197" y="54761"/>
                  </a:lnTo>
                  <a:lnTo>
                    <a:pt x="153383" y="31681"/>
                  </a:lnTo>
                  <a:lnTo>
                    <a:pt x="194104" y="14471"/>
                  </a:lnTo>
                  <a:lnTo>
                    <a:pt x="237776" y="3714"/>
                  </a:lnTo>
                  <a:lnTo>
                    <a:pt x="283817" y="0"/>
                  </a:lnTo>
                  <a:lnTo>
                    <a:pt x="329859" y="3704"/>
                  </a:lnTo>
                  <a:lnTo>
                    <a:pt x="373537" y="14452"/>
                  </a:lnTo>
                  <a:lnTo>
                    <a:pt x="414265" y="31655"/>
                  </a:lnTo>
                  <a:lnTo>
                    <a:pt x="451460" y="54731"/>
                  </a:lnTo>
                  <a:lnTo>
                    <a:pt x="484536" y="83096"/>
                  </a:lnTo>
                  <a:lnTo>
                    <a:pt x="512911" y="116166"/>
                  </a:lnTo>
                  <a:lnTo>
                    <a:pt x="535999" y="153357"/>
                  </a:lnTo>
                  <a:lnTo>
                    <a:pt x="553215" y="194085"/>
                  </a:lnTo>
                  <a:lnTo>
                    <a:pt x="563975" y="237767"/>
                  </a:lnTo>
                  <a:lnTo>
                    <a:pt x="567694" y="283817"/>
                  </a:lnTo>
                  <a:lnTo>
                    <a:pt x="563982" y="329869"/>
                  </a:lnTo>
                  <a:lnTo>
                    <a:pt x="553228" y="373554"/>
                  </a:lnTo>
                  <a:lnTo>
                    <a:pt x="536017" y="414287"/>
                  </a:lnTo>
                  <a:lnTo>
                    <a:pt x="512932" y="451484"/>
                  </a:lnTo>
                  <a:lnTo>
                    <a:pt x="484558" y="484561"/>
                  </a:lnTo>
                  <a:lnTo>
                    <a:pt x="451480" y="512933"/>
                  </a:lnTo>
                  <a:lnTo>
                    <a:pt x="414281" y="536015"/>
                  </a:lnTo>
                  <a:lnTo>
                    <a:pt x="373547" y="553224"/>
                  </a:lnTo>
                  <a:lnTo>
                    <a:pt x="329863" y="563975"/>
                  </a:lnTo>
                  <a:lnTo>
                    <a:pt x="283812" y="567684"/>
                  </a:lnTo>
                  <a:lnTo>
                    <a:pt x="237764" y="563963"/>
                  </a:lnTo>
                  <a:lnTo>
                    <a:pt x="194085" y="553202"/>
                  </a:lnTo>
                  <a:lnTo>
                    <a:pt x="153359" y="535985"/>
                  </a:lnTo>
                  <a:lnTo>
                    <a:pt x="116170" y="512898"/>
                  </a:lnTo>
                  <a:lnTo>
                    <a:pt x="83102" y="484524"/>
                  </a:lnTo>
                  <a:lnTo>
                    <a:pt x="54739" y="451448"/>
                  </a:lnTo>
                  <a:lnTo>
                    <a:pt x="31664" y="414255"/>
                  </a:lnTo>
                  <a:lnTo>
                    <a:pt x="14461" y="373529"/>
                  </a:lnTo>
                  <a:lnTo>
                    <a:pt x="3714" y="329853"/>
                  </a:lnTo>
                  <a:lnTo>
                    <a:pt x="0" y="283812"/>
                  </a:lnTo>
                </a:path>
              </a:pathLst>
            </a:custGeom>
            <a:ln w="38100">
              <a:solidFill>
                <a:srgbClr val="0A1F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11679076" y="7411084"/>
            <a:ext cx="15113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b="1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2263120" y="7149602"/>
            <a:ext cx="5200000" cy="76200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1950" b="1" dirty="0">
                <a:solidFill>
                  <a:srgbClr val="0A1F4A"/>
                </a:solidFill>
                <a:latin typeface="Calibri"/>
                <a:cs typeface="Calibri"/>
              </a:rPr>
              <a:t>P2 — High Urgency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i="1" dirty="0">
                <a:solidFill>
                  <a:srgbClr val="5B6474"/>
                </a:solidFill>
                <a:latin typeface="Calibri"/>
                <a:cs typeface="Calibri"/>
              </a:rPr>
              <a:t>Urgent assessment &amp; appropriate response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11226030" y="8208168"/>
            <a:ext cx="6324600" cy="962025"/>
            <a:chOff x="11226030" y="8208168"/>
            <a:chExt cx="6324600" cy="962025"/>
          </a:xfrm>
        </p:grpSpPr>
        <p:sp>
          <p:nvSpPr>
            <p:cNvPr id="60" name="object 60"/>
            <p:cNvSpPr/>
            <p:nvPr/>
          </p:nvSpPr>
          <p:spPr>
            <a:xfrm>
              <a:off x="11239976" y="8222455"/>
              <a:ext cx="6296025" cy="933450"/>
            </a:xfrm>
            <a:custGeom>
              <a:avLst/>
              <a:gdLst/>
              <a:ahLst/>
              <a:cxnLst/>
              <a:rect l="l" t="t" r="r" b="b"/>
              <a:pathLst>
                <a:path w="6296025" h="933450">
                  <a:moveTo>
                    <a:pt x="6184772" y="933259"/>
                  </a:moveTo>
                  <a:lnTo>
                    <a:pt x="111442" y="933259"/>
                  </a:lnTo>
                  <a:lnTo>
                    <a:pt x="68071" y="924499"/>
                  </a:lnTo>
                  <a:lnTo>
                    <a:pt x="32647" y="900612"/>
                  </a:lnTo>
                  <a:lnTo>
                    <a:pt x="8760" y="865188"/>
                  </a:lnTo>
                  <a:lnTo>
                    <a:pt x="0" y="821817"/>
                  </a:lnTo>
                  <a:lnTo>
                    <a:pt x="0" y="111442"/>
                  </a:lnTo>
                  <a:lnTo>
                    <a:pt x="8760" y="68071"/>
                  </a:lnTo>
                  <a:lnTo>
                    <a:pt x="32647" y="32647"/>
                  </a:lnTo>
                  <a:lnTo>
                    <a:pt x="68071" y="8760"/>
                  </a:lnTo>
                  <a:lnTo>
                    <a:pt x="111442" y="0"/>
                  </a:lnTo>
                  <a:lnTo>
                    <a:pt x="6184772" y="0"/>
                  </a:lnTo>
                  <a:lnTo>
                    <a:pt x="6228143" y="8760"/>
                  </a:lnTo>
                  <a:lnTo>
                    <a:pt x="6263567" y="32647"/>
                  </a:lnTo>
                  <a:lnTo>
                    <a:pt x="6287454" y="68071"/>
                  </a:lnTo>
                  <a:lnTo>
                    <a:pt x="6295855" y="109666"/>
                  </a:lnTo>
                  <a:lnTo>
                    <a:pt x="6295855" y="823593"/>
                  </a:lnTo>
                  <a:lnTo>
                    <a:pt x="6287454" y="865188"/>
                  </a:lnTo>
                  <a:lnTo>
                    <a:pt x="6263567" y="900612"/>
                  </a:lnTo>
                  <a:lnTo>
                    <a:pt x="6228143" y="924499"/>
                  </a:lnTo>
                  <a:lnTo>
                    <a:pt x="6184772" y="933259"/>
                  </a:lnTo>
                  <a:close/>
                </a:path>
              </a:pathLst>
            </a:custGeom>
            <a:solidFill>
              <a:srgbClr val="F5F7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1240317" y="8222456"/>
              <a:ext cx="6296025" cy="933450"/>
            </a:xfrm>
            <a:custGeom>
              <a:avLst/>
              <a:gdLst/>
              <a:ahLst/>
              <a:cxnLst/>
              <a:rect l="l" t="t" r="r" b="b"/>
              <a:pathLst>
                <a:path w="6296025" h="933450">
                  <a:moveTo>
                    <a:pt x="0" y="111429"/>
                  </a:moveTo>
                  <a:lnTo>
                    <a:pt x="8758" y="68063"/>
                  </a:lnTo>
                  <a:lnTo>
                    <a:pt x="32642" y="32643"/>
                  </a:lnTo>
                  <a:lnTo>
                    <a:pt x="68062" y="8759"/>
                  </a:lnTo>
                  <a:lnTo>
                    <a:pt x="111429" y="0"/>
                  </a:lnTo>
                  <a:lnTo>
                    <a:pt x="6184062" y="0"/>
                  </a:lnTo>
                  <a:lnTo>
                    <a:pt x="6227429" y="8758"/>
                  </a:lnTo>
                  <a:lnTo>
                    <a:pt x="6262849" y="32642"/>
                  </a:lnTo>
                  <a:lnTo>
                    <a:pt x="6286734" y="68062"/>
                  </a:lnTo>
                  <a:lnTo>
                    <a:pt x="6295493" y="111429"/>
                  </a:lnTo>
                  <a:lnTo>
                    <a:pt x="6295493" y="821722"/>
                  </a:lnTo>
                  <a:lnTo>
                    <a:pt x="6286733" y="865089"/>
                  </a:lnTo>
                  <a:lnTo>
                    <a:pt x="6262849" y="900509"/>
                  </a:lnTo>
                  <a:lnTo>
                    <a:pt x="6227429" y="924393"/>
                  </a:lnTo>
                  <a:lnTo>
                    <a:pt x="6184062" y="933152"/>
                  </a:lnTo>
                  <a:lnTo>
                    <a:pt x="111429" y="933152"/>
                  </a:lnTo>
                  <a:lnTo>
                    <a:pt x="68062" y="924392"/>
                  </a:lnTo>
                  <a:lnTo>
                    <a:pt x="32643" y="900508"/>
                  </a:lnTo>
                  <a:lnTo>
                    <a:pt x="8759" y="865088"/>
                  </a:lnTo>
                  <a:lnTo>
                    <a:pt x="0" y="821722"/>
                  </a:lnTo>
                  <a:lnTo>
                    <a:pt x="0" y="111429"/>
                  </a:lnTo>
                </a:path>
              </a:pathLst>
            </a:custGeom>
            <a:ln w="28575">
              <a:solidFill>
                <a:srgbClr val="C8D3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1470766" y="8412098"/>
              <a:ext cx="567690" cy="567690"/>
            </a:xfrm>
            <a:custGeom>
              <a:avLst/>
              <a:gdLst/>
              <a:ahLst/>
              <a:cxnLst/>
              <a:rect l="l" t="t" r="r" b="b"/>
              <a:pathLst>
                <a:path w="567690" h="567690">
                  <a:moveTo>
                    <a:pt x="283844" y="567689"/>
                  </a:moveTo>
                  <a:lnTo>
                    <a:pt x="237799" y="563975"/>
                  </a:lnTo>
                  <a:lnTo>
                    <a:pt x="194121" y="553221"/>
                  </a:lnTo>
                  <a:lnTo>
                    <a:pt x="153393" y="536011"/>
                  </a:lnTo>
                  <a:lnTo>
                    <a:pt x="116201" y="512929"/>
                  </a:lnTo>
                  <a:lnTo>
                    <a:pt x="83129" y="484560"/>
                  </a:lnTo>
                  <a:lnTo>
                    <a:pt x="54760" y="451488"/>
                  </a:lnTo>
                  <a:lnTo>
                    <a:pt x="31678" y="414296"/>
                  </a:lnTo>
                  <a:lnTo>
                    <a:pt x="14468" y="373568"/>
                  </a:lnTo>
                  <a:lnTo>
                    <a:pt x="3714" y="329890"/>
                  </a:lnTo>
                  <a:lnTo>
                    <a:pt x="0" y="283844"/>
                  </a:lnTo>
                  <a:lnTo>
                    <a:pt x="3714" y="237799"/>
                  </a:lnTo>
                  <a:lnTo>
                    <a:pt x="14468" y="194121"/>
                  </a:lnTo>
                  <a:lnTo>
                    <a:pt x="31678" y="153393"/>
                  </a:lnTo>
                  <a:lnTo>
                    <a:pt x="54760" y="116201"/>
                  </a:lnTo>
                  <a:lnTo>
                    <a:pt x="83129" y="83129"/>
                  </a:lnTo>
                  <a:lnTo>
                    <a:pt x="116201" y="54760"/>
                  </a:lnTo>
                  <a:lnTo>
                    <a:pt x="153393" y="31678"/>
                  </a:lnTo>
                  <a:lnTo>
                    <a:pt x="194121" y="14468"/>
                  </a:lnTo>
                  <a:lnTo>
                    <a:pt x="237799" y="3714"/>
                  </a:lnTo>
                  <a:lnTo>
                    <a:pt x="283844" y="0"/>
                  </a:lnTo>
                  <a:lnTo>
                    <a:pt x="329890" y="3714"/>
                  </a:lnTo>
                  <a:lnTo>
                    <a:pt x="373568" y="14468"/>
                  </a:lnTo>
                  <a:lnTo>
                    <a:pt x="414296" y="31678"/>
                  </a:lnTo>
                  <a:lnTo>
                    <a:pt x="451488" y="54760"/>
                  </a:lnTo>
                  <a:lnTo>
                    <a:pt x="484560" y="83129"/>
                  </a:lnTo>
                  <a:lnTo>
                    <a:pt x="512929" y="116201"/>
                  </a:lnTo>
                  <a:lnTo>
                    <a:pt x="536011" y="153393"/>
                  </a:lnTo>
                  <a:lnTo>
                    <a:pt x="553221" y="194121"/>
                  </a:lnTo>
                  <a:lnTo>
                    <a:pt x="563975" y="237799"/>
                  </a:lnTo>
                  <a:lnTo>
                    <a:pt x="567689" y="283844"/>
                  </a:lnTo>
                  <a:lnTo>
                    <a:pt x="563975" y="329890"/>
                  </a:lnTo>
                  <a:lnTo>
                    <a:pt x="553221" y="373568"/>
                  </a:lnTo>
                  <a:lnTo>
                    <a:pt x="536011" y="414296"/>
                  </a:lnTo>
                  <a:lnTo>
                    <a:pt x="512929" y="451488"/>
                  </a:lnTo>
                  <a:lnTo>
                    <a:pt x="484560" y="484560"/>
                  </a:lnTo>
                  <a:lnTo>
                    <a:pt x="451488" y="512929"/>
                  </a:lnTo>
                  <a:lnTo>
                    <a:pt x="414296" y="536011"/>
                  </a:lnTo>
                  <a:lnTo>
                    <a:pt x="373568" y="553221"/>
                  </a:lnTo>
                  <a:lnTo>
                    <a:pt x="329890" y="563975"/>
                  </a:lnTo>
                  <a:lnTo>
                    <a:pt x="283844" y="567689"/>
                  </a:lnTo>
                  <a:close/>
                </a:path>
              </a:pathLst>
            </a:custGeom>
            <a:solidFill>
              <a:srgbClr val="F1A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1470764" y="8412101"/>
              <a:ext cx="567690" cy="567690"/>
            </a:xfrm>
            <a:custGeom>
              <a:avLst/>
              <a:gdLst/>
              <a:ahLst/>
              <a:cxnLst/>
              <a:rect l="l" t="t" r="r" b="b"/>
              <a:pathLst>
                <a:path w="567690" h="567690">
                  <a:moveTo>
                    <a:pt x="4" y="283812"/>
                  </a:moveTo>
                  <a:lnTo>
                    <a:pt x="3722" y="237773"/>
                  </a:lnTo>
                  <a:lnTo>
                    <a:pt x="14478" y="194101"/>
                  </a:lnTo>
                  <a:lnTo>
                    <a:pt x="31687" y="153381"/>
                  </a:lnTo>
                  <a:lnTo>
                    <a:pt x="54766" y="116195"/>
                  </a:lnTo>
                  <a:lnTo>
                    <a:pt x="83130" y="83127"/>
                  </a:lnTo>
                  <a:lnTo>
                    <a:pt x="116197" y="54761"/>
                  </a:lnTo>
                  <a:lnTo>
                    <a:pt x="153383" y="31681"/>
                  </a:lnTo>
                  <a:lnTo>
                    <a:pt x="194104" y="14471"/>
                  </a:lnTo>
                  <a:lnTo>
                    <a:pt x="237776" y="3714"/>
                  </a:lnTo>
                  <a:lnTo>
                    <a:pt x="283817" y="0"/>
                  </a:lnTo>
                  <a:lnTo>
                    <a:pt x="329859" y="3704"/>
                  </a:lnTo>
                  <a:lnTo>
                    <a:pt x="373537" y="14452"/>
                  </a:lnTo>
                  <a:lnTo>
                    <a:pt x="414265" y="31655"/>
                  </a:lnTo>
                  <a:lnTo>
                    <a:pt x="451460" y="54731"/>
                  </a:lnTo>
                  <a:lnTo>
                    <a:pt x="484536" y="83096"/>
                  </a:lnTo>
                  <a:lnTo>
                    <a:pt x="512911" y="116166"/>
                  </a:lnTo>
                  <a:lnTo>
                    <a:pt x="535999" y="153357"/>
                  </a:lnTo>
                  <a:lnTo>
                    <a:pt x="553215" y="194085"/>
                  </a:lnTo>
                  <a:lnTo>
                    <a:pt x="563975" y="237767"/>
                  </a:lnTo>
                  <a:lnTo>
                    <a:pt x="567694" y="283817"/>
                  </a:lnTo>
                  <a:lnTo>
                    <a:pt x="563982" y="329869"/>
                  </a:lnTo>
                  <a:lnTo>
                    <a:pt x="553228" y="373554"/>
                  </a:lnTo>
                  <a:lnTo>
                    <a:pt x="536017" y="414287"/>
                  </a:lnTo>
                  <a:lnTo>
                    <a:pt x="512932" y="451484"/>
                  </a:lnTo>
                  <a:lnTo>
                    <a:pt x="484558" y="484561"/>
                  </a:lnTo>
                  <a:lnTo>
                    <a:pt x="451480" y="512933"/>
                  </a:lnTo>
                  <a:lnTo>
                    <a:pt x="414281" y="536015"/>
                  </a:lnTo>
                  <a:lnTo>
                    <a:pt x="373547" y="553224"/>
                  </a:lnTo>
                  <a:lnTo>
                    <a:pt x="329863" y="563975"/>
                  </a:lnTo>
                  <a:lnTo>
                    <a:pt x="283812" y="567684"/>
                  </a:lnTo>
                  <a:lnTo>
                    <a:pt x="237764" y="563963"/>
                  </a:lnTo>
                  <a:lnTo>
                    <a:pt x="194085" y="553202"/>
                  </a:lnTo>
                  <a:lnTo>
                    <a:pt x="153359" y="535985"/>
                  </a:lnTo>
                  <a:lnTo>
                    <a:pt x="116170" y="512898"/>
                  </a:lnTo>
                  <a:lnTo>
                    <a:pt x="83102" y="484524"/>
                  </a:lnTo>
                  <a:lnTo>
                    <a:pt x="54739" y="451448"/>
                  </a:lnTo>
                  <a:lnTo>
                    <a:pt x="31664" y="414255"/>
                  </a:lnTo>
                  <a:lnTo>
                    <a:pt x="14461" y="373529"/>
                  </a:lnTo>
                  <a:lnTo>
                    <a:pt x="3714" y="329853"/>
                  </a:lnTo>
                  <a:lnTo>
                    <a:pt x="0" y="283812"/>
                  </a:lnTo>
                </a:path>
              </a:pathLst>
            </a:custGeom>
            <a:ln w="38100">
              <a:solidFill>
                <a:srgbClr val="F1A8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11679076" y="8494648"/>
            <a:ext cx="15113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b="1" spc="-50" dirty="0">
                <a:solidFill>
                  <a:srgbClr val="0A1F4A"/>
                </a:solidFill>
                <a:latin typeface="Calibri"/>
                <a:cs typeface="Calibri"/>
              </a:rPr>
              <a:t>6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2263120" y="8233166"/>
            <a:ext cx="5200000" cy="76200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1950" b="1" dirty="0">
                <a:solidFill>
                  <a:srgbClr val="0A1F4A"/>
                </a:solidFill>
                <a:latin typeface="Calibri"/>
                <a:cs typeface="Calibri"/>
              </a:rPr>
              <a:t>P3 — Lower Urgency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i="1" dirty="0">
                <a:solidFill>
                  <a:srgbClr val="5B6474"/>
                </a:solidFill>
                <a:latin typeface="Calibri"/>
                <a:cs typeface="Calibri"/>
              </a:rPr>
              <a:t>Follow approved triage &amp; response protocol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66" name="object 6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525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73F8EBB3-F2A1-5327-12B2-57B6F36EBE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763552"/>
            <a:ext cx="7620000" cy="82833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1679" y="556132"/>
            <a:ext cx="800000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3865" algn="l"/>
                <a:tab pos="661035" algn="l"/>
                <a:tab pos="1553845" algn="l"/>
                <a:tab pos="1863089" algn="l"/>
              </a:tabLst>
            </a:pPr>
            <a:r>
              <a:rPr sz="1650" b="1" dirty="0">
                <a:solidFill>
                  <a:srgbClr val="B07900"/>
                </a:solidFill>
                <a:latin typeface="Calibri"/>
                <a:cs typeface="Calibri"/>
              </a:rPr>
              <a:t>0 4	·	D U P L I C A T E</a:t>
            </a:r>
            <a:r>
              <a:rPr lang="en-US" sz="1650" b="1" dirty="0">
                <a:solidFill>
                  <a:srgbClr val="B07900"/>
                </a:solidFill>
                <a:latin typeface="Calibri"/>
                <a:cs typeface="Calibri"/>
              </a:rPr>
              <a:t> </a:t>
            </a:r>
            <a:r>
              <a:rPr sz="1650" b="1" dirty="0">
                <a:solidFill>
                  <a:srgbClr val="B07900"/>
                </a:solidFill>
                <a:latin typeface="Calibri"/>
                <a:cs typeface="Calibri"/>
              </a:rPr>
              <a:t>D E T E C T I O N</a:t>
            </a:r>
            <a:endParaRPr sz="165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161799" y="750951"/>
            <a:ext cx="370205" cy="333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b="1" spc="-20" dirty="0">
                <a:solidFill>
                  <a:srgbClr val="5B6474"/>
                </a:solidFill>
                <a:latin typeface="Calibri"/>
                <a:cs typeface="Calibri"/>
              </a:rPr>
              <a:t>DSIRT</a:t>
            </a:r>
            <a:endParaRPr sz="1200">
              <a:latin typeface="Calibri"/>
              <a:cs typeface="Calibri"/>
            </a:endParaRPr>
          </a:p>
          <a:p>
            <a:pPr marL="34290">
              <a:lnSpc>
                <a:spcPts val="1430"/>
              </a:lnSpc>
            </a:pPr>
            <a:r>
              <a:rPr sz="1200" b="1" spc="-20" dirty="0">
                <a:solidFill>
                  <a:srgbClr val="5B6474"/>
                </a:solidFill>
                <a:latin typeface="Calibri"/>
                <a:cs typeface="Calibri"/>
              </a:rPr>
              <a:t>Logo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07451" y="479488"/>
            <a:ext cx="878966" cy="878966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4853285" y="588654"/>
            <a:ext cx="933450" cy="657225"/>
            <a:chOff x="14853285" y="588654"/>
            <a:chExt cx="933450" cy="657225"/>
          </a:xfrm>
        </p:grpSpPr>
        <p:sp>
          <p:nvSpPr>
            <p:cNvPr id="7" name="object 7"/>
            <p:cNvSpPr/>
            <p:nvPr/>
          </p:nvSpPr>
          <p:spPr>
            <a:xfrm>
              <a:off x="14872334" y="607695"/>
              <a:ext cx="897890" cy="622935"/>
            </a:xfrm>
            <a:custGeom>
              <a:avLst/>
              <a:gdLst/>
              <a:ahLst/>
              <a:cxnLst/>
              <a:rect l="l" t="t" r="r" b="b"/>
              <a:pathLst>
                <a:path w="897890" h="622935">
                  <a:moveTo>
                    <a:pt x="897353" y="622553"/>
                  </a:moveTo>
                  <a:lnTo>
                    <a:pt x="0" y="622553"/>
                  </a:lnTo>
                  <a:lnTo>
                    <a:pt x="0" y="0"/>
                  </a:lnTo>
                  <a:lnTo>
                    <a:pt x="897353" y="0"/>
                  </a:lnTo>
                  <a:lnTo>
                    <a:pt x="897353" y="622553"/>
                  </a:lnTo>
                  <a:close/>
                </a:path>
              </a:pathLst>
            </a:custGeom>
            <a:solidFill>
              <a:srgbClr val="D0D5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872335" y="607704"/>
              <a:ext cx="895350" cy="619125"/>
            </a:xfrm>
            <a:custGeom>
              <a:avLst/>
              <a:gdLst/>
              <a:ahLst/>
              <a:cxnLst/>
              <a:rect l="l" t="t" r="r" b="b"/>
              <a:pathLst>
                <a:path w="895350" h="619125">
                  <a:moveTo>
                    <a:pt x="0" y="619115"/>
                  </a:moveTo>
                  <a:lnTo>
                    <a:pt x="0" y="0"/>
                  </a:lnTo>
                  <a:lnTo>
                    <a:pt x="895350" y="0"/>
                  </a:lnTo>
                </a:path>
              </a:pathLst>
            </a:custGeom>
            <a:ln w="38099">
              <a:solidFill>
                <a:srgbClr val="D0D5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09292" y="644652"/>
              <a:ext cx="822959" cy="54863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5831393" y="698627"/>
            <a:ext cx="15875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50" dirty="0">
                <a:solidFill>
                  <a:srgbClr val="0A1F4A"/>
                </a:solidFill>
                <a:latin typeface="Calibri"/>
                <a:cs typeface="Calibri"/>
              </a:rPr>
              <a:t>×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6032860" y="588654"/>
            <a:ext cx="933450" cy="657225"/>
            <a:chOff x="16032860" y="588654"/>
            <a:chExt cx="933450" cy="657225"/>
          </a:xfrm>
        </p:grpSpPr>
        <p:sp>
          <p:nvSpPr>
            <p:cNvPr id="12" name="object 12"/>
            <p:cNvSpPr/>
            <p:nvPr/>
          </p:nvSpPr>
          <p:spPr>
            <a:xfrm>
              <a:off x="16051910" y="607695"/>
              <a:ext cx="897890" cy="622935"/>
            </a:xfrm>
            <a:custGeom>
              <a:avLst/>
              <a:gdLst/>
              <a:ahLst/>
              <a:cxnLst/>
              <a:rect l="l" t="t" r="r" b="b"/>
              <a:pathLst>
                <a:path w="897890" h="622935">
                  <a:moveTo>
                    <a:pt x="897353" y="622553"/>
                  </a:moveTo>
                  <a:lnTo>
                    <a:pt x="0" y="622553"/>
                  </a:lnTo>
                  <a:lnTo>
                    <a:pt x="0" y="0"/>
                  </a:lnTo>
                  <a:lnTo>
                    <a:pt x="897353" y="0"/>
                  </a:lnTo>
                  <a:lnTo>
                    <a:pt x="897353" y="622553"/>
                  </a:lnTo>
                  <a:close/>
                </a:path>
              </a:pathLst>
            </a:custGeom>
            <a:solidFill>
              <a:srgbClr val="D0D5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6051910" y="607704"/>
              <a:ext cx="895350" cy="619125"/>
            </a:xfrm>
            <a:custGeom>
              <a:avLst/>
              <a:gdLst/>
              <a:ahLst/>
              <a:cxnLst/>
              <a:rect l="l" t="t" r="r" b="b"/>
              <a:pathLst>
                <a:path w="895350" h="619125">
                  <a:moveTo>
                    <a:pt x="0" y="619115"/>
                  </a:moveTo>
                  <a:lnTo>
                    <a:pt x="0" y="0"/>
                  </a:lnTo>
                  <a:lnTo>
                    <a:pt x="895350" y="0"/>
                  </a:lnTo>
                </a:path>
              </a:pathLst>
            </a:custGeom>
            <a:ln w="38099">
              <a:solidFill>
                <a:srgbClr val="D0D5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088867" y="644652"/>
              <a:ext cx="822959" cy="54863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7282576" y="750951"/>
            <a:ext cx="300990" cy="333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">
              <a:lnSpc>
                <a:spcPts val="1135"/>
              </a:lnSpc>
            </a:pPr>
            <a:r>
              <a:rPr sz="1200" b="1" spc="-25" dirty="0">
                <a:solidFill>
                  <a:srgbClr val="5B6474"/>
                </a:solidFill>
                <a:latin typeface="Calibri"/>
                <a:cs typeface="Calibri"/>
              </a:rPr>
              <a:t>DGU</a:t>
            </a:r>
            <a:endParaRPr sz="1200">
              <a:latin typeface="Calibri"/>
              <a:cs typeface="Calibri"/>
            </a:endParaRPr>
          </a:p>
          <a:p>
            <a:pPr>
              <a:lnSpc>
                <a:spcPts val="1430"/>
              </a:lnSpc>
            </a:pPr>
            <a:r>
              <a:rPr sz="1200" b="1" spc="-25" dirty="0">
                <a:solidFill>
                  <a:srgbClr val="5B6474"/>
                </a:solidFill>
                <a:latin typeface="Calibri"/>
                <a:cs typeface="Calibri"/>
              </a:rPr>
              <a:t>Logo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993551" y="479488"/>
            <a:ext cx="878966" cy="87896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Duplicate Emergency Call Detection</a:t>
            </a:r>
          </a:p>
        </p:txBody>
      </p:sp>
      <p:grpSp>
        <p:nvGrpSpPr>
          <p:cNvPr id="17" name="object 17"/>
          <p:cNvGrpSpPr/>
          <p:nvPr/>
        </p:nvGrpSpPr>
        <p:grpSpPr>
          <a:xfrm>
            <a:off x="749937" y="2141346"/>
            <a:ext cx="6333490" cy="4687570"/>
            <a:chOff x="742473" y="2045493"/>
            <a:chExt cx="6333490" cy="4687570"/>
          </a:xfrm>
        </p:grpSpPr>
        <p:sp>
          <p:nvSpPr>
            <p:cNvPr id="18" name="object 18"/>
            <p:cNvSpPr/>
            <p:nvPr/>
          </p:nvSpPr>
          <p:spPr>
            <a:xfrm>
              <a:off x="742473" y="2045493"/>
              <a:ext cx="6332220" cy="4687570"/>
            </a:xfrm>
            <a:custGeom>
              <a:avLst/>
              <a:gdLst/>
              <a:ahLst/>
              <a:cxnLst/>
              <a:rect l="l" t="t" r="r" b="b"/>
              <a:pathLst>
                <a:path w="6332220" h="4687570">
                  <a:moveTo>
                    <a:pt x="6222872" y="4687252"/>
                  </a:moveTo>
                  <a:lnTo>
                    <a:pt x="110299" y="4687252"/>
                  </a:lnTo>
                  <a:lnTo>
                    <a:pt x="67347" y="4678591"/>
                  </a:lnTo>
                  <a:lnTo>
                    <a:pt x="32289" y="4654963"/>
                  </a:lnTo>
                  <a:lnTo>
                    <a:pt x="8661" y="4619905"/>
                  </a:lnTo>
                  <a:lnTo>
                    <a:pt x="0" y="4576953"/>
                  </a:lnTo>
                  <a:lnTo>
                    <a:pt x="0" y="110299"/>
                  </a:lnTo>
                  <a:lnTo>
                    <a:pt x="8661" y="67347"/>
                  </a:lnTo>
                  <a:lnTo>
                    <a:pt x="32289" y="32289"/>
                  </a:lnTo>
                  <a:lnTo>
                    <a:pt x="67347" y="8661"/>
                  </a:lnTo>
                  <a:lnTo>
                    <a:pt x="110299" y="0"/>
                  </a:lnTo>
                  <a:lnTo>
                    <a:pt x="6222872" y="0"/>
                  </a:lnTo>
                  <a:lnTo>
                    <a:pt x="6265784" y="8661"/>
                  </a:lnTo>
                  <a:lnTo>
                    <a:pt x="6300847" y="32289"/>
                  </a:lnTo>
                  <a:lnTo>
                    <a:pt x="6324497" y="67347"/>
                  </a:lnTo>
                  <a:lnTo>
                    <a:pt x="6332069" y="104836"/>
                  </a:lnTo>
                  <a:lnTo>
                    <a:pt x="6332069" y="4582407"/>
                  </a:lnTo>
                  <a:lnTo>
                    <a:pt x="6324484" y="4619905"/>
                  </a:lnTo>
                  <a:lnTo>
                    <a:pt x="6300830" y="4654963"/>
                  </a:lnTo>
                  <a:lnTo>
                    <a:pt x="6265758" y="4678591"/>
                  </a:lnTo>
                  <a:lnTo>
                    <a:pt x="6222872" y="4687252"/>
                  </a:lnTo>
                  <a:close/>
                </a:path>
              </a:pathLst>
            </a:custGeom>
            <a:solidFill>
              <a:srgbClr val="F5F7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42473" y="2045493"/>
              <a:ext cx="6333490" cy="4686300"/>
            </a:xfrm>
            <a:custGeom>
              <a:avLst/>
              <a:gdLst/>
              <a:ahLst/>
              <a:cxnLst/>
              <a:rect l="l" t="t" r="r" b="b"/>
              <a:pathLst>
                <a:path w="6333489" h="4686300">
                  <a:moveTo>
                    <a:pt x="176238" y="23815"/>
                  </a:moveTo>
                  <a:lnTo>
                    <a:pt x="105799" y="23815"/>
                  </a:lnTo>
                  <a:lnTo>
                    <a:pt x="104648" y="1139"/>
                  </a:lnTo>
                  <a:lnTo>
                    <a:pt x="110299" y="0"/>
                  </a:lnTo>
                  <a:lnTo>
                    <a:pt x="176238" y="0"/>
                  </a:lnTo>
                  <a:lnTo>
                    <a:pt x="176238" y="23815"/>
                  </a:lnTo>
                  <a:close/>
                </a:path>
                <a:path w="6333489" h="4686300">
                  <a:moveTo>
                    <a:pt x="342926" y="23815"/>
                  </a:moveTo>
                  <a:lnTo>
                    <a:pt x="271488" y="23815"/>
                  </a:lnTo>
                  <a:lnTo>
                    <a:pt x="271488" y="0"/>
                  </a:lnTo>
                  <a:lnTo>
                    <a:pt x="342926" y="0"/>
                  </a:lnTo>
                  <a:lnTo>
                    <a:pt x="342926" y="23815"/>
                  </a:lnTo>
                  <a:close/>
                </a:path>
                <a:path w="6333489" h="4686300">
                  <a:moveTo>
                    <a:pt x="509613" y="23815"/>
                  </a:moveTo>
                  <a:lnTo>
                    <a:pt x="438176" y="23815"/>
                  </a:lnTo>
                  <a:lnTo>
                    <a:pt x="438176" y="0"/>
                  </a:lnTo>
                  <a:lnTo>
                    <a:pt x="509613" y="0"/>
                  </a:lnTo>
                  <a:lnTo>
                    <a:pt x="509613" y="23815"/>
                  </a:lnTo>
                  <a:close/>
                </a:path>
                <a:path w="6333489" h="4686300">
                  <a:moveTo>
                    <a:pt x="676301" y="23815"/>
                  </a:moveTo>
                  <a:lnTo>
                    <a:pt x="604863" y="23815"/>
                  </a:lnTo>
                  <a:lnTo>
                    <a:pt x="604863" y="0"/>
                  </a:lnTo>
                  <a:lnTo>
                    <a:pt x="676301" y="0"/>
                  </a:lnTo>
                  <a:lnTo>
                    <a:pt x="676301" y="23815"/>
                  </a:lnTo>
                  <a:close/>
                </a:path>
                <a:path w="6333489" h="4686300">
                  <a:moveTo>
                    <a:pt x="842988" y="23815"/>
                  </a:moveTo>
                  <a:lnTo>
                    <a:pt x="771551" y="23815"/>
                  </a:lnTo>
                  <a:lnTo>
                    <a:pt x="771551" y="0"/>
                  </a:lnTo>
                  <a:lnTo>
                    <a:pt x="842988" y="0"/>
                  </a:lnTo>
                  <a:lnTo>
                    <a:pt x="842988" y="23815"/>
                  </a:lnTo>
                  <a:close/>
                </a:path>
                <a:path w="6333489" h="4686300">
                  <a:moveTo>
                    <a:pt x="1009676" y="23815"/>
                  </a:moveTo>
                  <a:lnTo>
                    <a:pt x="938238" y="23815"/>
                  </a:lnTo>
                  <a:lnTo>
                    <a:pt x="938238" y="0"/>
                  </a:lnTo>
                  <a:lnTo>
                    <a:pt x="1009676" y="0"/>
                  </a:lnTo>
                  <a:lnTo>
                    <a:pt x="1009676" y="23815"/>
                  </a:lnTo>
                  <a:close/>
                </a:path>
                <a:path w="6333489" h="4686300">
                  <a:moveTo>
                    <a:pt x="1176363" y="23815"/>
                  </a:moveTo>
                  <a:lnTo>
                    <a:pt x="1104926" y="23815"/>
                  </a:lnTo>
                  <a:lnTo>
                    <a:pt x="1104926" y="0"/>
                  </a:lnTo>
                  <a:lnTo>
                    <a:pt x="1176363" y="0"/>
                  </a:lnTo>
                  <a:lnTo>
                    <a:pt x="1176363" y="23815"/>
                  </a:lnTo>
                  <a:close/>
                </a:path>
                <a:path w="6333489" h="4686300">
                  <a:moveTo>
                    <a:pt x="1343051" y="23815"/>
                  </a:moveTo>
                  <a:lnTo>
                    <a:pt x="1271613" y="23815"/>
                  </a:lnTo>
                  <a:lnTo>
                    <a:pt x="1271613" y="0"/>
                  </a:lnTo>
                  <a:lnTo>
                    <a:pt x="1343051" y="0"/>
                  </a:lnTo>
                  <a:lnTo>
                    <a:pt x="1343051" y="23815"/>
                  </a:lnTo>
                  <a:close/>
                </a:path>
                <a:path w="6333489" h="4686300">
                  <a:moveTo>
                    <a:pt x="1509738" y="23815"/>
                  </a:moveTo>
                  <a:lnTo>
                    <a:pt x="1438301" y="23815"/>
                  </a:lnTo>
                  <a:lnTo>
                    <a:pt x="1438301" y="0"/>
                  </a:lnTo>
                  <a:lnTo>
                    <a:pt x="1509738" y="0"/>
                  </a:lnTo>
                  <a:lnTo>
                    <a:pt x="1509738" y="23815"/>
                  </a:lnTo>
                  <a:close/>
                </a:path>
                <a:path w="6333489" h="4686300">
                  <a:moveTo>
                    <a:pt x="1676426" y="23815"/>
                  </a:moveTo>
                  <a:lnTo>
                    <a:pt x="1604988" y="23815"/>
                  </a:lnTo>
                  <a:lnTo>
                    <a:pt x="1604988" y="0"/>
                  </a:lnTo>
                  <a:lnTo>
                    <a:pt x="1676426" y="0"/>
                  </a:lnTo>
                  <a:lnTo>
                    <a:pt x="1676426" y="23815"/>
                  </a:lnTo>
                  <a:close/>
                </a:path>
                <a:path w="6333489" h="4686300">
                  <a:moveTo>
                    <a:pt x="1843113" y="23815"/>
                  </a:moveTo>
                  <a:lnTo>
                    <a:pt x="1771676" y="23815"/>
                  </a:lnTo>
                  <a:lnTo>
                    <a:pt x="1771676" y="0"/>
                  </a:lnTo>
                  <a:lnTo>
                    <a:pt x="1843113" y="0"/>
                  </a:lnTo>
                  <a:lnTo>
                    <a:pt x="1843113" y="23815"/>
                  </a:lnTo>
                  <a:close/>
                </a:path>
                <a:path w="6333489" h="4686300">
                  <a:moveTo>
                    <a:pt x="2009801" y="23815"/>
                  </a:moveTo>
                  <a:lnTo>
                    <a:pt x="1938363" y="23815"/>
                  </a:lnTo>
                  <a:lnTo>
                    <a:pt x="1938363" y="0"/>
                  </a:lnTo>
                  <a:lnTo>
                    <a:pt x="2009801" y="0"/>
                  </a:lnTo>
                  <a:lnTo>
                    <a:pt x="2009801" y="23815"/>
                  </a:lnTo>
                  <a:close/>
                </a:path>
                <a:path w="6333489" h="4686300">
                  <a:moveTo>
                    <a:pt x="2176488" y="23815"/>
                  </a:moveTo>
                  <a:lnTo>
                    <a:pt x="2105051" y="23815"/>
                  </a:lnTo>
                  <a:lnTo>
                    <a:pt x="2105051" y="0"/>
                  </a:lnTo>
                  <a:lnTo>
                    <a:pt x="2176488" y="0"/>
                  </a:lnTo>
                  <a:lnTo>
                    <a:pt x="2176488" y="23815"/>
                  </a:lnTo>
                  <a:close/>
                </a:path>
                <a:path w="6333489" h="4686300">
                  <a:moveTo>
                    <a:pt x="2343176" y="23815"/>
                  </a:moveTo>
                  <a:lnTo>
                    <a:pt x="2271738" y="23815"/>
                  </a:lnTo>
                  <a:lnTo>
                    <a:pt x="2271738" y="0"/>
                  </a:lnTo>
                  <a:lnTo>
                    <a:pt x="2343176" y="0"/>
                  </a:lnTo>
                  <a:lnTo>
                    <a:pt x="2343176" y="23815"/>
                  </a:lnTo>
                  <a:close/>
                </a:path>
                <a:path w="6333489" h="4686300">
                  <a:moveTo>
                    <a:pt x="2509863" y="23815"/>
                  </a:moveTo>
                  <a:lnTo>
                    <a:pt x="2438426" y="23815"/>
                  </a:lnTo>
                  <a:lnTo>
                    <a:pt x="2438426" y="0"/>
                  </a:lnTo>
                  <a:lnTo>
                    <a:pt x="2509863" y="0"/>
                  </a:lnTo>
                  <a:lnTo>
                    <a:pt x="2509863" y="23815"/>
                  </a:lnTo>
                  <a:close/>
                </a:path>
                <a:path w="6333489" h="4686300">
                  <a:moveTo>
                    <a:pt x="2676551" y="23815"/>
                  </a:moveTo>
                  <a:lnTo>
                    <a:pt x="2605113" y="23815"/>
                  </a:lnTo>
                  <a:lnTo>
                    <a:pt x="2605113" y="0"/>
                  </a:lnTo>
                  <a:lnTo>
                    <a:pt x="2676551" y="0"/>
                  </a:lnTo>
                  <a:lnTo>
                    <a:pt x="2676551" y="23815"/>
                  </a:lnTo>
                  <a:close/>
                </a:path>
                <a:path w="6333489" h="4686300">
                  <a:moveTo>
                    <a:pt x="2843238" y="23815"/>
                  </a:moveTo>
                  <a:lnTo>
                    <a:pt x="2771801" y="23815"/>
                  </a:lnTo>
                  <a:lnTo>
                    <a:pt x="2771801" y="0"/>
                  </a:lnTo>
                  <a:lnTo>
                    <a:pt x="2843238" y="0"/>
                  </a:lnTo>
                  <a:lnTo>
                    <a:pt x="2843238" y="23815"/>
                  </a:lnTo>
                  <a:close/>
                </a:path>
                <a:path w="6333489" h="4686300">
                  <a:moveTo>
                    <a:pt x="3009926" y="23815"/>
                  </a:moveTo>
                  <a:lnTo>
                    <a:pt x="2938488" y="23815"/>
                  </a:lnTo>
                  <a:lnTo>
                    <a:pt x="2938488" y="0"/>
                  </a:lnTo>
                  <a:lnTo>
                    <a:pt x="3009926" y="0"/>
                  </a:lnTo>
                  <a:lnTo>
                    <a:pt x="3009926" y="23815"/>
                  </a:lnTo>
                  <a:close/>
                </a:path>
                <a:path w="6333489" h="4686300">
                  <a:moveTo>
                    <a:pt x="3176613" y="23815"/>
                  </a:moveTo>
                  <a:lnTo>
                    <a:pt x="3105176" y="23815"/>
                  </a:lnTo>
                  <a:lnTo>
                    <a:pt x="3105176" y="0"/>
                  </a:lnTo>
                  <a:lnTo>
                    <a:pt x="3176613" y="0"/>
                  </a:lnTo>
                  <a:lnTo>
                    <a:pt x="3176613" y="23815"/>
                  </a:lnTo>
                  <a:close/>
                </a:path>
                <a:path w="6333489" h="4686300">
                  <a:moveTo>
                    <a:pt x="3343301" y="23815"/>
                  </a:moveTo>
                  <a:lnTo>
                    <a:pt x="3271863" y="23815"/>
                  </a:lnTo>
                  <a:lnTo>
                    <a:pt x="3271863" y="0"/>
                  </a:lnTo>
                  <a:lnTo>
                    <a:pt x="3343301" y="0"/>
                  </a:lnTo>
                  <a:lnTo>
                    <a:pt x="3343301" y="23815"/>
                  </a:lnTo>
                  <a:close/>
                </a:path>
                <a:path w="6333489" h="4686300">
                  <a:moveTo>
                    <a:pt x="3509988" y="23815"/>
                  </a:moveTo>
                  <a:lnTo>
                    <a:pt x="3438551" y="23815"/>
                  </a:lnTo>
                  <a:lnTo>
                    <a:pt x="3438551" y="0"/>
                  </a:lnTo>
                  <a:lnTo>
                    <a:pt x="3509988" y="0"/>
                  </a:lnTo>
                  <a:lnTo>
                    <a:pt x="3509988" y="23815"/>
                  </a:lnTo>
                  <a:close/>
                </a:path>
                <a:path w="6333489" h="4686300">
                  <a:moveTo>
                    <a:pt x="3676676" y="23815"/>
                  </a:moveTo>
                  <a:lnTo>
                    <a:pt x="3605238" y="23815"/>
                  </a:lnTo>
                  <a:lnTo>
                    <a:pt x="3605238" y="0"/>
                  </a:lnTo>
                  <a:lnTo>
                    <a:pt x="3676676" y="0"/>
                  </a:lnTo>
                  <a:lnTo>
                    <a:pt x="3676676" y="23815"/>
                  </a:lnTo>
                  <a:close/>
                </a:path>
                <a:path w="6333489" h="4686300">
                  <a:moveTo>
                    <a:pt x="3843363" y="23815"/>
                  </a:moveTo>
                  <a:lnTo>
                    <a:pt x="3771926" y="23815"/>
                  </a:lnTo>
                  <a:lnTo>
                    <a:pt x="3771926" y="0"/>
                  </a:lnTo>
                  <a:lnTo>
                    <a:pt x="3843363" y="0"/>
                  </a:lnTo>
                  <a:lnTo>
                    <a:pt x="3843363" y="23815"/>
                  </a:lnTo>
                  <a:close/>
                </a:path>
                <a:path w="6333489" h="4686300">
                  <a:moveTo>
                    <a:pt x="4010051" y="23815"/>
                  </a:moveTo>
                  <a:lnTo>
                    <a:pt x="3938614" y="23815"/>
                  </a:lnTo>
                  <a:lnTo>
                    <a:pt x="3938614" y="0"/>
                  </a:lnTo>
                  <a:lnTo>
                    <a:pt x="4010051" y="0"/>
                  </a:lnTo>
                  <a:lnTo>
                    <a:pt x="4010051" y="23815"/>
                  </a:lnTo>
                  <a:close/>
                </a:path>
                <a:path w="6333489" h="4686300">
                  <a:moveTo>
                    <a:pt x="4176738" y="23815"/>
                  </a:moveTo>
                  <a:lnTo>
                    <a:pt x="4105301" y="23815"/>
                  </a:lnTo>
                  <a:lnTo>
                    <a:pt x="4105301" y="0"/>
                  </a:lnTo>
                  <a:lnTo>
                    <a:pt x="4176738" y="0"/>
                  </a:lnTo>
                  <a:lnTo>
                    <a:pt x="4176738" y="23815"/>
                  </a:lnTo>
                  <a:close/>
                </a:path>
                <a:path w="6333489" h="4686300">
                  <a:moveTo>
                    <a:pt x="4343426" y="23815"/>
                  </a:moveTo>
                  <a:lnTo>
                    <a:pt x="4271988" y="23815"/>
                  </a:lnTo>
                  <a:lnTo>
                    <a:pt x="4271988" y="0"/>
                  </a:lnTo>
                  <a:lnTo>
                    <a:pt x="4343426" y="0"/>
                  </a:lnTo>
                  <a:lnTo>
                    <a:pt x="4343426" y="23815"/>
                  </a:lnTo>
                  <a:close/>
                </a:path>
                <a:path w="6333489" h="4686300">
                  <a:moveTo>
                    <a:pt x="4510113" y="23815"/>
                  </a:moveTo>
                  <a:lnTo>
                    <a:pt x="4438676" y="23815"/>
                  </a:lnTo>
                  <a:lnTo>
                    <a:pt x="4438676" y="0"/>
                  </a:lnTo>
                  <a:lnTo>
                    <a:pt x="4510113" y="0"/>
                  </a:lnTo>
                  <a:lnTo>
                    <a:pt x="4510113" y="23815"/>
                  </a:lnTo>
                  <a:close/>
                </a:path>
                <a:path w="6333489" h="4686300">
                  <a:moveTo>
                    <a:pt x="4676801" y="23815"/>
                  </a:moveTo>
                  <a:lnTo>
                    <a:pt x="4605363" y="23815"/>
                  </a:lnTo>
                  <a:lnTo>
                    <a:pt x="4605363" y="0"/>
                  </a:lnTo>
                  <a:lnTo>
                    <a:pt x="4676801" y="0"/>
                  </a:lnTo>
                  <a:lnTo>
                    <a:pt x="4676801" y="23815"/>
                  </a:lnTo>
                  <a:close/>
                </a:path>
                <a:path w="6333489" h="4686300">
                  <a:moveTo>
                    <a:pt x="4843488" y="23815"/>
                  </a:moveTo>
                  <a:lnTo>
                    <a:pt x="4772051" y="23815"/>
                  </a:lnTo>
                  <a:lnTo>
                    <a:pt x="4772051" y="0"/>
                  </a:lnTo>
                  <a:lnTo>
                    <a:pt x="4843488" y="0"/>
                  </a:lnTo>
                  <a:lnTo>
                    <a:pt x="4843488" y="23815"/>
                  </a:lnTo>
                  <a:close/>
                </a:path>
                <a:path w="6333489" h="4686300">
                  <a:moveTo>
                    <a:pt x="5010176" y="23815"/>
                  </a:moveTo>
                  <a:lnTo>
                    <a:pt x="4938738" y="23815"/>
                  </a:lnTo>
                  <a:lnTo>
                    <a:pt x="4938738" y="0"/>
                  </a:lnTo>
                  <a:lnTo>
                    <a:pt x="5010176" y="0"/>
                  </a:lnTo>
                  <a:lnTo>
                    <a:pt x="5010176" y="23815"/>
                  </a:lnTo>
                  <a:close/>
                </a:path>
                <a:path w="6333489" h="4686300">
                  <a:moveTo>
                    <a:pt x="5176863" y="23815"/>
                  </a:moveTo>
                  <a:lnTo>
                    <a:pt x="5105426" y="23815"/>
                  </a:lnTo>
                  <a:lnTo>
                    <a:pt x="5105426" y="0"/>
                  </a:lnTo>
                  <a:lnTo>
                    <a:pt x="5176863" y="0"/>
                  </a:lnTo>
                  <a:lnTo>
                    <a:pt x="5176863" y="23815"/>
                  </a:lnTo>
                  <a:close/>
                </a:path>
                <a:path w="6333489" h="4686300">
                  <a:moveTo>
                    <a:pt x="5343551" y="23815"/>
                  </a:moveTo>
                  <a:lnTo>
                    <a:pt x="5272113" y="23815"/>
                  </a:lnTo>
                  <a:lnTo>
                    <a:pt x="5272113" y="0"/>
                  </a:lnTo>
                  <a:lnTo>
                    <a:pt x="5343551" y="0"/>
                  </a:lnTo>
                  <a:lnTo>
                    <a:pt x="5343551" y="23815"/>
                  </a:lnTo>
                  <a:close/>
                </a:path>
                <a:path w="6333489" h="4686300">
                  <a:moveTo>
                    <a:pt x="5510239" y="23815"/>
                  </a:moveTo>
                  <a:lnTo>
                    <a:pt x="5438801" y="23815"/>
                  </a:lnTo>
                  <a:lnTo>
                    <a:pt x="5438801" y="0"/>
                  </a:lnTo>
                  <a:lnTo>
                    <a:pt x="5510239" y="0"/>
                  </a:lnTo>
                  <a:lnTo>
                    <a:pt x="5510239" y="23815"/>
                  </a:lnTo>
                  <a:close/>
                </a:path>
                <a:path w="6333489" h="4686300">
                  <a:moveTo>
                    <a:pt x="5676926" y="23815"/>
                  </a:moveTo>
                  <a:lnTo>
                    <a:pt x="5605489" y="23815"/>
                  </a:lnTo>
                  <a:lnTo>
                    <a:pt x="5605489" y="0"/>
                  </a:lnTo>
                  <a:lnTo>
                    <a:pt x="5676926" y="0"/>
                  </a:lnTo>
                  <a:lnTo>
                    <a:pt x="5676926" y="23815"/>
                  </a:lnTo>
                  <a:close/>
                </a:path>
                <a:path w="6333489" h="4686300">
                  <a:moveTo>
                    <a:pt x="5843614" y="23815"/>
                  </a:moveTo>
                  <a:lnTo>
                    <a:pt x="5772176" y="23815"/>
                  </a:lnTo>
                  <a:lnTo>
                    <a:pt x="5772176" y="0"/>
                  </a:lnTo>
                  <a:lnTo>
                    <a:pt x="5843614" y="0"/>
                  </a:lnTo>
                  <a:lnTo>
                    <a:pt x="5843614" y="23815"/>
                  </a:lnTo>
                  <a:close/>
                </a:path>
                <a:path w="6333489" h="4686300">
                  <a:moveTo>
                    <a:pt x="6010301" y="23815"/>
                  </a:moveTo>
                  <a:lnTo>
                    <a:pt x="5938864" y="23815"/>
                  </a:lnTo>
                  <a:lnTo>
                    <a:pt x="5938864" y="0"/>
                  </a:lnTo>
                  <a:lnTo>
                    <a:pt x="6010301" y="0"/>
                  </a:lnTo>
                  <a:lnTo>
                    <a:pt x="6010301" y="23815"/>
                  </a:lnTo>
                  <a:close/>
                </a:path>
                <a:path w="6333489" h="4686300">
                  <a:moveTo>
                    <a:pt x="6176989" y="23815"/>
                  </a:moveTo>
                  <a:lnTo>
                    <a:pt x="6105551" y="23815"/>
                  </a:lnTo>
                  <a:lnTo>
                    <a:pt x="6105551" y="0"/>
                  </a:lnTo>
                  <a:lnTo>
                    <a:pt x="6176989" y="0"/>
                  </a:lnTo>
                  <a:lnTo>
                    <a:pt x="6176989" y="23815"/>
                  </a:lnTo>
                  <a:close/>
                </a:path>
                <a:path w="6333489" h="4686300">
                  <a:moveTo>
                    <a:pt x="6299986" y="71264"/>
                  </a:moveTo>
                  <a:lnTo>
                    <a:pt x="6292569" y="59073"/>
                  </a:lnTo>
                  <a:lnTo>
                    <a:pt x="6283520" y="48543"/>
                  </a:lnTo>
                  <a:lnTo>
                    <a:pt x="6272840" y="39672"/>
                  </a:lnTo>
                  <a:lnTo>
                    <a:pt x="6260528" y="32461"/>
                  </a:lnTo>
                  <a:lnTo>
                    <a:pt x="6270539" y="11866"/>
                  </a:lnTo>
                  <a:lnTo>
                    <a:pt x="6300847" y="32289"/>
                  </a:lnTo>
                  <a:lnTo>
                    <a:pt x="6320219" y="61006"/>
                  </a:lnTo>
                  <a:lnTo>
                    <a:pt x="6299986" y="71264"/>
                  </a:lnTo>
                  <a:close/>
                </a:path>
                <a:path w="6333489" h="4686300">
                  <a:moveTo>
                    <a:pt x="6333172" y="225715"/>
                  </a:moveTo>
                  <a:lnTo>
                    <a:pt x="6309271" y="225715"/>
                  </a:lnTo>
                  <a:lnTo>
                    <a:pt x="6309271" y="154278"/>
                  </a:lnTo>
                  <a:lnTo>
                    <a:pt x="6333172" y="154278"/>
                  </a:lnTo>
                  <a:lnTo>
                    <a:pt x="6333172" y="225715"/>
                  </a:lnTo>
                  <a:close/>
                </a:path>
                <a:path w="6333489" h="4686300">
                  <a:moveTo>
                    <a:pt x="6333172" y="392403"/>
                  </a:moveTo>
                  <a:lnTo>
                    <a:pt x="6309271" y="392403"/>
                  </a:lnTo>
                  <a:lnTo>
                    <a:pt x="6309271" y="320965"/>
                  </a:lnTo>
                  <a:lnTo>
                    <a:pt x="6333172" y="320965"/>
                  </a:lnTo>
                  <a:lnTo>
                    <a:pt x="6333172" y="392403"/>
                  </a:lnTo>
                  <a:close/>
                </a:path>
                <a:path w="6333489" h="4686300">
                  <a:moveTo>
                    <a:pt x="6333172" y="559090"/>
                  </a:moveTo>
                  <a:lnTo>
                    <a:pt x="6309271" y="559090"/>
                  </a:lnTo>
                  <a:lnTo>
                    <a:pt x="6309271" y="487653"/>
                  </a:lnTo>
                  <a:lnTo>
                    <a:pt x="6333172" y="487653"/>
                  </a:lnTo>
                  <a:lnTo>
                    <a:pt x="6333172" y="559090"/>
                  </a:lnTo>
                  <a:close/>
                </a:path>
                <a:path w="6333489" h="4686300">
                  <a:moveTo>
                    <a:pt x="6333172" y="725778"/>
                  </a:moveTo>
                  <a:lnTo>
                    <a:pt x="6309271" y="725778"/>
                  </a:lnTo>
                  <a:lnTo>
                    <a:pt x="6309271" y="654340"/>
                  </a:lnTo>
                  <a:lnTo>
                    <a:pt x="6333172" y="654340"/>
                  </a:lnTo>
                  <a:lnTo>
                    <a:pt x="6333172" y="725778"/>
                  </a:lnTo>
                  <a:close/>
                </a:path>
                <a:path w="6333489" h="4686300">
                  <a:moveTo>
                    <a:pt x="6333172" y="892465"/>
                  </a:moveTo>
                  <a:lnTo>
                    <a:pt x="6309271" y="892465"/>
                  </a:lnTo>
                  <a:lnTo>
                    <a:pt x="6309271" y="821028"/>
                  </a:lnTo>
                  <a:lnTo>
                    <a:pt x="6333172" y="821028"/>
                  </a:lnTo>
                  <a:lnTo>
                    <a:pt x="6333172" y="892465"/>
                  </a:lnTo>
                  <a:close/>
                </a:path>
                <a:path w="6333489" h="4686300">
                  <a:moveTo>
                    <a:pt x="6333172" y="1059153"/>
                  </a:moveTo>
                  <a:lnTo>
                    <a:pt x="6309271" y="1059153"/>
                  </a:lnTo>
                  <a:lnTo>
                    <a:pt x="6309271" y="987715"/>
                  </a:lnTo>
                  <a:lnTo>
                    <a:pt x="6333172" y="987715"/>
                  </a:lnTo>
                  <a:lnTo>
                    <a:pt x="6333172" y="1059153"/>
                  </a:lnTo>
                  <a:close/>
                </a:path>
                <a:path w="6333489" h="4686300">
                  <a:moveTo>
                    <a:pt x="6333172" y="1225840"/>
                  </a:moveTo>
                  <a:lnTo>
                    <a:pt x="6309271" y="1225840"/>
                  </a:lnTo>
                  <a:lnTo>
                    <a:pt x="6309271" y="1154403"/>
                  </a:lnTo>
                  <a:lnTo>
                    <a:pt x="6333172" y="1154403"/>
                  </a:lnTo>
                  <a:lnTo>
                    <a:pt x="6333172" y="1225840"/>
                  </a:lnTo>
                  <a:close/>
                </a:path>
                <a:path w="6333489" h="4686300">
                  <a:moveTo>
                    <a:pt x="6333172" y="1392528"/>
                  </a:moveTo>
                  <a:lnTo>
                    <a:pt x="6309271" y="1392528"/>
                  </a:lnTo>
                  <a:lnTo>
                    <a:pt x="6309271" y="1321090"/>
                  </a:lnTo>
                  <a:lnTo>
                    <a:pt x="6333172" y="1321090"/>
                  </a:lnTo>
                  <a:lnTo>
                    <a:pt x="6333172" y="1392528"/>
                  </a:lnTo>
                  <a:close/>
                </a:path>
                <a:path w="6333489" h="4686300">
                  <a:moveTo>
                    <a:pt x="6333172" y="1559215"/>
                  </a:moveTo>
                  <a:lnTo>
                    <a:pt x="6309271" y="1559215"/>
                  </a:lnTo>
                  <a:lnTo>
                    <a:pt x="6309271" y="1487777"/>
                  </a:lnTo>
                  <a:lnTo>
                    <a:pt x="6333172" y="1487777"/>
                  </a:lnTo>
                  <a:lnTo>
                    <a:pt x="6333172" y="1559215"/>
                  </a:lnTo>
                  <a:close/>
                </a:path>
                <a:path w="6333489" h="4686300">
                  <a:moveTo>
                    <a:pt x="6333172" y="1725903"/>
                  </a:moveTo>
                  <a:lnTo>
                    <a:pt x="6309271" y="1725903"/>
                  </a:lnTo>
                  <a:lnTo>
                    <a:pt x="6309271" y="1654465"/>
                  </a:lnTo>
                  <a:lnTo>
                    <a:pt x="6333172" y="1654465"/>
                  </a:lnTo>
                  <a:lnTo>
                    <a:pt x="6333172" y="1725903"/>
                  </a:lnTo>
                  <a:close/>
                </a:path>
                <a:path w="6333489" h="4686300">
                  <a:moveTo>
                    <a:pt x="6333172" y="1892590"/>
                  </a:moveTo>
                  <a:lnTo>
                    <a:pt x="6309271" y="1892590"/>
                  </a:lnTo>
                  <a:lnTo>
                    <a:pt x="6309271" y="1821153"/>
                  </a:lnTo>
                  <a:lnTo>
                    <a:pt x="6333172" y="1821153"/>
                  </a:lnTo>
                  <a:lnTo>
                    <a:pt x="6333172" y="1892590"/>
                  </a:lnTo>
                  <a:close/>
                </a:path>
                <a:path w="6333489" h="4686300">
                  <a:moveTo>
                    <a:pt x="6333172" y="2059278"/>
                  </a:moveTo>
                  <a:lnTo>
                    <a:pt x="6309271" y="2059278"/>
                  </a:lnTo>
                  <a:lnTo>
                    <a:pt x="6309271" y="1987840"/>
                  </a:lnTo>
                  <a:lnTo>
                    <a:pt x="6333172" y="1987840"/>
                  </a:lnTo>
                  <a:lnTo>
                    <a:pt x="6333172" y="2059278"/>
                  </a:lnTo>
                  <a:close/>
                </a:path>
                <a:path w="6333489" h="4686300">
                  <a:moveTo>
                    <a:pt x="6333172" y="2225965"/>
                  </a:moveTo>
                  <a:lnTo>
                    <a:pt x="6309271" y="2225965"/>
                  </a:lnTo>
                  <a:lnTo>
                    <a:pt x="6309271" y="2154528"/>
                  </a:lnTo>
                  <a:lnTo>
                    <a:pt x="6333172" y="2154528"/>
                  </a:lnTo>
                  <a:lnTo>
                    <a:pt x="6333172" y="2225965"/>
                  </a:lnTo>
                  <a:close/>
                </a:path>
                <a:path w="6333489" h="4686300">
                  <a:moveTo>
                    <a:pt x="6333172" y="2392652"/>
                  </a:moveTo>
                  <a:lnTo>
                    <a:pt x="6309271" y="2392652"/>
                  </a:lnTo>
                  <a:lnTo>
                    <a:pt x="6309271" y="2321215"/>
                  </a:lnTo>
                  <a:lnTo>
                    <a:pt x="6333172" y="2321215"/>
                  </a:lnTo>
                  <a:lnTo>
                    <a:pt x="6333172" y="2392652"/>
                  </a:lnTo>
                  <a:close/>
                </a:path>
                <a:path w="6333489" h="4686300">
                  <a:moveTo>
                    <a:pt x="6333172" y="2559340"/>
                  </a:moveTo>
                  <a:lnTo>
                    <a:pt x="6309271" y="2559340"/>
                  </a:lnTo>
                  <a:lnTo>
                    <a:pt x="6309271" y="2487902"/>
                  </a:lnTo>
                  <a:lnTo>
                    <a:pt x="6333172" y="2487902"/>
                  </a:lnTo>
                  <a:lnTo>
                    <a:pt x="6333172" y="2559340"/>
                  </a:lnTo>
                  <a:close/>
                </a:path>
                <a:path w="6333489" h="4686300">
                  <a:moveTo>
                    <a:pt x="6333172" y="2726028"/>
                  </a:moveTo>
                  <a:lnTo>
                    <a:pt x="6309271" y="2726028"/>
                  </a:lnTo>
                  <a:lnTo>
                    <a:pt x="6309271" y="2654590"/>
                  </a:lnTo>
                  <a:lnTo>
                    <a:pt x="6333172" y="2654590"/>
                  </a:lnTo>
                  <a:lnTo>
                    <a:pt x="6333172" y="2726028"/>
                  </a:lnTo>
                  <a:close/>
                </a:path>
                <a:path w="6333489" h="4686300">
                  <a:moveTo>
                    <a:pt x="6333172" y="2892715"/>
                  </a:moveTo>
                  <a:lnTo>
                    <a:pt x="6309271" y="2892715"/>
                  </a:lnTo>
                  <a:lnTo>
                    <a:pt x="6309271" y="2821278"/>
                  </a:lnTo>
                  <a:lnTo>
                    <a:pt x="6333172" y="2821278"/>
                  </a:lnTo>
                  <a:lnTo>
                    <a:pt x="6333172" y="2892715"/>
                  </a:lnTo>
                  <a:close/>
                </a:path>
                <a:path w="6333489" h="4686300">
                  <a:moveTo>
                    <a:pt x="6333172" y="3059403"/>
                  </a:moveTo>
                  <a:lnTo>
                    <a:pt x="6309271" y="3059403"/>
                  </a:lnTo>
                  <a:lnTo>
                    <a:pt x="6309271" y="2987965"/>
                  </a:lnTo>
                  <a:lnTo>
                    <a:pt x="6333172" y="2987965"/>
                  </a:lnTo>
                  <a:lnTo>
                    <a:pt x="6333172" y="3059403"/>
                  </a:lnTo>
                  <a:close/>
                </a:path>
                <a:path w="6333489" h="4686300">
                  <a:moveTo>
                    <a:pt x="6333172" y="3226090"/>
                  </a:moveTo>
                  <a:lnTo>
                    <a:pt x="6309271" y="3226090"/>
                  </a:lnTo>
                  <a:lnTo>
                    <a:pt x="6309271" y="3154653"/>
                  </a:lnTo>
                  <a:lnTo>
                    <a:pt x="6333172" y="3154653"/>
                  </a:lnTo>
                  <a:lnTo>
                    <a:pt x="6333172" y="3226090"/>
                  </a:lnTo>
                  <a:close/>
                </a:path>
                <a:path w="6333489" h="4686300">
                  <a:moveTo>
                    <a:pt x="6333172" y="3392778"/>
                  </a:moveTo>
                  <a:lnTo>
                    <a:pt x="6309271" y="3392778"/>
                  </a:lnTo>
                  <a:lnTo>
                    <a:pt x="6309271" y="3321340"/>
                  </a:lnTo>
                  <a:lnTo>
                    <a:pt x="6333172" y="3321340"/>
                  </a:lnTo>
                  <a:lnTo>
                    <a:pt x="6333172" y="3392778"/>
                  </a:lnTo>
                  <a:close/>
                </a:path>
                <a:path w="6333489" h="4686300">
                  <a:moveTo>
                    <a:pt x="6333172" y="3559465"/>
                  </a:moveTo>
                  <a:lnTo>
                    <a:pt x="6309271" y="3559465"/>
                  </a:lnTo>
                  <a:lnTo>
                    <a:pt x="6309271" y="3488028"/>
                  </a:lnTo>
                  <a:lnTo>
                    <a:pt x="6333172" y="3488028"/>
                  </a:lnTo>
                  <a:lnTo>
                    <a:pt x="6333172" y="3559465"/>
                  </a:lnTo>
                  <a:close/>
                </a:path>
                <a:path w="6333489" h="4686300">
                  <a:moveTo>
                    <a:pt x="6333172" y="3726153"/>
                  </a:moveTo>
                  <a:lnTo>
                    <a:pt x="6309271" y="3726153"/>
                  </a:lnTo>
                  <a:lnTo>
                    <a:pt x="6309271" y="3654715"/>
                  </a:lnTo>
                  <a:lnTo>
                    <a:pt x="6333172" y="3654715"/>
                  </a:lnTo>
                  <a:lnTo>
                    <a:pt x="6333172" y="3726153"/>
                  </a:lnTo>
                  <a:close/>
                </a:path>
                <a:path w="6333489" h="4686300">
                  <a:moveTo>
                    <a:pt x="6333172" y="3892840"/>
                  </a:moveTo>
                  <a:lnTo>
                    <a:pt x="6309271" y="3892840"/>
                  </a:lnTo>
                  <a:lnTo>
                    <a:pt x="6309271" y="3821403"/>
                  </a:lnTo>
                  <a:lnTo>
                    <a:pt x="6333172" y="3821403"/>
                  </a:lnTo>
                  <a:lnTo>
                    <a:pt x="6333172" y="3892840"/>
                  </a:lnTo>
                  <a:close/>
                </a:path>
                <a:path w="6333489" h="4686300">
                  <a:moveTo>
                    <a:pt x="6333172" y="4059527"/>
                  </a:moveTo>
                  <a:lnTo>
                    <a:pt x="6309271" y="4059527"/>
                  </a:lnTo>
                  <a:lnTo>
                    <a:pt x="6309271" y="3988090"/>
                  </a:lnTo>
                  <a:lnTo>
                    <a:pt x="6333172" y="3988090"/>
                  </a:lnTo>
                  <a:lnTo>
                    <a:pt x="6333172" y="4059527"/>
                  </a:lnTo>
                  <a:close/>
                </a:path>
                <a:path w="6333489" h="4686300">
                  <a:moveTo>
                    <a:pt x="6333172" y="4226215"/>
                  </a:moveTo>
                  <a:lnTo>
                    <a:pt x="6309271" y="4226215"/>
                  </a:lnTo>
                  <a:lnTo>
                    <a:pt x="6309271" y="4154777"/>
                  </a:lnTo>
                  <a:lnTo>
                    <a:pt x="6333172" y="4154777"/>
                  </a:lnTo>
                  <a:lnTo>
                    <a:pt x="6333172" y="4226215"/>
                  </a:lnTo>
                  <a:close/>
                </a:path>
                <a:path w="6333489" h="4686300">
                  <a:moveTo>
                    <a:pt x="6333172" y="4392902"/>
                  </a:moveTo>
                  <a:lnTo>
                    <a:pt x="6309271" y="4392902"/>
                  </a:lnTo>
                  <a:lnTo>
                    <a:pt x="6309271" y="4321465"/>
                  </a:lnTo>
                  <a:lnTo>
                    <a:pt x="6333172" y="4321465"/>
                  </a:lnTo>
                  <a:lnTo>
                    <a:pt x="6333172" y="4392902"/>
                  </a:lnTo>
                  <a:close/>
                </a:path>
                <a:path w="6333489" h="4686300">
                  <a:moveTo>
                    <a:pt x="6333172" y="4559590"/>
                  </a:moveTo>
                  <a:lnTo>
                    <a:pt x="6309271" y="4559590"/>
                  </a:lnTo>
                  <a:lnTo>
                    <a:pt x="6309271" y="4488152"/>
                  </a:lnTo>
                  <a:lnTo>
                    <a:pt x="6333172" y="4488152"/>
                  </a:lnTo>
                  <a:lnTo>
                    <a:pt x="6333172" y="4559590"/>
                  </a:lnTo>
                  <a:close/>
                </a:path>
                <a:path w="6333489" h="4686300">
                  <a:moveTo>
                    <a:pt x="6245437" y="4682695"/>
                  </a:moveTo>
                  <a:lnTo>
                    <a:pt x="6240918" y="4661478"/>
                  </a:lnTo>
                  <a:lnTo>
                    <a:pt x="6254496" y="4657459"/>
                  </a:lnTo>
                  <a:lnTo>
                    <a:pt x="6266918" y="4651433"/>
                  </a:lnTo>
                  <a:lnTo>
                    <a:pt x="6278183" y="4643399"/>
                  </a:lnTo>
                  <a:lnTo>
                    <a:pt x="6288290" y="4633359"/>
                  </a:lnTo>
                  <a:lnTo>
                    <a:pt x="6305428" y="4648147"/>
                  </a:lnTo>
                  <a:lnTo>
                    <a:pt x="6300830" y="4654963"/>
                  </a:lnTo>
                  <a:lnTo>
                    <a:pt x="6265758" y="4678591"/>
                  </a:lnTo>
                  <a:lnTo>
                    <a:pt x="6245437" y="4682695"/>
                  </a:lnTo>
                  <a:close/>
                </a:path>
                <a:path w="6333489" h="4686300">
                  <a:moveTo>
                    <a:pt x="6150313" y="4686300"/>
                  </a:moveTo>
                  <a:lnTo>
                    <a:pt x="6078875" y="4686300"/>
                  </a:lnTo>
                  <a:lnTo>
                    <a:pt x="6078875" y="4663377"/>
                  </a:lnTo>
                  <a:lnTo>
                    <a:pt x="6150313" y="4663377"/>
                  </a:lnTo>
                  <a:lnTo>
                    <a:pt x="6150313" y="4686300"/>
                  </a:lnTo>
                  <a:close/>
                </a:path>
                <a:path w="6333489" h="4686300">
                  <a:moveTo>
                    <a:pt x="5983625" y="4686300"/>
                  </a:moveTo>
                  <a:lnTo>
                    <a:pt x="5912188" y="4686300"/>
                  </a:lnTo>
                  <a:lnTo>
                    <a:pt x="5912188" y="4663377"/>
                  </a:lnTo>
                  <a:lnTo>
                    <a:pt x="5983625" y="4663377"/>
                  </a:lnTo>
                  <a:lnTo>
                    <a:pt x="5983625" y="4686300"/>
                  </a:lnTo>
                  <a:close/>
                </a:path>
                <a:path w="6333489" h="4686300">
                  <a:moveTo>
                    <a:pt x="5816938" y="4686300"/>
                  </a:moveTo>
                  <a:lnTo>
                    <a:pt x="5745500" y="4686300"/>
                  </a:lnTo>
                  <a:lnTo>
                    <a:pt x="5745500" y="4663377"/>
                  </a:lnTo>
                  <a:lnTo>
                    <a:pt x="5816938" y="4663377"/>
                  </a:lnTo>
                  <a:lnTo>
                    <a:pt x="5816938" y="4686300"/>
                  </a:lnTo>
                  <a:close/>
                </a:path>
                <a:path w="6333489" h="4686300">
                  <a:moveTo>
                    <a:pt x="5650250" y="4686300"/>
                  </a:moveTo>
                  <a:lnTo>
                    <a:pt x="5578813" y="4686300"/>
                  </a:lnTo>
                  <a:lnTo>
                    <a:pt x="5578813" y="4663377"/>
                  </a:lnTo>
                  <a:lnTo>
                    <a:pt x="5650250" y="4663377"/>
                  </a:lnTo>
                  <a:lnTo>
                    <a:pt x="5650250" y="4686300"/>
                  </a:lnTo>
                  <a:close/>
                </a:path>
                <a:path w="6333489" h="4686300">
                  <a:moveTo>
                    <a:pt x="5483563" y="4686300"/>
                  </a:moveTo>
                  <a:lnTo>
                    <a:pt x="5412125" y="4686300"/>
                  </a:lnTo>
                  <a:lnTo>
                    <a:pt x="5412125" y="4663377"/>
                  </a:lnTo>
                  <a:lnTo>
                    <a:pt x="5483563" y="4663377"/>
                  </a:lnTo>
                  <a:lnTo>
                    <a:pt x="5483563" y="4686300"/>
                  </a:lnTo>
                  <a:close/>
                </a:path>
                <a:path w="6333489" h="4686300">
                  <a:moveTo>
                    <a:pt x="5316875" y="4686300"/>
                  </a:moveTo>
                  <a:lnTo>
                    <a:pt x="5245438" y="4686300"/>
                  </a:lnTo>
                  <a:lnTo>
                    <a:pt x="5245438" y="4663377"/>
                  </a:lnTo>
                  <a:lnTo>
                    <a:pt x="5316875" y="4663377"/>
                  </a:lnTo>
                  <a:lnTo>
                    <a:pt x="5316875" y="4686300"/>
                  </a:lnTo>
                  <a:close/>
                </a:path>
                <a:path w="6333489" h="4686300">
                  <a:moveTo>
                    <a:pt x="5150188" y="4686300"/>
                  </a:moveTo>
                  <a:lnTo>
                    <a:pt x="5078750" y="4686300"/>
                  </a:lnTo>
                  <a:lnTo>
                    <a:pt x="5078750" y="4663377"/>
                  </a:lnTo>
                  <a:lnTo>
                    <a:pt x="5150188" y="4663377"/>
                  </a:lnTo>
                  <a:lnTo>
                    <a:pt x="5150188" y="4686300"/>
                  </a:lnTo>
                  <a:close/>
                </a:path>
                <a:path w="6333489" h="4686300">
                  <a:moveTo>
                    <a:pt x="4983500" y="4686300"/>
                  </a:moveTo>
                  <a:lnTo>
                    <a:pt x="4912063" y="4686300"/>
                  </a:lnTo>
                  <a:lnTo>
                    <a:pt x="4912063" y="4663377"/>
                  </a:lnTo>
                  <a:lnTo>
                    <a:pt x="4983500" y="4663377"/>
                  </a:lnTo>
                  <a:lnTo>
                    <a:pt x="4983500" y="4686300"/>
                  </a:lnTo>
                  <a:close/>
                </a:path>
                <a:path w="6333489" h="4686300">
                  <a:moveTo>
                    <a:pt x="4816813" y="4686300"/>
                  </a:moveTo>
                  <a:lnTo>
                    <a:pt x="4745375" y="4686300"/>
                  </a:lnTo>
                  <a:lnTo>
                    <a:pt x="4745375" y="4663377"/>
                  </a:lnTo>
                  <a:lnTo>
                    <a:pt x="4816813" y="4663377"/>
                  </a:lnTo>
                  <a:lnTo>
                    <a:pt x="4816813" y="4686300"/>
                  </a:lnTo>
                  <a:close/>
                </a:path>
                <a:path w="6333489" h="4686300">
                  <a:moveTo>
                    <a:pt x="4650125" y="4686300"/>
                  </a:moveTo>
                  <a:lnTo>
                    <a:pt x="4578688" y="4686300"/>
                  </a:lnTo>
                  <a:lnTo>
                    <a:pt x="4578688" y="4663377"/>
                  </a:lnTo>
                  <a:lnTo>
                    <a:pt x="4650125" y="4663377"/>
                  </a:lnTo>
                  <a:lnTo>
                    <a:pt x="4650125" y="4686300"/>
                  </a:lnTo>
                  <a:close/>
                </a:path>
                <a:path w="6333489" h="4686300">
                  <a:moveTo>
                    <a:pt x="4483438" y="4686300"/>
                  </a:moveTo>
                  <a:lnTo>
                    <a:pt x="4412000" y="4686300"/>
                  </a:lnTo>
                  <a:lnTo>
                    <a:pt x="4412000" y="4663377"/>
                  </a:lnTo>
                  <a:lnTo>
                    <a:pt x="4483438" y="4663377"/>
                  </a:lnTo>
                  <a:lnTo>
                    <a:pt x="4483438" y="4686300"/>
                  </a:lnTo>
                  <a:close/>
                </a:path>
                <a:path w="6333489" h="4686300">
                  <a:moveTo>
                    <a:pt x="4316750" y="4686300"/>
                  </a:moveTo>
                  <a:lnTo>
                    <a:pt x="4245313" y="4686300"/>
                  </a:lnTo>
                  <a:lnTo>
                    <a:pt x="4245313" y="4663377"/>
                  </a:lnTo>
                  <a:lnTo>
                    <a:pt x="4316750" y="4663377"/>
                  </a:lnTo>
                  <a:lnTo>
                    <a:pt x="4316750" y="4686300"/>
                  </a:lnTo>
                  <a:close/>
                </a:path>
                <a:path w="6333489" h="4686300">
                  <a:moveTo>
                    <a:pt x="4150063" y="4686300"/>
                  </a:moveTo>
                  <a:lnTo>
                    <a:pt x="4078625" y="4686300"/>
                  </a:lnTo>
                  <a:lnTo>
                    <a:pt x="4078625" y="4663377"/>
                  </a:lnTo>
                  <a:lnTo>
                    <a:pt x="4150063" y="4663377"/>
                  </a:lnTo>
                  <a:lnTo>
                    <a:pt x="4150063" y="4686300"/>
                  </a:lnTo>
                  <a:close/>
                </a:path>
                <a:path w="6333489" h="4686300">
                  <a:moveTo>
                    <a:pt x="3983375" y="4686300"/>
                  </a:moveTo>
                  <a:lnTo>
                    <a:pt x="3911938" y="4686300"/>
                  </a:lnTo>
                  <a:lnTo>
                    <a:pt x="3911938" y="4663377"/>
                  </a:lnTo>
                  <a:lnTo>
                    <a:pt x="3983375" y="4663377"/>
                  </a:lnTo>
                  <a:lnTo>
                    <a:pt x="3983375" y="4686300"/>
                  </a:lnTo>
                  <a:close/>
                </a:path>
                <a:path w="6333489" h="4686300">
                  <a:moveTo>
                    <a:pt x="3816688" y="4686300"/>
                  </a:moveTo>
                  <a:lnTo>
                    <a:pt x="3745250" y="4686300"/>
                  </a:lnTo>
                  <a:lnTo>
                    <a:pt x="3745250" y="4663377"/>
                  </a:lnTo>
                  <a:lnTo>
                    <a:pt x="3816688" y="4663377"/>
                  </a:lnTo>
                  <a:lnTo>
                    <a:pt x="3816688" y="4686300"/>
                  </a:lnTo>
                  <a:close/>
                </a:path>
                <a:path w="6333489" h="4686300">
                  <a:moveTo>
                    <a:pt x="3650000" y="4686300"/>
                  </a:moveTo>
                  <a:lnTo>
                    <a:pt x="3578563" y="4686300"/>
                  </a:lnTo>
                  <a:lnTo>
                    <a:pt x="3578563" y="4663377"/>
                  </a:lnTo>
                  <a:lnTo>
                    <a:pt x="3650000" y="4663377"/>
                  </a:lnTo>
                  <a:lnTo>
                    <a:pt x="3650000" y="4686300"/>
                  </a:lnTo>
                  <a:close/>
                </a:path>
                <a:path w="6333489" h="4686300">
                  <a:moveTo>
                    <a:pt x="3483313" y="4686300"/>
                  </a:moveTo>
                  <a:lnTo>
                    <a:pt x="3411875" y="4686300"/>
                  </a:lnTo>
                  <a:lnTo>
                    <a:pt x="3411875" y="4663377"/>
                  </a:lnTo>
                  <a:lnTo>
                    <a:pt x="3483313" y="4663377"/>
                  </a:lnTo>
                  <a:lnTo>
                    <a:pt x="3483313" y="4686300"/>
                  </a:lnTo>
                  <a:close/>
                </a:path>
                <a:path w="6333489" h="4686300">
                  <a:moveTo>
                    <a:pt x="3316625" y="4686300"/>
                  </a:moveTo>
                  <a:lnTo>
                    <a:pt x="3245188" y="4686300"/>
                  </a:lnTo>
                  <a:lnTo>
                    <a:pt x="3245188" y="4663377"/>
                  </a:lnTo>
                  <a:lnTo>
                    <a:pt x="3316625" y="4663377"/>
                  </a:lnTo>
                  <a:lnTo>
                    <a:pt x="3316625" y="4686300"/>
                  </a:lnTo>
                  <a:close/>
                </a:path>
                <a:path w="6333489" h="4686300">
                  <a:moveTo>
                    <a:pt x="3149938" y="4686300"/>
                  </a:moveTo>
                  <a:lnTo>
                    <a:pt x="3078500" y="4686300"/>
                  </a:lnTo>
                  <a:lnTo>
                    <a:pt x="3078500" y="4663377"/>
                  </a:lnTo>
                  <a:lnTo>
                    <a:pt x="3149938" y="4663377"/>
                  </a:lnTo>
                  <a:lnTo>
                    <a:pt x="3149938" y="4686300"/>
                  </a:lnTo>
                  <a:close/>
                </a:path>
                <a:path w="6333489" h="4686300">
                  <a:moveTo>
                    <a:pt x="2983250" y="4686300"/>
                  </a:moveTo>
                  <a:lnTo>
                    <a:pt x="2911813" y="4686300"/>
                  </a:lnTo>
                  <a:lnTo>
                    <a:pt x="2911813" y="4663377"/>
                  </a:lnTo>
                  <a:lnTo>
                    <a:pt x="2983250" y="4663377"/>
                  </a:lnTo>
                  <a:lnTo>
                    <a:pt x="2983250" y="4686300"/>
                  </a:lnTo>
                  <a:close/>
                </a:path>
                <a:path w="6333489" h="4686300">
                  <a:moveTo>
                    <a:pt x="2816563" y="4686300"/>
                  </a:moveTo>
                  <a:lnTo>
                    <a:pt x="2745125" y="4686300"/>
                  </a:lnTo>
                  <a:lnTo>
                    <a:pt x="2745125" y="4663377"/>
                  </a:lnTo>
                  <a:lnTo>
                    <a:pt x="2816563" y="4663377"/>
                  </a:lnTo>
                  <a:lnTo>
                    <a:pt x="2816563" y="4686300"/>
                  </a:lnTo>
                  <a:close/>
                </a:path>
                <a:path w="6333489" h="4686300">
                  <a:moveTo>
                    <a:pt x="2649875" y="4686300"/>
                  </a:moveTo>
                  <a:lnTo>
                    <a:pt x="2578438" y="4686300"/>
                  </a:lnTo>
                  <a:lnTo>
                    <a:pt x="2578438" y="4663377"/>
                  </a:lnTo>
                  <a:lnTo>
                    <a:pt x="2649875" y="4663377"/>
                  </a:lnTo>
                  <a:lnTo>
                    <a:pt x="2649875" y="4686300"/>
                  </a:lnTo>
                  <a:close/>
                </a:path>
                <a:path w="6333489" h="4686300">
                  <a:moveTo>
                    <a:pt x="2483188" y="4686300"/>
                  </a:moveTo>
                  <a:lnTo>
                    <a:pt x="2411750" y="4686300"/>
                  </a:lnTo>
                  <a:lnTo>
                    <a:pt x="2411750" y="4663377"/>
                  </a:lnTo>
                  <a:lnTo>
                    <a:pt x="2483188" y="4663377"/>
                  </a:lnTo>
                  <a:lnTo>
                    <a:pt x="2483188" y="4686300"/>
                  </a:lnTo>
                  <a:close/>
                </a:path>
                <a:path w="6333489" h="4686300">
                  <a:moveTo>
                    <a:pt x="2316500" y="4686300"/>
                  </a:moveTo>
                  <a:lnTo>
                    <a:pt x="2245063" y="4686300"/>
                  </a:lnTo>
                  <a:lnTo>
                    <a:pt x="2245063" y="4663377"/>
                  </a:lnTo>
                  <a:lnTo>
                    <a:pt x="2316500" y="4663377"/>
                  </a:lnTo>
                  <a:lnTo>
                    <a:pt x="2316500" y="4686300"/>
                  </a:lnTo>
                  <a:close/>
                </a:path>
                <a:path w="6333489" h="4686300">
                  <a:moveTo>
                    <a:pt x="2149813" y="4686300"/>
                  </a:moveTo>
                  <a:lnTo>
                    <a:pt x="2078375" y="4686300"/>
                  </a:lnTo>
                  <a:lnTo>
                    <a:pt x="2078375" y="4663377"/>
                  </a:lnTo>
                  <a:lnTo>
                    <a:pt x="2149813" y="4663377"/>
                  </a:lnTo>
                  <a:lnTo>
                    <a:pt x="2149813" y="4686300"/>
                  </a:lnTo>
                  <a:close/>
                </a:path>
                <a:path w="6333489" h="4686300">
                  <a:moveTo>
                    <a:pt x="1983125" y="4686300"/>
                  </a:moveTo>
                  <a:lnTo>
                    <a:pt x="1911688" y="4686300"/>
                  </a:lnTo>
                  <a:lnTo>
                    <a:pt x="1911688" y="4663377"/>
                  </a:lnTo>
                  <a:lnTo>
                    <a:pt x="1983125" y="4663377"/>
                  </a:lnTo>
                  <a:lnTo>
                    <a:pt x="1983125" y="4686300"/>
                  </a:lnTo>
                  <a:close/>
                </a:path>
                <a:path w="6333489" h="4686300">
                  <a:moveTo>
                    <a:pt x="1816437" y="4686300"/>
                  </a:moveTo>
                  <a:lnTo>
                    <a:pt x="1745000" y="4686300"/>
                  </a:lnTo>
                  <a:lnTo>
                    <a:pt x="1745000" y="4663377"/>
                  </a:lnTo>
                  <a:lnTo>
                    <a:pt x="1816437" y="4663377"/>
                  </a:lnTo>
                  <a:lnTo>
                    <a:pt x="1816437" y="4686300"/>
                  </a:lnTo>
                  <a:close/>
                </a:path>
                <a:path w="6333489" h="4686300">
                  <a:moveTo>
                    <a:pt x="1649750" y="4686300"/>
                  </a:moveTo>
                  <a:lnTo>
                    <a:pt x="1578313" y="4686300"/>
                  </a:lnTo>
                  <a:lnTo>
                    <a:pt x="1578313" y="4663377"/>
                  </a:lnTo>
                  <a:lnTo>
                    <a:pt x="1649750" y="4663377"/>
                  </a:lnTo>
                  <a:lnTo>
                    <a:pt x="1649750" y="4686300"/>
                  </a:lnTo>
                  <a:close/>
                </a:path>
                <a:path w="6333489" h="4686300">
                  <a:moveTo>
                    <a:pt x="1483063" y="4686300"/>
                  </a:moveTo>
                  <a:lnTo>
                    <a:pt x="1411625" y="4686300"/>
                  </a:lnTo>
                  <a:lnTo>
                    <a:pt x="1411625" y="4663377"/>
                  </a:lnTo>
                  <a:lnTo>
                    <a:pt x="1483063" y="4663377"/>
                  </a:lnTo>
                  <a:lnTo>
                    <a:pt x="1483063" y="4686300"/>
                  </a:lnTo>
                  <a:close/>
                </a:path>
                <a:path w="6333489" h="4686300">
                  <a:moveTo>
                    <a:pt x="1316375" y="4686300"/>
                  </a:moveTo>
                  <a:lnTo>
                    <a:pt x="1244938" y="4686300"/>
                  </a:lnTo>
                  <a:lnTo>
                    <a:pt x="1244938" y="4663377"/>
                  </a:lnTo>
                  <a:lnTo>
                    <a:pt x="1316375" y="4663377"/>
                  </a:lnTo>
                  <a:lnTo>
                    <a:pt x="1316375" y="4686300"/>
                  </a:lnTo>
                  <a:close/>
                </a:path>
                <a:path w="6333489" h="4686300">
                  <a:moveTo>
                    <a:pt x="1149688" y="4686300"/>
                  </a:moveTo>
                  <a:lnTo>
                    <a:pt x="1078250" y="4686300"/>
                  </a:lnTo>
                  <a:lnTo>
                    <a:pt x="1078250" y="4663377"/>
                  </a:lnTo>
                  <a:lnTo>
                    <a:pt x="1149688" y="4663377"/>
                  </a:lnTo>
                  <a:lnTo>
                    <a:pt x="1149688" y="4686300"/>
                  </a:lnTo>
                  <a:close/>
                </a:path>
                <a:path w="6333489" h="4686300">
                  <a:moveTo>
                    <a:pt x="983000" y="4686300"/>
                  </a:moveTo>
                  <a:lnTo>
                    <a:pt x="911562" y="4686300"/>
                  </a:lnTo>
                  <a:lnTo>
                    <a:pt x="911562" y="4663377"/>
                  </a:lnTo>
                  <a:lnTo>
                    <a:pt x="983000" y="4663377"/>
                  </a:lnTo>
                  <a:lnTo>
                    <a:pt x="983000" y="4686300"/>
                  </a:lnTo>
                  <a:close/>
                </a:path>
                <a:path w="6333489" h="4686300">
                  <a:moveTo>
                    <a:pt x="816312" y="4686300"/>
                  </a:moveTo>
                  <a:lnTo>
                    <a:pt x="744875" y="4686300"/>
                  </a:lnTo>
                  <a:lnTo>
                    <a:pt x="744875" y="4663377"/>
                  </a:lnTo>
                  <a:lnTo>
                    <a:pt x="816312" y="4663377"/>
                  </a:lnTo>
                  <a:lnTo>
                    <a:pt x="816312" y="4686300"/>
                  </a:lnTo>
                  <a:close/>
                </a:path>
                <a:path w="6333489" h="4686300">
                  <a:moveTo>
                    <a:pt x="649625" y="4686300"/>
                  </a:moveTo>
                  <a:lnTo>
                    <a:pt x="578187" y="4686300"/>
                  </a:lnTo>
                  <a:lnTo>
                    <a:pt x="578187" y="4663377"/>
                  </a:lnTo>
                  <a:lnTo>
                    <a:pt x="649625" y="4663377"/>
                  </a:lnTo>
                  <a:lnTo>
                    <a:pt x="649625" y="4686300"/>
                  </a:lnTo>
                  <a:close/>
                </a:path>
                <a:path w="6333489" h="4686300">
                  <a:moveTo>
                    <a:pt x="482937" y="4686300"/>
                  </a:moveTo>
                  <a:lnTo>
                    <a:pt x="411500" y="4686300"/>
                  </a:lnTo>
                  <a:lnTo>
                    <a:pt x="411500" y="4663377"/>
                  </a:lnTo>
                  <a:lnTo>
                    <a:pt x="482937" y="4663377"/>
                  </a:lnTo>
                  <a:lnTo>
                    <a:pt x="482937" y="4686300"/>
                  </a:lnTo>
                  <a:close/>
                </a:path>
                <a:path w="6333489" h="4686300">
                  <a:moveTo>
                    <a:pt x="316250" y="4686300"/>
                  </a:moveTo>
                  <a:lnTo>
                    <a:pt x="244812" y="4686300"/>
                  </a:lnTo>
                  <a:lnTo>
                    <a:pt x="244812" y="4663377"/>
                  </a:lnTo>
                  <a:lnTo>
                    <a:pt x="316250" y="4663377"/>
                  </a:lnTo>
                  <a:lnTo>
                    <a:pt x="316250" y="4686300"/>
                  </a:lnTo>
                  <a:close/>
                </a:path>
                <a:path w="6333489" h="4686300">
                  <a:moveTo>
                    <a:pt x="149562" y="4686300"/>
                  </a:moveTo>
                  <a:lnTo>
                    <a:pt x="105575" y="4686300"/>
                  </a:lnTo>
                  <a:lnTo>
                    <a:pt x="78613" y="4680862"/>
                  </a:lnTo>
                  <a:lnTo>
                    <a:pt x="85059" y="4659651"/>
                  </a:lnTo>
                  <a:lnTo>
                    <a:pt x="91234" y="4661281"/>
                  </a:lnTo>
                  <a:lnTo>
                    <a:pt x="97499" y="4662445"/>
                  </a:lnTo>
                  <a:lnTo>
                    <a:pt x="103853" y="4663144"/>
                  </a:lnTo>
                  <a:lnTo>
                    <a:pt x="110297" y="4663377"/>
                  </a:lnTo>
                  <a:lnTo>
                    <a:pt x="149562" y="4663377"/>
                  </a:lnTo>
                  <a:lnTo>
                    <a:pt x="149562" y="4686300"/>
                  </a:lnTo>
                  <a:close/>
                </a:path>
                <a:path w="6333489" h="4686300">
                  <a:moveTo>
                    <a:pt x="9176" y="4620668"/>
                  </a:moveTo>
                  <a:lnTo>
                    <a:pt x="8661" y="4619905"/>
                  </a:lnTo>
                  <a:lnTo>
                    <a:pt x="0" y="4576891"/>
                  </a:lnTo>
                  <a:lnTo>
                    <a:pt x="0" y="4550216"/>
                  </a:lnTo>
                  <a:lnTo>
                    <a:pt x="23812" y="4550216"/>
                  </a:lnTo>
                  <a:lnTo>
                    <a:pt x="23812" y="4576891"/>
                  </a:lnTo>
                  <a:lnTo>
                    <a:pt x="24254" y="4585799"/>
                  </a:lnTo>
                  <a:lnTo>
                    <a:pt x="25582" y="4594497"/>
                  </a:lnTo>
                  <a:lnTo>
                    <a:pt x="27794" y="4602986"/>
                  </a:lnTo>
                  <a:lnTo>
                    <a:pt x="30891" y="4611265"/>
                  </a:lnTo>
                  <a:lnTo>
                    <a:pt x="9176" y="4620668"/>
                  </a:lnTo>
                  <a:close/>
                </a:path>
                <a:path w="6333489" h="4686300">
                  <a:moveTo>
                    <a:pt x="23812" y="4454966"/>
                  </a:moveTo>
                  <a:lnTo>
                    <a:pt x="0" y="4454966"/>
                  </a:lnTo>
                  <a:lnTo>
                    <a:pt x="0" y="4383529"/>
                  </a:lnTo>
                  <a:lnTo>
                    <a:pt x="23812" y="4383529"/>
                  </a:lnTo>
                  <a:lnTo>
                    <a:pt x="23812" y="4454966"/>
                  </a:lnTo>
                  <a:close/>
                </a:path>
                <a:path w="6333489" h="4686300">
                  <a:moveTo>
                    <a:pt x="23812" y="4288279"/>
                  </a:moveTo>
                  <a:lnTo>
                    <a:pt x="0" y="4288279"/>
                  </a:lnTo>
                  <a:lnTo>
                    <a:pt x="0" y="4216841"/>
                  </a:lnTo>
                  <a:lnTo>
                    <a:pt x="23812" y="4216841"/>
                  </a:lnTo>
                  <a:lnTo>
                    <a:pt x="23812" y="4288279"/>
                  </a:lnTo>
                  <a:close/>
                </a:path>
                <a:path w="6333489" h="4686300">
                  <a:moveTo>
                    <a:pt x="23812" y="4121591"/>
                  </a:moveTo>
                  <a:lnTo>
                    <a:pt x="0" y="4121591"/>
                  </a:lnTo>
                  <a:lnTo>
                    <a:pt x="0" y="4050154"/>
                  </a:lnTo>
                  <a:lnTo>
                    <a:pt x="23812" y="4050154"/>
                  </a:lnTo>
                  <a:lnTo>
                    <a:pt x="23812" y="4121591"/>
                  </a:lnTo>
                  <a:close/>
                </a:path>
                <a:path w="6333489" h="4686300">
                  <a:moveTo>
                    <a:pt x="23812" y="3954904"/>
                  </a:moveTo>
                  <a:lnTo>
                    <a:pt x="0" y="3954904"/>
                  </a:lnTo>
                  <a:lnTo>
                    <a:pt x="0" y="3883466"/>
                  </a:lnTo>
                  <a:lnTo>
                    <a:pt x="23812" y="3883466"/>
                  </a:lnTo>
                  <a:lnTo>
                    <a:pt x="23812" y="3954904"/>
                  </a:lnTo>
                  <a:close/>
                </a:path>
                <a:path w="6333489" h="4686300">
                  <a:moveTo>
                    <a:pt x="23812" y="3788216"/>
                  </a:moveTo>
                  <a:lnTo>
                    <a:pt x="0" y="3788216"/>
                  </a:lnTo>
                  <a:lnTo>
                    <a:pt x="0" y="3716779"/>
                  </a:lnTo>
                  <a:lnTo>
                    <a:pt x="23812" y="3716779"/>
                  </a:lnTo>
                  <a:lnTo>
                    <a:pt x="23812" y="3788216"/>
                  </a:lnTo>
                  <a:close/>
                </a:path>
                <a:path w="6333489" h="4686300">
                  <a:moveTo>
                    <a:pt x="23812" y="3621529"/>
                  </a:moveTo>
                  <a:lnTo>
                    <a:pt x="0" y="3621529"/>
                  </a:lnTo>
                  <a:lnTo>
                    <a:pt x="0" y="3550091"/>
                  </a:lnTo>
                  <a:lnTo>
                    <a:pt x="23812" y="3550091"/>
                  </a:lnTo>
                  <a:lnTo>
                    <a:pt x="23812" y="3621529"/>
                  </a:lnTo>
                  <a:close/>
                </a:path>
                <a:path w="6333489" h="4686300">
                  <a:moveTo>
                    <a:pt x="23812" y="3454841"/>
                  </a:moveTo>
                  <a:lnTo>
                    <a:pt x="0" y="3454841"/>
                  </a:lnTo>
                  <a:lnTo>
                    <a:pt x="0" y="3383404"/>
                  </a:lnTo>
                  <a:lnTo>
                    <a:pt x="23812" y="3383404"/>
                  </a:lnTo>
                  <a:lnTo>
                    <a:pt x="23812" y="3454841"/>
                  </a:lnTo>
                  <a:close/>
                </a:path>
                <a:path w="6333489" h="4686300">
                  <a:moveTo>
                    <a:pt x="23812" y="3288154"/>
                  </a:moveTo>
                  <a:lnTo>
                    <a:pt x="0" y="3288154"/>
                  </a:lnTo>
                  <a:lnTo>
                    <a:pt x="0" y="3216716"/>
                  </a:lnTo>
                  <a:lnTo>
                    <a:pt x="23812" y="3216716"/>
                  </a:lnTo>
                  <a:lnTo>
                    <a:pt x="23812" y="3288154"/>
                  </a:lnTo>
                  <a:close/>
                </a:path>
                <a:path w="6333489" h="4686300">
                  <a:moveTo>
                    <a:pt x="23812" y="3121466"/>
                  </a:moveTo>
                  <a:lnTo>
                    <a:pt x="0" y="3121466"/>
                  </a:lnTo>
                  <a:lnTo>
                    <a:pt x="0" y="3050029"/>
                  </a:lnTo>
                  <a:lnTo>
                    <a:pt x="23812" y="3050029"/>
                  </a:lnTo>
                  <a:lnTo>
                    <a:pt x="23812" y="3121466"/>
                  </a:lnTo>
                  <a:close/>
                </a:path>
                <a:path w="6333489" h="4686300">
                  <a:moveTo>
                    <a:pt x="23812" y="2954779"/>
                  </a:moveTo>
                  <a:lnTo>
                    <a:pt x="0" y="2954779"/>
                  </a:lnTo>
                  <a:lnTo>
                    <a:pt x="0" y="2883341"/>
                  </a:lnTo>
                  <a:lnTo>
                    <a:pt x="23812" y="2883341"/>
                  </a:lnTo>
                  <a:lnTo>
                    <a:pt x="23812" y="2954779"/>
                  </a:lnTo>
                  <a:close/>
                </a:path>
                <a:path w="6333489" h="4686300">
                  <a:moveTo>
                    <a:pt x="23812" y="2788091"/>
                  </a:moveTo>
                  <a:lnTo>
                    <a:pt x="0" y="2788091"/>
                  </a:lnTo>
                  <a:lnTo>
                    <a:pt x="0" y="2716654"/>
                  </a:lnTo>
                  <a:lnTo>
                    <a:pt x="23812" y="2716654"/>
                  </a:lnTo>
                  <a:lnTo>
                    <a:pt x="23812" y="2788091"/>
                  </a:lnTo>
                  <a:close/>
                </a:path>
                <a:path w="6333489" h="4686300">
                  <a:moveTo>
                    <a:pt x="23812" y="2621404"/>
                  </a:moveTo>
                  <a:lnTo>
                    <a:pt x="0" y="2621404"/>
                  </a:lnTo>
                  <a:lnTo>
                    <a:pt x="0" y="2549966"/>
                  </a:lnTo>
                  <a:lnTo>
                    <a:pt x="23812" y="2549966"/>
                  </a:lnTo>
                  <a:lnTo>
                    <a:pt x="23812" y="2621404"/>
                  </a:lnTo>
                  <a:close/>
                </a:path>
                <a:path w="6333489" h="4686300">
                  <a:moveTo>
                    <a:pt x="23812" y="2454716"/>
                  </a:moveTo>
                  <a:lnTo>
                    <a:pt x="0" y="2454716"/>
                  </a:lnTo>
                  <a:lnTo>
                    <a:pt x="0" y="2383279"/>
                  </a:lnTo>
                  <a:lnTo>
                    <a:pt x="23812" y="2383279"/>
                  </a:lnTo>
                  <a:lnTo>
                    <a:pt x="23812" y="2454716"/>
                  </a:lnTo>
                  <a:close/>
                </a:path>
                <a:path w="6333489" h="4686300">
                  <a:moveTo>
                    <a:pt x="23812" y="2288029"/>
                  </a:moveTo>
                  <a:lnTo>
                    <a:pt x="0" y="2288029"/>
                  </a:lnTo>
                  <a:lnTo>
                    <a:pt x="0" y="2216591"/>
                  </a:lnTo>
                  <a:lnTo>
                    <a:pt x="23812" y="2216591"/>
                  </a:lnTo>
                  <a:lnTo>
                    <a:pt x="23812" y="2288029"/>
                  </a:lnTo>
                  <a:close/>
                </a:path>
                <a:path w="6333489" h="4686300">
                  <a:moveTo>
                    <a:pt x="23812" y="2121341"/>
                  </a:moveTo>
                  <a:lnTo>
                    <a:pt x="0" y="2121341"/>
                  </a:lnTo>
                  <a:lnTo>
                    <a:pt x="0" y="2049904"/>
                  </a:lnTo>
                  <a:lnTo>
                    <a:pt x="23812" y="2049904"/>
                  </a:lnTo>
                  <a:lnTo>
                    <a:pt x="23812" y="2121341"/>
                  </a:lnTo>
                  <a:close/>
                </a:path>
                <a:path w="6333489" h="4686300">
                  <a:moveTo>
                    <a:pt x="23812" y="1954653"/>
                  </a:moveTo>
                  <a:lnTo>
                    <a:pt x="0" y="1954653"/>
                  </a:lnTo>
                  <a:lnTo>
                    <a:pt x="0" y="1883216"/>
                  </a:lnTo>
                  <a:lnTo>
                    <a:pt x="23812" y="1883216"/>
                  </a:lnTo>
                  <a:lnTo>
                    <a:pt x="23812" y="1954653"/>
                  </a:lnTo>
                  <a:close/>
                </a:path>
                <a:path w="6333489" h="4686300">
                  <a:moveTo>
                    <a:pt x="23812" y="1787966"/>
                  </a:moveTo>
                  <a:lnTo>
                    <a:pt x="0" y="1787966"/>
                  </a:lnTo>
                  <a:lnTo>
                    <a:pt x="0" y="1716528"/>
                  </a:lnTo>
                  <a:lnTo>
                    <a:pt x="23812" y="1716528"/>
                  </a:lnTo>
                  <a:lnTo>
                    <a:pt x="23812" y="1787966"/>
                  </a:lnTo>
                  <a:close/>
                </a:path>
                <a:path w="6333489" h="4686300">
                  <a:moveTo>
                    <a:pt x="23812" y="1621278"/>
                  </a:moveTo>
                  <a:lnTo>
                    <a:pt x="0" y="1621278"/>
                  </a:lnTo>
                  <a:lnTo>
                    <a:pt x="0" y="1549841"/>
                  </a:lnTo>
                  <a:lnTo>
                    <a:pt x="23812" y="1549841"/>
                  </a:lnTo>
                  <a:lnTo>
                    <a:pt x="23812" y="1621278"/>
                  </a:lnTo>
                  <a:close/>
                </a:path>
                <a:path w="6333489" h="4686300">
                  <a:moveTo>
                    <a:pt x="23812" y="1454591"/>
                  </a:moveTo>
                  <a:lnTo>
                    <a:pt x="0" y="1454591"/>
                  </a:lnTo>
                  <a:lnTo>
                    <a:pt x="0" y="1383153"/>
                  </a:lnTo>
                  <a:lnTo>
                    <a:pt x="23812" y="1383153"/>
                  </a:lnTo>
                  <a:lnTo>
                    <a:pt x="23812" y="1454591"/>
                  </a:lnTo>
                  <a:close/>
                </a:path>
                <a:path w="6333489" h="4686300">
                  <a:moveTo>
                    <a:pt x="23812" y="1287903"/>
                  </a:moveTo>
                  <a:lnTo>
                    <a:pt x="0" y="1287903"/>
                  </a:lnTo>
                  <a:lnTo>
                    <a:pt x="0" y="1216466"/>
                  </a:lnTo>
                  <a:lnTo>
                    <a:pt x="23812" y="1216466"/>
                  </a:lnTo>
                  <a:lnTo>
                    <a:pt x="23812" y="1287903"/>
                  </a:lnTo>
                  <a:close/>
                </a:path>
                <a:path w="6333489" h="4686300">
                  <a:moveTo>
                    <a:pt x="23812" y="1121216"/>
                  </a:moveTo>
                  <a:lnTo>
                    <a:pt x="0" y="1121216"/>
                  </a:lnTo>
                  <a:lnTo>
                    <a:pt x="0" y="1049778"/>
                  </a:lnTo>
                  <a:lnTo>
                    <a:pt x="23812" y="1049778"/>
                  </a:lnTo>
                  <a:lnTo>
                    <a:pt x="23812" y="1121216"/>
                  </a:lnTo>
                  <a:close/>
                </a:path>
                <a:path w="6333489" h="4686300">
                  <a:moveTo>
                    <a:pt x="23812" y="954528"/>
                  </a:moveTo>
                  <a:lnTo>
                    <a:pt x="0" y="954528"/>
                  </a:lnTo>
                  <a:lnTo>
                    <a:pt x="0" y="883091"/>
                  </a:lnTo>
                  <a:lnTo>
                    <a:pt x="23812" y="883091"/>
                  </a:lnTo>
                  <a:lnTo>
                    <a:pt x="23812" y="954528"/>
                  </a:lnTo>
                  <a:close/>
                </a:path>
                <a:path w="6333489" h="4686300">
                  <a:moveTo>
                    <a:pt x="23812" y="787841"/>
                  </a:moveTo>
                  <a:lnTo>
                    <a:pt x="0" y="787841"/>
                  </a:lnTo>
                  <a:lnTo>
                    <a:pt x="0" y="716403"/>
                  </a:lnTo>
                  <a:lnTo>
                    <a:pt x="23812" y="716403"/>
                  </a:lnTo>
                  <a:lnTo>
                    <a:pt x="23812" y="787841"/>
                  </a:lnTo>
                  <a:close/>
                </a:path>
                <a:path w="6333489" h="4686300">
                  <a:moveTo>
                    <a:pt x="23812" y="621153"/>
                  </a:moveTo>
                  <a:lnTo>
                    <a:pt x="0" y="621153"/>
                  </a:lnTo>
                  <a:lnTo>
                    <a:pt x="0" y="549716"/>
                  </a:lnTo>
                  <a:lnTo>
                    <a:pt x="23812" y="549716"/>
                  </a:lnTo>
                  <a:lnTo>
                    <a:pt x="23812" y="621153"/>
                  </a:lnTo>
                  <a:close/>
                </a:path>
                <a:path w="6333489" h="4686300">
                  <a:moveTo>
                    <a:pt x="23812" y="454466"/>
                  </a:moveTo>
                  <a:lnTo>
                    <a:pt x="0" y="454466"/>
                  </a:lnTo>
                  <a:lnTo>
                    <a:pt x="0" y="383028"/>
                  </a:lnTo>
                  <a:lnTo>
                    <a:pt x="23812" y="383028"/>
                  </a:lnTo>
                  <a:lnTo>
                    <a:pt x="23812" y="454466"/>
                  </a:lnTo>
                  <a:close/>
                </a:path>
                <a:path w="6333489" h="4686300">
                  <a:moveTo>
                    <a:pt x="23812" y="287778"/>
                  </a:moveTo>
                  <a:lnTo>
                    <a:pt x="0" y="287778"/>
                  </a:lnTo>
                  <a:lnTo>
                    <a:pt x="0" y="216341"/>
                  </a:lnTo>
                  <a:lnTo>
                    <a:pt x="23812" y="216341"/>
                  </a:lnTo>
                  <a:lnTo>
                    <a:pt x="23812" y="287778"/>
                  </a:lnTo>
                  <a:close/>
                </a:path>
                <a:path w="6333489" h="4686300">
                  <a:moveTo>
                    <a:pt x="23812" y="121091"/>
                  </a:moveTo>
                  <a:lnTo>
                    <a:pt x="0" y="121091"/>
                  </a:lnTo>
                  <a:lnTo>
                    <a:pt x="0" y="110299"/>
                  </a:lnTo>
                  <a:lnTo>
                    <a:pt x="8661" y="67347"/>
                  </a:lnTo>
                  <a:lnTo>
                    <a:pt x="24092" y="44452"/>
                  </a:lnTo>
                  <a:lnTo>
                    <a:pt x="41540" y="57795"/>
                  </a:lnTo>
                  <a:lnTo>
                    <a:pt x="33784" y="69770"/>
                  </a:lnTo>
                  <a:lnTo>
                    <a:pt x="28244" y="82512"/>
                  </a:lnTo>
                  <a:lnTo>
                    <a:pt x="24920" y="96023"/>
                  </a:lnTo>
                  <a:lnTo>
                    <a:pt x="23812" y="110299"/>
                  </a:lnTo>
                  <a:lnTo>
                    <a:pt x="23812" y="121091"/>
                  </a:lnTo>
                  <a:close/>
                </a:path>
              </a:pathLst>
            </a:custGeom>
            <a:solidFill>
              <a:srgbClr val="0A1F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531100" y="2092325"/>
            <a:ext cx="60000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0A1F4A"/>
                </a:solidFill>
                <a:latin typeface="Cambria"/>
                <a:cs typeface="Cambria"/>
              </a:rPr>
              <a:t>Matching Information</a:t>
            </a:r>
            <a:endParaRPr sz="2700">
              <a:latin typeface="Cambria"/>
              <a:cs typeface="Cambri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522367" y="2749200"/>
            <a:ext cx="4953000" cy="1071880"/>
            <a:chOff x="7522367" y="2749200"/>
            <a:chExt cx="4953000" cy="1071880"/>
          </a:xfrm>
        </p:grpSpPr>
        <p:sp>
          <p:nvSpPr>
            <p:cNvPr id="23" name="object 23"/>
            <p:cNvSpPr/>
            <p:nvPr/>
          </p:nvSpPr>
          <p:spPr>
            <a:xfrm>
              <a:off x="7536656" y="2763488"/>
              <a:ext cx="4925060" cy="1043305"/>
            </a:xfrm>
            <a:custGeom>
              <a:avLst/>
              <a:gdLst/>
              <a:ahLst/>
              <a:cxnLst/>
              <a:rect l="l" t="t" r="r" b="b"/>
              <a:pathLst>
                <a:path w="4925059" h="1043304">
                  <a:moveTo>
                    <a:pt x="4813363" y="1042987"/>
                  </a:moveTo>
                  <a:lnTo>
                    <a:pt x="111251" y="1042987"/>
                  </a:lnTo>
                  <a:lnTo>
                    <a:pt x="67950" y="1034243"/>
                  </a:lnTo>
                  <a:lnTo>
                    <a:pt x="32587" y="1010400"/>
                  </a:lnTo>
                  <a:lnTo>
                    <a:pt x="8743" y="975037"/>
                  </a:lnTo>
                  <a:lnTo>
                    <a:pt x="0" y="931735"/>
                  </a:lnTo>
                  <a:lnTo>
                    <a:pt x="0" y="111251"/>
                  </a:lnTo>
                  <a:lnTo>
                    <a:pt x="8743" y="67950"/>
                  </a:lnTo>
                  <a:lnTo>
                    <a:pt x="32587" y="32587"/>
                  </a:lnTo>
                  <a:lnTo>
                    <a:pt x="67950" y="8743"/>
                  </a:lnTo>
                  <a:lnTo>
                    <a:pt x="111251" y="0"/>
                  </a:lnTo>
                  <a:lnTo>
                    <a:pt x="4813363" y="0"/>
                  </a:lnTo>
                  <a:lnTo>
                    <a:pt x="4856664" y="8743"/>
                  </a:lnTo>
                  <a:lnTo>
                    <a:pt x="4892027" y="32587"/>
                  </a:lnTo>
                  <a:lnTo>
                    <a:pt x="4915871" y="67950"/>
                  </a:lnTo>
                  <a:lnTo>
                    <a:pt x="4924615" y="111251"/>
                  </a:lnTo>
                  <a:lnTo>
                    <a:pt x="4924615" y="931735"/>
                  </a:lnTo>
                  <a:lnTo>
                    <a:pt x="4915871" y="975037"/>
                  </a:lnTo>
                  <a:lnTo>
                    <a:pt x="4892027" y="1010400"/>
                  </a:lnTo>
                  <a:lnTo>
                    <a:pt x="4856664" y="1034243"/>
                  </a:lnTo>
                  <a:lnTo>
                    <a:pt x="4813363" y="1042987"/>
                  </a:lnTo>
                  <a:close/>
                </a:path>
              </a:pathLst>
            </a:custGeom>
            <a:solidFill>
              <a:srgbClr val="F5F7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536655" y="2763488"/>
              <a:ext cx="4924425" cy="1043305"/>
            </a:xfrm>
            <a:custGeom>
              <a:avLst/>
              <a:gdLst/>
              <a:ahLst/>
              <a:cxnLst/>
              <a:rect l="l" t="t" r="r" b="b"/>
              <a:pathLst>
                <a:path w="4924425" h="1043304">
                  <a:moveTo>
                    <a:pt x="4924385" y="932670"/>
                  </a:moveTo>
                  <a:lnTo>
                    <a:pt x="4915860" y="975053"/>
                  </a:lnTo>
                  <a:lnTo>
                    <a:pt x="4892001" y="1010418"/>
                  </a:lnTo>
                  <a:lnTo>
                    <a:pt x="4856626" y="1034251"/>
                  </a:lnTo>
                  <a:lnTo>
                    <a:pt x="4813322" y="1042987"/>
                  </a:lnTo>
                  <a:lnTo>
                    <a:pt x="111250" y="1042987"/>
                  </a:lnTo>
                  <a:lnTo>
                    <a:pt x="67948" y="1034242"/>
                  </a:lnTo>
                  <a:lnTo>
                    <a:pt x="32585" y="1010396"/>
                  </a:lnTo>
                  <a:lnTo>
                    <a:pt x="8743" y="975033"/>
                  </a:lnTo>
                  <a:lnTo>
                    <a:pt x="0" y="931731"/>
                  </a:lnTo>
                  <a:lnTo>
                    <a:pt x="0" y="111255"/>
                  </a:lnTo>
                  <a:lnTo>
                    <a:pt x="8742" y="67953"/>
                  </a:lnTo>
                  <a:lnTo>
                    <a:pt x="32585" y="32588"/>
                  </a:lnTo>
                  <a:lnTo>
                    <a:pt x="67949" y="8743"/>
                  </a:lnTo>
                  <a:lnTo>
                    <a:pt x="111251" y="0"/>
                  </a:lnTo>
                  <a:lnTo>
                    <a:pt x="4813322" y="0"/>
                  </a:lnTo>
                  <a:lnTo>
                    <a:pt x="4856638" y="8725"/>
                  </a:lnTo>
                  <a:lnTo>
                    <a:pt x="4892017" y="32570"/>
                  </a:lnTo>
                  <a:lnTo>
                    <a:pt x="4915871" y="67945"/>
                  </a:lnTo>
                  <a:lnTo>
                    <a:pt x="4924384" y="110316"/>
                  </a:lnTo>
                </a:path>
              </a:pathLst>
            </a:custGeom>
            <a:ln w="28574">
              <a:solidFill>
                <a:srgbClr val="C8D3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767447" y="2994278"/>
              <a:ext cx="595630" cy="595630"/>
            </a:xfrm>
            <a:custGeom>
              <a:avLst/>
              <a:gdLst/>
              <a:ahLst/>
              <a:cxnLst/>
              <a:rect l="l" t="t" r="r" b="b"/>
              <a:pathLst>
                <a:path w="595629" h="595629">
                  <a:moveTo>
                    <a:pt x="297560" y="595122"/>
                  </a:moveTo>
                  <a:lnTo>
                    <a:pt x="249302" y="591226"/>
                  </a:lnTo>
                  <a:lnTo>
                    <a:pt x="203521" y="579949"/>
                  </a:lnTo>
                  <a:lnTo>
                    <a:pt x="160828" y="561902"/>
                  </a:lnTo>
                  <a:lnTo>
                    <a:pt x="121839" y="537700"/>
                  </a:lnTo>
                  <a:lnTo>
                    <a:pt x="87165" y="507956"/>
                  </a:lnTo>
                  <a:lnTo>
                    <a:pt x="57421" y="473282"/>
                  </a:lnTo>
                  <a:lnTo>
                    <a:pt x="33219" y="434293"/>
                  </a:lnTo>
                  <a:lnTo>
                    <a:pt x="15172" y="391601"/>
                  </a:lnTo>
                  <a:lnTo>
                    <a:pt x="3895" y="345819"/>
                  </a:lnTo>
                  <a:lnTo>
                    <a:pt x="0" y="297561"/>
                  </a:lnTo>
                  <a:lnTo>
                    <a:pt x="3895" y="249303"/>
                  </a:lnTo>
                  <a:lnTo>
                    <a:pt x="15172" y="203521"/>
                  </a:lnTo>
                  <a:lnTo>
                    <a:pt x="33219" y="160828"/>
                  </a:lnTo>
                  <a:lnTo>
                    <a:pt x="57421" y="121839"/>
                  </a:lnTo>
                  <a:lnTo>
                    <a:pt x="87165" y="87165"/>
                  </a:lnTo>
                  <a:lnTo>
                    <a:pt x="121839" y="57421"/>
                  </a:lnTo>
                  <a:lnTo>
                    <a:pt x="160828" y="33219"/>
                  </a:lnTo>
                  <a:lnTo>
                    <a:pt x="203521" y="15172"/>
                  </a:lnTo>
                  <a:lnTo>
                    <a:pt x="249302" y="3895"/>
                  </a:lnTo>
                  <a:lnTo>
                    <a:pt x="297560" y="0"/>
                  </a:lnTo>
                  <a:lnTo>
                    <a:pt x="345819" y="3895"/>
                  </a:lnTo>
                  <a:lnTo>
                    <a:pt x="391600" y="15172"/>
                  </a:lnTo>
                  <a:lnTo>
                    <a:pt x="434293" y="33219"/>
                  </a:lnTo>
                  <a:lnTo>
                    <a:pt x="473282" y="57421"/>
                  </a:lnTo>
                  <a:lnTo>
                    <a:pt x="507956" y="87165"/>
                  </a:lnTo>
                  <a:lnTo>
                    <a:pt x="537700" y="121839"/>
                  </a:lnTo>
                  <a:lnTo>
                    <a:pt x="561902" y="160828"/>
                  </a:lnTo>
                  <a:lnTo>
                    <a:pt x="579949" y="203521"/>
                  </a:lnTo>
                  <a:lnTo>
                    <a:pt x="591226" y="249303"/>
                  </a:lnTo>
                  <a:lnTo>
                    <a:pt x="595121" y="297561"/>
                  </a:lnTo>
                  <a:lnTo>
                    <a:pt x="591226" y="345819"/>
                  </a:lnTo>
                  <a:lnTo>
                    <a:pt x="579949" y="391601"/>
                  </a:lnTo>
                  <a:lnTo>
                    <a:pt x="561902" y="434293"/>
                  </a:lnTo>
                  <a:lnTo>
                    <a:pt x="537700" y="473282"/>
                  </a:lnTo>
                  <a:lnTo>
                    <a:pt x="507956" y="507956"/>
                  </a:lnTo>
                  <a:lnTo>
                    <a:pt x="473282" y="537700"/>
                  </a:lnTo>
                  <a:lnTo>
                    <a:pt x="434293" y="561902"/>
                  </a:lnTo>
                  <a:lnTo>
                    <a:pt x="391600" y="579949"/>
                  </a:lnTo>
                  <a:lnTo>
                    <a:pt x="345819" y="591226"/>
                  </a:lnTo>
                  <a:lnTo>
                    <a:pt x="297560" y="595122"/>
                  </a:lnTo>
                  <a:close/>
                </a:path>
              </a:pathLst>
            </a:custGeom>
            <a:solidFill>
              <a:srgbClr val="0A1F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767442" y="2994274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590446" y="348543"/>
                  </a:moveTo>
                  <a:lnTo>
                    <a:pt x="579962" y="391582"/>
                  </a:lnTo>
                  <a:lnTo>
                    <a:pt x="561913" y="434286"/>
                  </a:lnTo>
                  <a:lnTo>
                    <a:pt x="537706" y="473285"/>
                  </a:lnTo>
                  <a:lnTo>
                    <a:pt x="507953" y="507967"/>
                  </a:lnTo>
                  <a:lnTo>
                    <a:pt x="473268" y="537716"/>
                  </a:lnTo>
                  <a:lnTo>
                    <a:pt x="434267" y="561919"/>
                  </a:lnTo>
                  <a:lnTo>
                    <a:pt x="391562" y="579963"/>
                  </a:lnTo>
                  <a:lnTo>
                    <a:pt x="348541" y="590439"/>
                  </a:lnTo>
                </a:path>
                <a:path w="590550" h="590550">
                  <a:moveTo>
                    <a:pt x="246581" y="590469"/>
                  </a:moveTo>
                  <a:lnTo>
                    <a:pt x="203528" y="579941"/>
                  </a:lnTo>
                  <a:lnTo>
                    <a:pt x="160766" y="561865"/>
                  </a:lnTo>
                  <a:lnTo>
                    <a:pt x="121782" y="537653"/>
                  </a:lnTo>
                  <a:lnTo>
                    <a:pt x="87117" y="507900"/>
                  </a:lnTo>
                  <a:lnTo>
                    <a:pt x="57384" y="473220"/>
                  </a:lnTo>
                  <a:lnTo>
                    <a:pt x="33194" y="434228"/>
                  </a:lnTo>
                  <a:lnTo>
                    <a:pt x="15160" y="391538"/>
                  </a:lnTo>
                  <a:lnTo>
                    <a:pt x="3894" y="345761"/>
                  </a:lnTo>
                  <a:lnTo>
                    <a:pt x="0" y="297511"/>
                  </a:lnTo>
                  <a:lnTo>
                    <a:pt x="3910" y="249265"/>
                  </a:lnTo>
                  <a:lnTo>
                    <a:pt x="15189" y="203495"/>
                  </a:lnTo>
                  <a:lnTo>
                    <a:pt x="33234" y="160814"/>
                  </a:lnTo>
                  <a:lnTo>
                    <a:pt x="57431" y="121836"/>
                  </a:lnTo>
                  <a:lnTo>
                    <a:pt x="87168" y="87171"/>
                  </a:lnTo>
                  <a:lnTo>
                    <a:pt x="121832" y="57432"/>
                  </a:lnTo>
                  <a:lnTo>
                    <a:pt x="160810" y="33233"/>
                  </a:lnTo>
                  <a:lnTo>
                    <a:pt x="203491" y="15185"/>
                  </a:lnTo>
                  <a:lnTo>
                    <a:pt x="249262" y="3903"/>
                  </a:lnTo>
                  <a:lnTo>
                    <a:pt x="297511" y="0"/>
                  </a:lnTo>
                  <a:lnTo>
                    <a:pt x="345764" y="3885"/>
                  </a:lnTo>
                  <a:lnTo>
                    <a:pt x="391544" y="15151"/>
                  </a:lnTo>
                  <a:lnTo>
                    <a:pt x="434238" y="33186"/>
                  </a:lnTo>
                  <a:lnTo>
                    <a:pt x="473232" y="57378"/>
                  </a:lnTo>
                  <a:lnTo>
                    <a:pt x="507913" y="87115"/>
                  </a:lnTo>
                  <a:lnTo>
                    <a:pt x="537668" y="121784"/>
                  </a:lnTo>
                  <a:lnTo>
                    <a:pt x="561881" y="160772"/>
                  </a:lnTo>
                  <a:lnTo>
                    <a:pt x="579938" y="203466"/>
                  </a:lnTo>
                  <a:lnTo>
                    <a:pt x="590469" y="246581"/>
                  </a:lnTo>
                </a:path>
              </a:pathLst>
            </a:custGeom>
            <a:ln w="38100">
              <a:solidFill>
                <a:srgbClr val="0A1F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989448" y="3095878"/>
            <a:ext cx="15113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18651" y="3100831"/>
            <a:ext cx="3013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5B6474"/>
                </a:solidFill>
                <a:latin typeface="Calibri"/>
                <a:cs typeface="Calibri"/>
              </a:rPr>
              <a:t>GPS / reported location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2597287" y="2749200"/>
            <a:ext cx="4953000" cy="1071880"/>
            <a:chOff x="12597287" y="2749200"/>
            <a:chExt cx="4953000" cy="1071880"/>
          </a:xfrm>
        </p:grpSpPr>
        <p:sp>
          <p:nvSpPr>
            <p:cNvPr id="30" name="object 30"/>
            <p:cNvSpPr/>
            <p:nvPr/>
          </p:nvSpPr>
          <p:spPr>
            <a:xfrm>
              <a:off x="12611576" y="2763488"/>
              <a:ext cx="4925060" cy="1043305"/>
            </a:xfrm>
            <a:custGeom>
              <a:avLst/>
              <a:gdLst/>
              <a:ahLst/>
              <a:cxnLst/>
              <a:rect l="l" t="t" r="r" b="b"/>
              <a:pathLst>
                <a:path w="4925059" h="1043304">
                  <a:moveTo>
                    <a:pt x="4813363" y="1042987"/>
                  </a:moveTo>
                  <a:lnTo>
                    <a:pt x="111251" y="1042987"/>
                  </a:lnTo>
                  <a:lnTo>
                    <a:pt x="67950" y="1034243"/>
                  </a:lnTo>
                  <a:lnTo>
                    <a:pt x="32587" y="1010400"/>
                  </a:lnTo>
                  <a:lnTo>
                    <a:pt x="8743" y="975037"/>
                  </a:lnTo>
                  <a:lnTo>
                    <a:pt x="0" y="931735"/>
                  </a:lnTo>
                  <a:lnTo>
                    <a:pt x="0" y="111251"/>
                  </a:lnTo>
                  <a:lnTo>
                    <a:pt x="8743" y="67950"/>
                  </a:lnTo>
                  <a:lnTo>
                    <a:pt x="32587" y="32587"/>
                  </a:lnTo>
                  <a:lnTo>
                    <a:pt x="67950" y="8743"/>
                  </a:lnTo>
                  <a:lnTo>
                    <a:pt x="111251" y="0"/>
                  </a:lnTo>
                  <a:lnTo>
                    <a:pt x="4813363" y="0"/>
                  </a:lnTo>
                  <a:lnTo>
                    <a:pt x="4856664" y="8743"/>
                  </a:lnTo>
                  <a:lnTo>
                    <a:pt x="4892027" y="32587"/>
                  </a:lnTo>
                  <a:lnTo>
                    <a:pt x="4915871" y="67950"/>
                  </a:lnTo>
                  <a:lnTo>
                    <a:pt x="4924615" y="111251"/>
                  </a:lnTo>
                  <a:lnTo>
                    <a:pt x="4924615" y="931735"/>
                  </a:lnTo>
                  <a:lnTo>
                    <a:pt x="4915871" y="975037"/>
                  </a:lnTo>
                  <a:lnTo>
                    <a:pt x="4892027" y="1010400"/>
                  </a:lnTo>
                  <a:lnTo>
                    <a:pt x="4856664" y="1034243"/>
                  </a:lnTo>
                  <a:lnTo>
                    <a:pt x="4813363" y="1042987"/>
                  </a:lnTo>
                  <a:close/>
                </a:path>
              </a:pathLst>
            </a:custGeom>
            <a:solidFill>
              <a:srgbClr val="F5F7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2611575" y="2763488"/>
              <a:ext cx="4924425" cy="1043305"/>
            </a:xfrm>
            <a:custGeom>
              <a:avLst/>
              <a:gdLst/>
              <a:ahLst/>
              <a:cxnLst/>
              <a:rect l="l" t="t" r="r" b="b"/>
              <a:pathLst>
                <a:path w="4924425" h="1043304">
                  <a:moveTo>
                    <a:pt x="4924385" y="932670"/>
                  </a:moveTo>
                  <a:lnTo>
                    <a:pt x="4915860" y="975053"/>
                  </a:lnTo>
                  <a:lnTo>
                    <a:pt x="4892001" y="1010418"/>
                  </a:lnTo>
                  <a:lnTo>
                    <a:pt x="4856626" y="1034251"/>
                  </a:lnTo>
                  <a:lnTo>
                    <a:pt x="4813322" y="1042987"/>
                  </a:lnTo>
                  <a:lnTo>
                    <a:pt x="111250" y="1042987"/>
                  </a:lnTo>
                  <a:lnTo>
                    <a:pt x="67948" y="1034242"/>
                  </a:lnTo>
                  <a:lnTo>
                    <a:pt x="32585" y="1010396"/>
                  </a:lnTo>
                  <a:lnTo>
                    <a:pt x="8743" y="975033"/>
                  </a:lnTo>
                  <a:lnTo>
                    <a:pt x="0" y="931731"/>
                  </a:lnTo>
                  <a:lnTo>
                    <a:pt x="0" y="111255"/>
                  </a:lnTo>
                  <a:lnTo>
                    <a:pt x="8742" y="67953"/>
                  </a:lnTo>
                  <a:lnTo>
                    <a:pt x="32585" y="32588"/>
                  </a:lnTo>
                  <a:lnTo>
                    <a:pt x="67949" y="8743"/>
                  </a:lnTo>
                  <a:lnTo>
                    <a:pt x="111251" y="0"/>
                  </a:lnTo>
                  <a:lnTo>
                    <a:pt x="4813322" y="0"/>
                  </a:lnTo>
                  <a:lnTo>
                    <a:pt x="4856638" y="8725"/>
                  </a:lnTo>
                  <a:lnTo>
                    <a:pt x="4892017" y="32570"/>
                  </a:lnTo>
                  <a:lnTo>
                    <a:pt x="4915871" y="67945"/>
                  </a:lnTo>
                  <a:lnTo>
                    <a:pt x="4924384" y="110316"/>
                  </a:lnTo>
                </a:path>
              </a:pathLst>
            </a:custGeom>
            <a:ln w="28574">
              <a:solidFill>
                <a:srgbClr val="C8D3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2842366" y="2994278"/>
              <a:ext cx="595630" cy="595630"/>
            </a:xfrm>
            <a:custGeom>
              <a:avLst/>
              <a:gdLst/>
              <a:ahLst/>
              <a:cxnLst/>
              <a:rect l="l" t="t" r="r" b="b"/>
              <a:pathLst>
                <a:path w="595630" h="595629">
                  <a:moveTo>
                    <a:pt x="297560" y="595122"/>
                  </a:moveTo>
                  <a:lnTo>
                    <a:pt x="249302" y="591226"/>
                  </a:lnTo>
                  <a:lnTo>
                    <a:pt x="203521" y="579949"/>
                  </a:lnTo>
                  <a:lnTo>
                    <a:pt x="160828" y="561902"/>
                  </a:lnTo>
                  <a:lnTo>
                    <a:pt x="121839" y="537700"/>
                  </a:lnTo>
                  <a:lnTo>
                    <a:pt x="87165" y="507956"/>
                  </a:lnTo>
                  <a:lnTo>
                    <a:pt x="57421" y="473282"/>
                  </a:lnTo>
                  <a:lnTo>
                    <a:pt x="33219" y="434293"/>
                  </a:lnTo>
                  <a:lnTo>
                    <a:pt x="15172" y="391601"/>
                  </a:lnTo>
                  <a:lnTo>
                    <a:pt x="3895" y="345819"/>
                  </a:lnTo>
                  <a:lnTo>
                    <a:pt x="0" y="297561"/>
                  </a:lnTo>
                  <a:lnTo>
                    <a:pt x="3895" y="249303"/>
                  </a:lnTo>
                  <a:lnTo>
                    <a:pt x="15172" y="203521"/>
                  </a:lnTo>
                  <a:lnTo>
                    <a:pt x="33219" y="160828"/>
                  </a:lnTo>
                  <a:lnTo>
                    <a:pt x="57421" y="121839"/>
                  </a:lnTo>
                  <a:lnTo>
                    <a:pt x="87165" y="87165"/>
                  </a:lnTo>
                  <a:lnTo>
                    <a:pt x="121839" y="57421"/>
                  </a:lnTo>
                  <a:lnTo>
                    <a:pt x="160828" y="33219"/>
                  </a:lnTo>
                  <a:lnTo>
                    <a:pt x="203521" y="15172"/>
                  </a:lnTo>
                  <a:lnTo>
                    <a:pt x="249302" y="3895"/>
                  </a:lnTo>
                  <a:lnTo>
                    <a:pt x="297560" y="0"/>
                  </a:lnTo>
                  <a:lnTo>
                    <a:pt x="345819" y="3895"/>
                  </a:lnTo>
                  <a:lnTo>
                    <a:pt x="391600" y="15172"/>
                  </a:lnTo>
                  <a:lnTo>
                    <a:pt x="434293" y="33219"/>
                  </a:lnTo>
                  <a:lnTo>
                    <a:pt x="473282" y="57421"/>
                  </a:lnTo>
                  <a:lnTo>
                    <a:pt x="507956" y="87165"/>
                  </a:lnTo>
                  <a:lnTo>
                    <a:pt x="537700" y="121839"/>
                  </a:lnTo>
                  <a:lnTo>
                    <a:pt x="561902" y="160828"/>
                  </a:lnTo>
                  <a:lnTo>
                    <a:pt x="579949" y="203521"/>
                  </a:lnTo>
                  <a:lnTo>
                    <a:pt x="591226" y="249303"/>
                  </a:lnTo>
                  <a:lnTo>
                    <a:pt x="595121" y="297561"/>
                  </a:lnTo>
                  <a:lnTo>
                    <a:pt x="591226" y="345819"/>
                  </a:lnTo>
                  <a:lnTo>
                    <a:pt x="579949" y="391601"/>
                  </a:lnTo>
                  <a:lnTo>
                    <a:pt x="561902" y="434293"/>
                  </a:lnTo>
                  <a:lnTo>
                    <a:pt x="537700" y="473282"/>
                  </a:lnTo>
                  <a:lnTo>
                    <a:pt x="507956" y="507956"/>
                  </a:lnTo>
                  <a:lnTo>
                    <a:pt x="473282" y="537700"/>
                  </a:lnTo>
                  <a:lnTo>
                    <a:pt x="434293" y="561902"/>
                  </a:lnTo>
                  <a:lnTo>
                    <a:pt x="391600" y="579949"/>
                  </a:lnTo>
                  <a:lnTo>
                    <a:pt x="345819" y="591226"/>
                  </a:lnTo>
                  <a:lnTo>
                    <a:pt x="297560" y="595122"/>
                  </a:lnTo>
                  <a:close/>
                </a:path>
              </a:pathLst>
            </a:custGeom>
            <a:solidFill>
              <a:srgbClr val="0A1F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2842363" y="2994274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590446" y="348543"/>
                  </a:moveTo>
                  <a:lnTo>
                    <a:pt x="579962" y="391582"/>
                  </a:lnTo>
                  <a:lnTo>
                    <a:pt x="561913" y="434286"/>
                  </a:lnTo>
                  <a:lnTo>
                    <a:pt x="537705" y="473286"/>
                  </a:lnTo>
                  <a:lnTo>
                    <a:pt x="507953" y="507967"/>
                  </a:lnTo>
                  <a:lnTo>
                    <a:pt x="473268" y="537716"/>
                  </a:lnTo>
                  <a:lnTo>
                    <a:pt x="434267" y="561919"/>
                  </a:lnTo>
                  <a:lnTo>
                    <a:pt x="391562" y="579964"/>
                  </a:lnTo>
                  <a:lnTo>
                    <a:pt x="348541" y="590439"/>
                  </a:lnTo>
                </a:path>
                <a:path w="590550" h="590550">
                  <a:moveTo>
                    <a:pt x="246581" y="590469"/>
                  </a:moveTo>
                  <a:lnTo>
                    <a:pt x="203528" y="579941"/>
                  </a:lnTo>
                  <a:lnTo>
                    <a:pt x="160766" y="561865"/>
                  </a:lnTo>
                  <a:lnTo>
                    <a:pt x="121782" y="537653"/>
                  </a:lnTo>
                  <a:lnTo>
                    <a:pt x="87117" y="507900"/>
                  </a:lnTo>
                  <a:lnTo>
                    <a:pt x="57384" y="473220"/>
                  </a:lnTo>
                  <a:lnTo>
                    <a:pt x="33194" y="434228"/>
                  </a:lnTo>
                  <a:lnTo>
                    <a:pt x="15160" y="391538"/>
                  </a:lnTo>
                  <a:lnTo>
                    <a:pt x="3894" y="345761"/>
                  </a:lnTo>
                  <a:lnTo>
                    <a:pt x="0" y="297511"/>
                  </a:lnTo>
                  <a:lnTo>
                    <a:pt x="3910" y="249265"/>
                  </a:lnTo>
                  <a:lnTo>
                    <a:pt x="15189" y="203495"/>
                  </a:lnTo>
                  <a:lnTo>
                    <a:pt x="33234" y="160814"/>
                  </a:lnTo>
                  <a:lnTo>
                    <a:pt x="57431" y="121836"/>
                  </a:lnTo>
                  <a:lnTo>
                    <a:pt x="87168" y="87171"/>
                  </a:lnTo>
                  <a:lnTo>
                    <a:pt x="121832" y="57432"/>
                  </a:lnTo>
                  <a:lnTo>
                    <a:pt x="160810" y="33233"/>
                  </a:lnTo>
                  <a:lnTo>
                    <a:pt x="203491" y="15185"/>
                  </a:lnTo>
                  <a:lnTo>
                    <a:pt x="249262" y="3903"/>
                  </a:lnTo>
                  <a:lnTo>
                    <a:pt x="297511" y="0"/>
                  </a:lnTo>
                  <a:lnTo>
                    <a:pt x="345764" y="3885"/>
                  </a:lnTo>
                  <a:lnTo>
                    <a:pt x="391544" y="15151"/>
                  </a:lnTo>
                  <a:lnTo>
                    <a:pt x="434238" y="33186"/>
                  </a:lnTo>
                  <a:lnTo>
                    <a:pt x="473232" y="57378"/>
                  </a:lnTo>
                  <a:lnTo>
                    <a:pt x="507913" y="87115"/>
                  </a:lnTo>
                  <a:lnTo>
                    <a:pt x="537668" y="121784"/>
                  </a:lnTo>
                  <a:lnTo>
                    <a:pt x="561881" y="160772"/>
                  </a:lnTo>
                  <a:lnTo>
                    <a:pt x="579938" y="203466"/>
                  </a:lnTo>
                  <a:lnTo>
                    <a:pt x="590469" y="246581"/>
                  </a:lnTo>
                </a:path>
              </a:pathLst>
            </a:custGeom>
            <a:ln w="38100">
              <a:solidFill>
                <a:srgbClr val="0A1F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3064368" y="3095878"/>
            <a:ext cx="15113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593571" y="3100831"/>
            <a:ext cx="3013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5B6474"/>
                </a:solidFill>
                <a:latin typeface="Calibri"/>
                <a:cs typeface="Calibri"/>
              </a:rPr>
              <a:t>Distance between locations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00000" y="3968750"/>
            <a:ext cx="5800000" cy="75311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13030" marR="5080" indent="-100965">
              <a:lnSpc>
                <a:spcPts val="2850"/>
              </a:lnSpc>
              <a:spcBef>
                <a:spcPts val="219"/>
              </a:spcBef>
            </a:pPr>
            <a:r>
              <a:rPr sz="2400" i="1" dirty="0">
                <a:solidFill>
                  <a:srgbClr val="5B6474"/>
                </a:solidFill>
                <a:latin typeface="Calibri"/>
                <a:cs typeface="Calibri"/>
              </a:rPr>
              <a:t>Call 1 · 10:05 · bike accident at junction</a:t>
            </a:r>
            <a:endParaRPr sz="2400" dirty="0">
              <a:latin typeface="Calibri"/>
              <a:cs typeface="Calibri"/>
            </a:endParaRPr>
          </a:p>
          <a:p>
            <a:pPr marL="113030" marR="5080" indent="-100965">
              <a:lnSpc>
                <a:spcPts val="2850"/>
              </a:lnSpc>
              <a:spcBef>
                <a:spcPts val="219"/>
              </a:spcBef>
            </a:pPr>
            <a:r>
              <a:rPr sz="2400" i="1" dirty="0">
                <a:solidFill>
                  <a:srgbClr val="5B6474"/>
                </a:solidFill>
                <a:latin typeface="Calibri"/>
                <a:cs typeface="Calibri"/>
              </a:rPr>
              <a:t>Call 2 · 10:06 · accident near same junction</a:t>
            </a:r>
            <a:endParaRPr sz="2400" dirty="0">
              <a:latin typeface="Calibri"/>
              <a:cs typeface="Calibri"/>
            </a:endParaRPr>
          </a:p>
          <a:p>
            <a:pPr marL="113030" marR="5080" indent="-100965">
              <a:lnSpc>
                <a:spcPts val="2850"/>
              </a:lnSpc>
              <a:spcBef>
                <a:spcPts val="219"/>
              </a:spcBef>
            </a:pPr>
            <a:r>
              <a:rPr sz="2400" i="1" dirty="0">
                <a:solidFill>
                  <a:srgbClr val="5B6474"/>
                </a:solidFill>
                <a:latin typeface="Calibri"/>
                <a:cs typeface="Calibri"/>
              </a:rPr>
              <a:t>Call 3 · 10:07 · two injured, same place</a:t>
            </a:r>
            <a:endParaRPr sz="2400" dirty="0">
              <a:latin typeface="Calibri"/>
              <a:cs typeface="Calibri"/>
            </a:endParaRPr>
          </a:p>
          <a:p>
            <a:pPr marL="113030" marR="5080" indent="-100965">
              <a:lnSpc>
                <a:spcPts val="2850"/>
              </a:lnSpc>
              <a:spcBef>
                <a:spcPts val="219"/>
              </a:spcBef>
            </a:pPr>
            <a:r>
              <a:rPr sz="2400" i="1" dirty="0">
                <a:solidFill>
                  <a:srgbClr val="5B6474"/>
                </a:solidFill>
                <a:latin typeface="Calibri"/>
                <a:cs typeface="Calibri"/>
              </a:rPr>
              <a:t>⇒  1 Incident ID  ·  3 linked reports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522367" y="3983640"/>
            <a:ext cx="4953000" cy="1071880"/>
            <a:chOff x="7522367" y="3983640"/>
            <a:chExt cx="4953000" cy="1071880"/>
          </a:xfrm>
        </p:grpSpPr>
        <p:sp>
          <p:nvSpPr>
            <p:cNvPr id="37" name="object 37"/>
            <p:cNvSpPr/>
            <p:nvPr/>
          </p:nvSpPr>
          <p:spPr>
            <a:xfrm>
              <a:off x="7536656" y="3997927"/>
              <a:ext cx="4925060" cy="1043305"/>
            </a:xfrm>
            <a:custGeom>
              <a:avLst/>
              <a:gdLst/>
              <a:ahLst/>
              <a:cxnLst/>
              <a:rect l="l" t="t" r="r" b="b"/>
              <a:pathLst>
                <a:path w="4925059" h="1043304">
                  <a:moveTo>
                    <a:pt x="4813363" y="1042987"/>
                  </a:moveTo>
                  <a:lnTo>
                    <a:pt x="111251" y="1042987"/>
                  </a:lnTo>
                  <a:lnTo>
                    <a:pt x="67950" y="1034243"/>
                  </a:lnTo>
                  <a:lnTo>
                    <a:pt x="32587" y="1010400"/>
                  </a:lnTo>
                  <a:lnTo>
                    <a:pt x="8743" y="975037"/>
                  </a:lnTo>
                  <a:lnTo>
                    <a:pt x="0" y="931735"/>
                  </a:lnTo>
                  <a:lnTo>
                    <a:pt x="0" y="111251"/>
                  </a:lnTo>
                  <a:lnTo>
                    <a:pt x="8743" y="67950"/>
                  </a:lnTo>
                  <a:lnTo>
                    <a:pt x="32587" y="32587"/>
                  </a:lnTo>
                  <a:lnTo>
                    <a:pt x="67950" y="8743"/>
                  </a:lnTo>
                  <a:lnTo>
                    <a:pt x="111251" y="0"/>
                  </a:lnTo>
                  <a:lnTo>
                    <a:pt x="4813363" y="0"/>
                  </a:lnTo>
                  <a:lnTo>
                    <a:pt x="4856664" y="8743"/>
                  </a:lnTo>
                  <a:lnTo>
                    <a:pt x="4892027" y="32587"/>
                  </a:lnTo>
                  <a:lnTo>
                    <a:pt x="4915871" y="67950"/>
                  </a:lnTo>
                  <a:lnTo>
                    <a:pt x="4924615" y="111251"/>
                  </a:lnTo>
                  <a:lnTo>
                    <a:pt x="4924615" y="931735"/>
                  </a:lnTo>
                  <a:lnTo>
                    <a:pt x="4915871" y="975037"/>
                  </a:lnTo>
                  <a:lnTo>
                    <a:pt x="4892027" y="1010400"/>
                  </a:lnTo>
                  <a:lnTo>
                    <a:pt x="4856664" y="1034243"/>
                  </a:lnTo>
                  <a:lnTo>
                    <a:pt x="4813363" y="1042987"/>
                  </a:lnTo>
                  <a:close/>
                </a:path>
              </a:pathLst>
            </a:custGeom>
            <a:solidFill>
              <a:srgbClr val="F5F7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536655" y="3997928"/>
              <a:ext cx="4924425" cy="1043305"/>
            </a:xfrm>
            <a:custGeom>
              <a:avLst/>
              <a:gdLst/>
              <a:ahLst/>
              <a:cxnLst/>
              <a:rect l="l" t="t" r="r" b="b"/>
              <a:pathLst>
                <a:path w="4924425" h="1043304">
                  <a:moveTo>
                    <a:pt x="4924385" y="932670"/>
                  </a:moveTo>
                  <a:lnTo>
                    <a:pt x="4915860" y="975053"/>
                  </a:lnTo>
                  <a:lnTo>
                    <a:pt x="4892001" y="1010418"/>
                  </a:lnTo>
                  <a:lnTo>
                    <a:pt x="4856626" y="1034251"/>
                  </a:lnTo>
                  <a:lnTo>
                    <a:pt x="4813322" y="1042987"/>
                  </a:lnTo>
                  <a:lnTo>
                    <a:pt x="111250" y="1042987"/>
                  </a:lnTo>
                  <a:lnTo>
                    <a:pt x="67948" y="1034242"/>
                  </a:lnTo>
                  <a:lnTo>
                    <a:pt x="32585" y="1010396"/>
                  </a:lnTo>
                  <a:lnTo>
                    <a:pt x="8743" y="975033"/>
                  </a:lnTo>
                  <a:lnTo>
                    <a:pt x="0" y="931731"/>
                  </a:lnTo>
                  <a:lnTo>
                    <a:pt x="0" y="111255"/>
                  </a:lnTo>
                  <a:lnTo>
                    <a:pt x="8742" y="67953"/>
                  </a:lnTo>
                  <a:lnTo>
                    <a:pt x="32585" y="32588"/>
                  </a:lnTo>
                  <a:lnTo>
                    <a:pt x="67949" y="8743"/>
                  </a:lnTo>
                  <a:lnTo>
                    <a:pt x="111251" y="0"/>
                  </a:lnTo>
                  <a:lnTo>
                    <a:pt x="4813322" y="0"/>
                  </a:lnTo>
                  <a:lnTo>
                    <a:pt x="4856638" y="8725"/>
                  </a:lnTo>
                  <a:lnTo>
                    <a:pt x="4892017" y="32570"/>
                  </a:lnTo>
                  <a:lnTo>
                    <a:pt x="4915871" y="67945"/>
                  </a:lnTo>
                  <a:lnTo>
                    <a:pt x="4924384" y="110316"/>
                  </a:lnTo>
                </a:path>
              </a:pathLst>
            </a:custGeom>
            <a:ln w="28574">
              <a:solidFill>
                <a:srgbClr val="C8D3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767447" y="4228718"/>
              <a:ext cx="595630" cy="595630"/>
            </a:xfrm>
            <a:custGeom>
              <a:avLst/>
              <a:gdLst/>
              <a:ahLst/>
              <a:cxnLst/>
              <a:rect l="l" t="t" r="r" b="b"/>
              <a:pathLst>
                <a:path w="595629" h="595629">
                  <a:moveTo>
                    <a:pt x="297560" y="595121"/>
                  </a:moveTo>
                  <a:lnTo>
                    <a:pt x="249302" y="591226"/>
                  </a:lnTo>
                  <a:lnTo>
                    <a:pt x="203521" y="579949"/>
                  </a:lnTo>
                  <a:lnTo>
                    <a:pt x="160828" y="561902"/>
                  </a:lnTo>
                  <a:lnTo>
                    <a:pt x="121839" y="537700"/>
                  </a:lnTo>
                  <a:lnTo>
                    <a:pt x="87165" y="507956"/>
                  </a:lnTo>
                  <a:lnTo>
                    <a:pt x="57421" y="473282"/>
                  </a:lnTo>
                  <a:lnTo>
                    <a:pt x="33219" y="434293"/>
                  </a:lnTo>
                  <a:lnTo>
                    <a:pt x="15172" y="391600"/>
                  </a:lnTo>
                  <a:lnTo>
                    <a:pt x="3895" y="345819"/>
                  </a:lnTo>
                  <a:lnTo>
                    <a:pt x="0" y="297560"/>
                  </a:lnTo>
                  <a:lnTo>
                    <a:pt x="3895" y="249302"/>
                  </a:lnTo>
                  <a:lnTo>
                    <a:pt x="15172" y="203521"/>
                  </a:lnTo>
                  <a:lnTo>
                    <a:pt x="33219" y="160828"/>
                  </a:lnTo>
                  <a:lnTo>
                    <a:pt x="57421" y="121839"/>
                  </a:lnTo>
                  <a:lnTo>
                    <a:pt x="87165" y="87165"/>
                  </a:lnTo>
                  <a:lnTo>
                    <a:pt x="121839" y="57421"/>
                  </a:lnTo>
                  <a:lnTo>
                    <a:pt x="160828" y="33219"/>
                  </a:lnTo>
                  <a:lnTo>
                    <a:pt x="203521" y="15172"/>
                  </a:lnTo>
                  <a:lnTo>
                    <a:pt x="249302" y="3895"/>
                  </a:lnTo>
                  <a:lnTo>
                    <a:pt x="297560" y="0"/>
                  </a:lnTo>
                  <a:lnTo>
                    <a:pt x="345819" y="3895"/>
                  </a:lnTo>
                  <a:lnTo>
                    <a:pt x="391600" y="15172"/>
                  </a:lnTo>
                  <a:lnTo>
                    <a:pt x="434293" y="33219"/>
                  </a:lnTo>
                  <a:lnTo>
                    <a:pt x="473282" y="57421"/>
                  </a:lnTo>
                  <a:lnTo>
                    <a:pt x="507956" y="87165"/>
                  </a:lnTo>
                  <a:lnTo>
                    <a:pt x="537700" y="121839"/>
                  </a:lnTo>
                  <a:lnTo>
                    <a:pt x="561902" y="160828"/>
                  </a:lnTo>
                  <a:lnTo>
                    <a:pt x="579949" y="203521"/>
                  </a:lnTo>
                  <a:lnTo>
                    <a:pt x="591226" y="249302"/>
                  </a:lnTo>
                  <a:lnTo>
                    <a:pt x="595121" y="297560"/>
                  </a:lnTo>
                  <a:lnTo>
                    <a:pt x="591226" y="345819"/>
                  </a:lnTo>
                  <a:lnTo>
                    <a:pt x="579949" y="391600"/>
                  </a:lnTo>
                  <a:lnTo>
                    <a:pt x="561902" y="434293"/>
                  </a:lnTo>
                  <a:lnTo>
                    <a:pt x="537700" y="473282"/>
                  </a:lnTo>
                  <a:lnTo>
                    <a:pt x="507956" y="507956"/>
                  </a:lnTo>
                  <a:lnTo>
                    <a:pt x="473282" y="537700"/>
                  </a:lnTo>
                  <a:lnTo>
                    <a:pt x="434293" y="561902"/>
                  </a:lnTo>
                  <a:lnTo>
                    <a:pt x="391600" y="579949"/>
                  </a:lnTo>
                  <a:lnTo>
                    <a:pt x="345819" y="591226"/>
                  </a:lnTo>
                  <a:lnTo>
                    <a:pt x="297560" y="595121"/>
                  </a:lnTo>
                  <a:close/>
                </a:path>
              </a:pathLst>
            </a:custGeom>
            <a:solidFill>
              <a:srgbClr val="0A1F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767442" y="4228714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590446" y="348543"/>
                  </a:moveTo>
                  <a:lnTo>
                    <a:pt x="579962" y="391582"/>
                  </a:lnTo>
                  <a:lnTo>
                    <a:pt x="561913" y="434286"/>
                  </a:lnTo>
                  <a:lnTo>
                    <a:pt x="537705" y="473285"/>
                  </a:lnTo>
                  <a:lnTo>
                    <a:pt x="507952" y="507967"/>
                  </a:lnTo>
                  <a:lnTo>
                    <a:pt x="473268" y="537716"/>
                  </a:lnTo>
                  <a:lnTo>
                    <a:pt x="434267" y="561919"/>
                  </a:lnTo>
                  <a:lnTo>
                    <a:pt x="391562" y="579963"/>
                  </a:lnTo>
                  <a:lnTo>
                    <a:pt x="348541" y="590439"/>
                  </a:lnTo>
                </a:path>
                <a:path w="590550" h="590550">
                  <a:moveTo>
                    <a:pt x="246581" y="590469"/>
                  </a:moveTo>
                  <a:lnTo>
                    <a:pt x="203528" y="579941"/>
                  </a:lnTo>
                  <a:lnTo>
                    <a:pt x="160766" y="561865"/>
                  </a:lnTo>
                  <a:lnTo>
                    <a:pt x="121782" y="537653"/>
                  </a:lnTo>
                  <a:lnTo>
                    <a:pt x="87117" y="507900"/>
                  </a:lnTo>
                  <a:lnTo>
                    <a:pt x="57384" y="473220"/>
                  </a:lnTo>
                  <a:lnTo>
                    <a:pt x="33194" y="434228"/>
                  </a:lnTo>
                  <a:lnTo>
                    <a:pt x="15160" y="391538"/>
                  </a:lnTo>
                  <a:lnTo>
                    <a:pt x="3894" y="345761"/>
                  </a:lnTo>
                  <a:lnTo>
                    <a:pt x="0" y="297511"/>
                  </a:lnTo>
                  <a:lnTo>
                    <a:pt x="3909" y="249264"/>
                  </a:lnTo>
                  <a:lnTo>
                    <a:pt x="15189" y="203495"/>
                  </a:lnTo>
                  <a:lnTo>
                    <a:pt x="33234" y="160814"/>
                  </a:lnTo>
                  <a:lnTo>
                    <a:pt x="57431" y="121836"/>
                  </a:lnTo>
                  <a:lnTo>
                    <a:pt x="87168" y="87171"/>
                  </a:lnTo>
                  <a:lnTo>
                    <a:pt x="121832" y="57432"/>
                  </a:lnTo>
                  <a:lnTo>
                    <a:pt x="160810" y="33233"/>
                  </a:lnTo>
                  <a:lnTo>
                    <a:pt x="203491" y="15185"/>
                  </a:lnTo>
                  <a:lnTo>
                    <a:pt x="249262" y="3903"/>
                  </a:lnTo>
                  <a:lnTo>
                    <a:pt x="297511" y="0"/>
                  </a:lnTo>
                  <a:lnTo>
                    <a:pt x="345764" y="3885"/>
                  </a:lnTo>
                  <a:lnTo>
                    <a:pt x="391544" y="15151"/>
                  </a:lnTo>
                  <a:lnTo>
                    <a:pt x="434238" y="33186"/>
                  </a:lnTo>
                  <a:lnTo>
                    <a:pt x="473232" y="57378"/>
                  </a:lnTo>
                  <a:lnTo>
                    <a:pt x="507913" y="87115"/>
                  </a:lnTo>
                  <a:lnTo>
                    <a:pt x="537668" y="121784"/>
                  </a:lnTo>
                  <a:lnTo>
                    <a:pt x="561881" y="160772"/>
                  </a:lnTo>
                  <a:lnTo>
                    <a:pt x="579938" y="203466"/>
                  </a:lnTo>
                  <a:lnTo>
                    <a:pt x="590469" y="246581"/>
                  </a:lnTo>
                </a:path>
              </a:pathLst>
            </a:custGeom>
            <a:ln w="38100">
              <a:solidFill>
                <a:srgbClr val="0A1F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989448" y="4330319"/>
            <a:ext cx="15113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518651" y="4335271"/>
            <a:ext cx="3013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5B6474"/>
                </a:solidFill>
                <a:latin typeface="Calibri"/>
                <a:cs typeface="Calibri"/>
              </a:rPr>
              <a:t>Time gap between calls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2597287" y="3983640"/>
            <a:ext cx="4953000" cy="1071880"/>
            <a:chOff x="12597287" y="3983640"/>
            <a:chExt cx="4953000" cy="1071880"/>
          </a:xfrm>
        </p:grpSpPr>
        <p:sp>
          <p:nvSpPr>
            <p:cNvPr id="44" name="object 44"/>
            <p:cNvSpPr/>
            <p:nvPr/>
          </p:nvSpPr>
          <p:spPr>
            <a:xfrm>
              <a:off x="12611576" y="3997927"/>
              <a:ext cx="4925060" cy="1043305"/>
            </a:xfrm>
            <a:custGeom>
              <a:avLst/>
              <a:gdLst/>
              <a:ahLst/>
              <a:cxnLst/>
              <a:rect l="l" t="t" r="r" b="b"/>
              <a:pathLst>
                <a:path w="4925059" h="1043304">
                  <a:moveTo>
                    <a:pt x="4813363" y="1042987"/>
                  </a:moveTo>
                  <a:lnTo>
                    <a:pt x="111251" y="1042987"/>
                  </a:lnTo>
                  <a:lnTo>
                    <a:pt x="67950" y="1034243"/>
                  </a:lnTo>
                  <a:lnTo>
                    <a:pt x="32587" y="1010400"/>
                  </a:lnTo>
                  <a:lnTo>
                    <a:pt x="8743" y="975037"/>
                  </a:lnTo>
                  <a:lnTo>
                    <a:pt x="0" y="931735"/>
                  </a:lnTo>
                  <a:lnTo>
                    <a:pt x="0" y="111251"/>
                  </a:lnTo>
                  <a:lnTo>
                    <a:pt x="8743" y="67950"/>
                  </a:lnTo>
                  <a:lnTo>
                    <a:pt x="32587" y="32587"/>
                  </a:lnTo>
                  <a:lnTo>
                    <a:pt x="67950" y="8743"/>
                  </a:lnTo>
                  <a:lnTo>
                    <a:pt x="111251" y="0"/>
                  </a:lnTo>
                  <a:lnTo>
                    <a:pt x="4813363" y="0"/>
                  </a:lnTo>
                  <a:lnTo>
                    <a:pt x="4856664" y="8743"/>
                  </a:lnTo>
                  <a:lnTo>
                    <a:pt x="4892027" y="32587"/>
                  </a:lnTo>
                  <a:lnTo>
                    <a:pt x="4915871" y="67950"/>
                  </a:lnTo>
                  <a:lnTo>
                    <a:pt x="4924615" y="111251"/>
                  </a:lnTo>
                  <a:lnTo>
                    <a:pt x="4924615" y="931735"/>
                  </a:lnTo>
                  <a:lnTo>
                    <a:pt x="4915871" y="975037"/>
                  </a:lnTo>
                  <a:lnTo>
                    <a:pt x="4892027" y="1010400"/>
                  </a:lnTo>
                  <a:lnTo>
                    <a:pt x="4856664" y="1034243"/>
                  </a:lnTo>
                  <a:lnTo>
                    <a:pt x="4813363" y="1042987"/>
                  </a:lnTo>
                  <a:close/>
                </a:path>
              </a:pathLst>
            </a:custGeom>
            <a:solidFill>
              <a:srgbClr val="F5F7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2611575" y="3997928"/>
              <a:ext cx="4924425" cy="1043305"/>
            </a:xfrm>
            <a:custGeom>
              <a:avLst/>
              <a:gdLst/>
              <a:ahLst/>
              <a:cxnLst/>
              <a:rect l="l" t="t" r="r" b="b"/>
              <a:pathLst>
                <a:path w="4924425" h="1043304">
                  <a:moveTo>
                    <a:pt x="4924384" y="932670"/>
                  </a:moveTo>
                  <a:lnTo>
                    <a:pt x="4915860" y="975053"/>
                  </a:lnTo>
                  <a:lnTo>
                    <a:pt x="4892001" y="1010418"/>
                  </a:lnTo>
                  <a:lnTo>
                    <a:pt x="4856626" y="1034251"/>
                  </a:lnTo>
                  <a:lnTo>
                    <a:pt x="4813322" y="1042987"/>
                  </a:lnTo>
                  <a:lnTo>
                    <a:pt x="111250" y="1042987"/>
                  </a:lnTo>
                  <a:lnTo>
                    <a:pt x="67948" y="1034242"/>
                  </a:lnTo>
                  <a:lnTo>
                    <a:pt x="32585" y="1010396"/>
                  </a:lnTo>
                  <a:lnTo>
                    <a:pt x="8743" y="975033"/>
                  </a:lnTo>
                  <a:lnTo>
                    <a:pt x="0" y="931731"/>
                  </a:lnTo>
                  <a:lnTo>
                    <a:pt x="0" y="111255"/>
                  </a:lnTo>
                  <a:lnTo>
                    <a:pt x="8742" y="67953"/>
                  </a:lnTo>
                  <a:lnTo>
                    <a:pt x="32585" y="32588"/>
                  </a:lnTo>
                  <a:lnTo>
                    <a:pt x="67949" y="8743"/>
                  </a:lnTo>
                  <a:lnTo>
                    <a:pt x="111251" y="0"/>
                  </a:lnTo>
                  <a:lnTo>
                    <a:pt x="4813322" y="0"/>
                  </a:lnTo>
                  <a:lnTo>
                    <a:pt x="4856638" y="8725"/>
                  </a:lnTo>
                  <a:lnTo>
                    <a:pt x="4892017" y="32570"/>
                  </a:lnTo>
                  <a:lnTo>
                    <a:pt x="4915871" y="67945"/>
                  </a:lnTo>
                  <a:lnTo>
                    <a:pt x="4924384" y="110316"/>
                  </a:lnTo>
                </a:path>
              </a:pathLst>
            </a:custGeom>
            <a:ln w="28574">
              <a:solidFill>
                <a:srgbClr val="C8D3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2842366" y="4228718"/>
              <a:ext cx="595630" cy="595630"/>
            </a:xfrm>
            <a:custGeom>
              <a:avLst/>
              <a:gdLst/>
              <a:ahLst/>
              <a:cxnLst/>
              <a:rect l="l" t="t" r="r" b="b"/>
              <a:pathLst>
                <a:path w="595630" h="595629">
                  <a:moveTo>
                    <a:pt x="297560" y="595121"/>
                  </a:moveTo>
                  <a:lnTo>
                    <a:pt x="249302" y="591226"/>
                  </a:lnTo>
                  <a:lnTo>
                    <a:pt x="203521" y="579949"/>
                  </a:lnTo>
                  <a:lnTo>
                    <a:pt x="160828" y="561902"/>
                  </a:lnTo>
                  <a:lnTo>
                    <a:pt x="121839" y="537700"/>
                  </a:lnTo>
                  <a:lnTo>
                    <a:pt x="87165" y="507956"/>
                  </a:lnTo>
                  <a:lnTo>
                    <a:pt x="57421" y="473282"/>
                  </a:lnTo>
                  <a:lnTo>
                    <a:pt x="33219" y="434293"/>
                  </a:lnTo>
                  <a:lnTo>
                    <a:pt x="15172" y="391600"/>
                  </a:lnTo>
                  <a:lnTo>
                    <a:pt x="3895" y="345819"/>
                  </a:lnTo>
                  <a:lnTo>
                    <a:pt x="0" y="297560"/>
                  </a:lnTo>
                  <a:lnTo>
                    <a:pt x="3895" y="249302"/>
                  </a:lnTo>
                  <a:lnTo>
                    <a:pt x="15172" y="203521"/>
                  </a:lnTo>
                  <a:lnTo>
                    <a:pt x="33219" y="160828"/>
                  </a:lnTo>
                  <a:lnTo>
                    <a:pt x="57421" y="121839"/>
                  </a:lnTo>
                  <a:lnTo>
                    <a:pt x="87165" y="87165"/>
                  </a:lnTo>
                  <a:lnTo>
                    <a:pt x="121839" y="57421"/>
                  </a:lnTo>
                  <a:lnTo>
                    <a:pt x="160828" y="33219"/>
                  </a:lnTo>
                  <a:lnTo>
                    <a:pt x="203521" y="15172"/>
                  </a:lnTo>
                  <a:lnTo>
                    <a:pt x="249302" y="3895"/>
                  </a:lnTo>
                  <a:lnTo>
                    <a:pt x="297560" y="0"/>
                  </a:lnTo>
                  <a:lnTo>
                    <a:pt x="345819" y="3895"/>
                  </a:lnTo>
                  <a:lnTo>
                    <a:pt x="391600" y="15172"/>
                  </a:lnTo>
                  <a:lnTo>
                    <a:pt x="434293" y="33219"/>
                  </a:lnTo>
                  <a:lnTo>
                    <a:pt x="473282" y="57421"/>
                  </a:lnTo>
                  <a:lnTo>
                    <a:pt x="507956" y="87165"/>
                  </a:lnTo>
                  <a:lnTo>
                    <a:pt x="537700" y="121839"/>
                  </a:lnTo>
                  <a:lnTo>
                    <a:pt x="561902" y="160828"/>
                  </a:lnTo>
                  <a:lnTo>
                    <a:pt x="579949" y="203521"/>
                  </a:lnTo>
                  <a:lnTo>
                    <a:pt x="591226" y="249302"/>
                  </a:lnTo>
                  <a:lnTo>
                    <a:pt x="595121" y="297560"/>
                  </a:lnTo>
                  <a:lnTo>
                    <a:pt x="591226" y="345819"/>
                  </a:lnTo>
                  <a:lnTo>
                    <a:pt x="579949" y="391600"/>
                  </a:lnTo>
                  <a:lnTo>
                    <a:pt x="561902" y="434293"/>
                  </a:lnTo>
                  <a:lnTo>
                    <a:pt x="537700" y="473282"/>
                  </a:lnTo>
                  <a:lnTo>
                    <a:pt x="507956" y="507956"/>
                  </a:lnTo>
                  <a:lnTo>
                    <a:pt x="473282" y="537700"/>
                  </a:lnTo>
                  <a:lnTo>
                    <a:pt x="434293" y="561902"/>
                  </a:lnTo>
                  <a:lnTo>
                    <a:pt x="391600" y="579949"/>
                  </a:lnTo>
                  <a:lnTo>
                    <a:pt x="345819" y="591226"/>
                  </a:lnTo>
                  <a:lnTo>
                    <a:pt x="297560" y="595121"/>
                  </a:lnTo>
                  <a:close/>
                </a:path>
              </a:pathLst>
            </a:custGeom>
            <a:solidFill>
              <a:srgbClr val="0A1F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2842363" y="4228714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590446" y="348543"/>
                  </a:moveTo>
                  <a:lnTo>
                    <a:pt x="579962" y="391582"/>
                  </a:lnTo>
                  <a:lnTo>
                    <a:pt x="561913" y="434286"/>
                  </a:lnTo>
                  <a:lnTo>
                    <a:pt x="537705" y="473285"/>
                  </a:lnTo>
                  <a:lnTo>
                    <a:pt x="507952" y="507967"/>
                  </a:lnTo>
                  <a:lnTo>
                    <a:pt x="473268" y="537716"/>
                  </a:lnTo>
                  <a:lnTo>
                    <a:pt x="434267" y="561919"/>
                  </a:lnTo>
                  <a:lnTo>
                    <a:pt x="391562" y="579963"/>
                  </a:lnTo>
                  <a:lnTo>
                    <a:pt x="348541" y="590439"/>
                  </a:lnTo>
                </a:path>
                <a:path w="590550" h="590550">
                  <a:moveTo>
                    <a:pt x="246581" y="590469"/>
                  </a:moveTo>
                  <a:lnTo>
                    <a:pt x="203528" y="579941"/>
                  </a:lnTo>
                  <a:lnTo>
                    <a:pt x="160766" y="561865"/>
                  </a:lnTo>
                  <a:lnTo>
                    <a:pt x="121782" y="537652"/>
                  </a:lnTo>
                  <a:lnTo>
                    <a:pt x="87117" y="507900"/>
                  </a:lnTo>
                  <a:lnTo>
                    <a:pt x="57384" y="473220"/>
                  </a:lnTo>
                  <a:lnTo>
                    <a:pt x="33194" y="434228"/>
                  </a:lnTo>
                  <a:lnTo>
                    <a:pt x="15160" y="391538"/>
                  </a:lnTo>
                  <a:lnTo>
                    <a:pt x="3894" y="345761"/>
                  </a:lnTo>
                  <a:lnTo>
                    <a:pt x="0" y="297511"/>
                  </a:lnTo>
                  <a:lnTo>
                    <a:pt x="3909" y="249265"/>
                  </a:lnTo>
                  <a:lnTo>
                    <a:pt x="15189" y="203495"/>
                  </a:lnTo>
                  <a:lnTo>
                    <a:pt x="33234" y="160814"/>
                  </a:lnTo>
                  <a:lnTo>
                    <a:pt x="57431" y="121836"/>
                  </a:lnTo>
                  <a:lnTo>
                    <a:pt x="87168" y="87171"/>
                  </a:lnTo>
                  <a:lnTo>
                    <a:pt x="121832" y="57432"/>
                  </a:lnTo>
                  <a:lnTo>
                    <a:pt x="160810" y="33233"/>
                  </a:lnTo>
                  <a:lnTo>
                    <a:pt x="203491" y="15185"/>
                  </a:lnTo>
                  <a:lnTo>
                    <a:pt x="249262" y="3903"/>
                  </a:lnTo>
                  <a:lnTo>
                    <a:pt x="297511" y="0"/>
                  </a:lnTo>
                  <a:lnTo>
                    <a:pt x="345764" y="3885"/>
                  </a:lnTo>
                  <a:lnTo>
                    <a:pt x="391544" y="15151"/>
                  </a:lnTo>
                  <a:lnTo>
                    <a:pt x="434238" y="33186"/>
                  </a:lnTo>
                  <a:lnTo>
                    <a:pt x="473232" y="57378"/>
                  </a:lnTo>
                  <a:lnTo>
                    <a:pt x="507913" y="87115"/>
                  </a:lnTo>
                  <a:lnTo>
                    <a:pt x="537668" y="121784"/>
                  </a:lnTo>
                  <a:lnTo>
                    <a:pt x="561881" y="160772"/>
                  </a:lnTo>
                  <a:lnTo>
                    <a:pt x="579938" y="203466"/>
                  </a:lnTo>
                  <a:lnTo>
                    <a:pt x="590469" y="246581"/>
                  </a:lnTo>
                </a:path>
              </a:pathLst>
            </a:custGeom>
            <a:ln w="38100">
              <a:solidFill>
                <a:srgbClr val="0A1F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13064368" y="4330319"/>
            <a:ext cx="15113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3593571" y="4335271"/>
            <a:ext cx="3013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5B6474"/>
                </a:solidFill>
                <a:latin typeface="Calibri"/>
                <a:cs typeface="Calibri"/>
              </a:rPr>
              <a:t>Incident type, landmarks, details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7515224" y="5389245"/>
            <a:ext cx="10039350" cy="1360170"/>
            <a:chOff x="7515224" y="5389245"/>
            <a:chExt cx="10039350" cy="1360170"/>
          </a:xfrm>
        </p:grpSpPr>
        <p:sp>
          <p:nvSpPr>
            <p:cNvPr id="51" name="object 51"/>
            <p:cNvSpPr/>
            <p:nvPr/>
          </p:nvSpPr>
          <p:spPr>
            <a:xfrm>
              <a:off x="7534273" y="5408294"/>
              <a:ext cx="10003790" cy="1322070"/>
            </a:xfrm>
            <a:custGeom>
              <a:avLst/>
              <a:gdLst/>
              <a:ahLst/>
              <a:cxnLst/>
              <a:rect l="l" t="t" r="r" b="b"/>
              <a:pathLst>
                <a:path w="10003790" h="1322070">
                  <a:moveTo>
                    <a:pt x="9892951" y="1322069"/>
                  </a:moveTo>
                  <a:lnTo>
                    <a:pt x="111347" y="1322069"/>
                  </a:lnTo>
                  <a:lnTo>
                    <a:pt x="67990" y="1313325"/>
                  </a:lnTo>
                  <a:lnTo>
                    <a:pt x="32599" y="1289470"/>
                  </a:lnTo>
                  <a:lnTo>
                    <a:pt x="8745" y="1254079"/>
                  </a:lnTo>
                  <a:lnTo>
                    <a:pt x="0" y="1210723"/>
                  </a:lnTo>
                  <a:lnTo>
                    <a:pt x="0" y="111347"/>
                  </a:lnTo>
                  <a:lnTo>
                    <a:pt x="8745" y="67990"/>
                  </a:lnTo>
                  <a:lnTo>
                    <a:pt x="32599" y="32599"/>
                  </a:lnTo>
                  <a:lnTo>
                    <a:pt x="67990" y="8745"/>
                  </a:lnTo>
                  <a:lnTo>
                    <a:pt x="111347" y="0"/>
                  </a:lnTo>
                  <a:lnTo>
                    <a:pt x="9892951" y="0"/>
                  </a:lnTo>
                  <a:lnTo>
                    <a:pt x="9936307" y="8745"/>
                  </a:lnTo>
                  <a:lnTo>
                    <a:pt x="9971699" y="32599"/>
                  </a:lnTo>
                  <a:lnTo>
                    <a:pt x="9995553" y="67990"/>
                  </a:lnTo>
                  <a:lnTo>
                    <a:pt x="10003318" y="106488"/>
                  </a:lnTo>
                  <a:lnTo>
                    <a:pt x="10003318" y="1215582"/>
                  </a:lnTo>
                  <a:lnTo>
                    <a:pt x="9995553" y="1254079"/>
                  </a:lnTo>
                  <a:lnTo>
                    <a:pt x="9971699" y="1289470"/>
                  </a:lnTo>
                  <a:lnTo>
                    <a:pt x="9936307" y="1313325"/>
                  </a:lnTo>
                  <a:lnTo>
                    <a:pt x="9892951" y="1322069"/>
                  </a:lnTo>
                  <a:close/>
                </a:path>
              </a:pathLst>
            </a:custGeom>
            <a:solidFill>
              <a:srgbClr val="0A1F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534274" y="5408295"/>
              <a:ext cx="10001250" cy="1322070"/>
            </a:xfrm>
            <a:custGeom>
              <a:avLst/>
              <a:gdLst/>
              <a:ahLst/>
              <a:cxnLst/>
              <a:rect l="l" t="t" r="r" b="b"/>
              <a:pathLst>
                <a:path w="10001250" h="1322070">
                  <a:moveTo>
                    <a:pt x="10001248" y="1225069"/>
                  </a:moveTo>
                  <a:lnTo>
                    <a:pt x="9995403" y="1254051"/>
                  </a:lnTo>
                  <a:lnTo>
                    <a:pt x="9971549" y="1289442"/>
                  </a:lnTo>
                  <a:lnTo>
                    <a:pt x="9936158" y="1313295"/>
                  </a:lnTo>
                  <a:lnTo>
                    <a:pt x="9892802" y="1322040"/>
                  </a:lnTo>
                  <a:lnTo>
                    <a:pt x="111421" y="1322039"/>
                  </a:lnTo>
                  <a:lnTo>
                    <a:pt x="68066" y="1313294"/>
                  </a:lnTo>
                  <a:lnTo>
                    <a:pt x="32675" y="1289441"/>
                  </a:lnTo>
                  <a:lnTo>
                    <a:pt x="8822" y="1254050"/>
                  </a:lnTo>
                  <a:lnTo>
                    <a:pt x="0" y="1210695"/>
                  </a:lnTo>
                  <a:lnTo>
                    <a:pt x="3" y="111329"/>
                  </a:lnTo>
                  <a:lnTo>
                    <a:pt x="8822" y="67989"/>
                  </a:lnTo>
                  <a:lnTo>
                    <a:pt x="32675" y="32598"/>
                  </a:lnTo>
                  <a:lnTo>
                    <a:pt x="68066" y="8745"/>
                  </a:lnTo>
                  <a:lnTo>
                    <a:pt x="111421" y="0"/>
                  </a:lnTo>
                  <a:lnTo>
                    <a:pt x="9892802" y="0"/>
                  </a:lnTo>
                  <a:lnTo>
                    <a:pt x="9936158" y="8744"/>
                  </a:lnTo>
                  <a:lnTo>
                    <a:pt x="9971549" y="32597"/>
                  </a:lnTo>
                  <a:lnTo>
                    <a:pt x="9995403" y="67988"/>
                  </a:lnTo>
                  <a:lnTo>
                    <a:pt x="10001248" y="96970"/>
                  </a:lnTo>
                </a:path>
              </a:pathLst>
            </a:custGeom>
            <a:ln w="38099">
              <a:solidFill>
                <a:srgbClr val="0A1F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7874000" y="5871844"/>
            <a:ext cx="854329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b="1" dirty="0">
                <a:solidFill>
                  <a:srgbClr val="F1A800"/>
                </a:solidFill>
                <a:latin typeface="Calibri"/>
                <a:cs typeface="Calibri"/>
              </a:rPr>
              <a:t>Safety rule: </a:t>
            </a:r>
            <a:r>
              <a:rPr sz="1950" i="1" dirty="0">
                <a:solidFill>
                  <a:srgbClr val="FFFFFF"/>
                </a:solidFill>
                <a:latin typeface="Calibri"/>
                <a:cs typeface="Calibri"/>
              </a:rPr>
              <a:t>Deduplicate incident records, not patients — keep injured count &amp; conditions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41679" y="7011034"/>
            <a:ext cx="6000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A1F4A"/>
                </a:solidFill>
                <a:latin typeface="Cambria"/>
                <a:cs typeface="Cambria"/>
              </a:rPr>
              <a:t>Algorithm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732948" y="7522368"/>
            <a:ext cx="5529580" cy="1757680"/>
            <a:chOff x="732948" y="7522368"/>
            <a:chExt cx="5529580" cy="1757680"/>
          </a:xfrm>
        </p:grpSpPr>
        <p:sp>
          <p:nvSpPr>
            <p:cNvPr id="56" name="object 56"/>
            <p:cNvSpPr/>
            <p:nvPr/>
          </p:nvSpPr>
          <p:spPr>
            <a:xfrm>
              <a:off x="747236" y="7536656"/>
              <a:ext cx="5501005" cy="1729105"/>
            </a:xfrm>
            <a:custGeom>
              <a:avLst/>
              <a:gdLst/>
              <a:ahLst/>
              <a:cxnLst/>
              <a:rect l="l" t="t" r="r" b="b"/>
              <a:pathLst>
                <a:path w="5501005" h="1729104">
                  <a:moveTo>
                    <a:pt x="5390007" y="1728787"/>
                  </a:moveTo>
                  <a:lnTo>
                    <a:pt x="110680" y="1728787"/>
                  </a:lnTo>
                  <a:lnTo>
                    <a:pt x="67588" y="1720092"/>
                  </a:lnTo>
                  <a:lnTo>
                    <a:pt x="32408" y="1696378"/>
                  </a:lnTo>
                  <a:lnTo>
                    <a:pt x="8694" y="1661198"/>
                  </a:lnTo>
                  <a:lnTo>
                    <a:pt x="0" y="1618106"/>
                  </a:lnTo>
                  <a:lnTo>
                    <a:pt x="0" y="110680"/>
                  </a:lnTo>
                  <a:lnTo>
                    <a:pt x="8694" y="67588"/>
                  </a:lnTo>
                  <a:lnTo>
                    <a:pt x="32408" y="32408"/>
                  </a:lnTo>
                  <a:lnTo>
                    <a:pt x="67588" y="8694"/>
                  </a:lnTo>
                  <a:lnTo>
                    <a:pt x="110680" y="0"/>
                  </a:lnTo>
                  <a:lnTo>
                    <a:pt x="5390007" y="0"/>
                  </a:lnTo>
                  <a:lnTo>
                    <a:pt x="5433098" y="8694"/>
                  </a:lnTo>
                  <a:lnTo>
                    <a:pt x="5468278" y="32408"/>
                  </a:lnTo>
                  <a:lnTo>
                    <a:pt x="5491993" y="67588"/>
                  </a:lnTo>
                  <a:lnTo>
                    <a:pt x="5500687" y="110680"/>
                  </a:lnTo>
                  <a:lnTo>
                    <a:pt x="5500687" y="1618106"/>
                  </a:lnTo>
                  <a:lnTo>
                    <a:pt x="5491993" y="1661198"/>
                  </a:lnTo>
                  <a:lnTo>
                    <a:pt x="5468278" y="1696378"/>
                  </a:lnTo>
                  <a:lnTo>
                    <a:pt x="5433098" y="1720092"/>
                  </a:lnTo>
                  <a:lnTo>
                    <a:pt x="5390007" y="1728787"/>
                  </a:lnTo>
                  <a:close/>
                </a:path>
              </a:pathLst>
            </a:custGeom>
            <a:solidFill>
              <a:srgbClr val="EDF1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47236" y="7536656"/>
              <a:ext cx="5501005" cy="1729105"/>
            </a:xfrm>
            <a:custGeom>
              <a:avLst/>
              <a:gdLst/>
              <a:ahLst/>
              <a:cxnLst/>
              <a:rect l="l" t="t" r="r" b="b"/>
              <a:pathLst>
                <a:path w="5501005" h="1729104">
                  <a:moveTo>
                    <a:pt x="0" y="110680"/>
                  </a:moveTo>
                  <a:lnTo>
                    <a:pt x="8694" y="67588"/>
                  </a:lnTo>
                  <a:lnTo>
                    <a:pt x="32408" y="32408"/>
                  </a:lnTo>
                  <a:lnTo>
                    <a:pt x="67588" y="8694"/>
                  </a:lnTo>
                  <a:lnTo>
                    <a:pt x="110680" y="0"/>
                  </a:lnTo>
                  <a:lnTo>
                    <a:pt x="5390006" y="0"/>
                  </a:lnTo>
                  <a:lnTo>
                    <a:pt x="5433098" y="8694"/>
                  </a:lnTo>
                  <a:lnTo>
                    <a:pt x="5468278" y="32408"/>
                  </a:lnTo>
                  <a:lnTo>
                    <a:pt x="5491992" y="67588"/>
                  </a:lnTo>
                  <a:lnTo>
                    <a:pt x="5500687" y="110680"/>
                  </a:lnTo>
                  <a:lnTo>
                    <a:pt x="5500687" y="1618106"/>
                  </a:lnTo>
                  <a:lnTo>
                    <a:pt x="5491992" y="1661198"/>
                  </a:lnTo>
                  <a:lnTo>
                    <a:pt x="5468278" y="1696378"/>
                  </a:lnTo>
                  <a:lnTo>
                    <a:pt x="5433098" y="1720092"/>
                  </a:lnTo>
                  <a:lnTo>
                    <a:pt x="5390006" y="1728787"/>
                  </a:lnTo>
                  <a:lnTo>
                    <a:pt x="110680" y="1728787"/>
                  </a:lnTo>
                  <a:lnTo>
                    <a:pt x="67588" y="1720092"/>
                  </a:lnTo>
                  <a:lnTo>
                    <a:pt x="32408" y="1696378"/>
                  </a:lnTo>
                  <a:lnTo>
                    <a:pt x="8694" y="1661198"/>
                  </a:lnTo>
                  <a:lnTo>
                    <a:pt x="0" y="1618106"/>
                  </a:lnTo>
                  <a:lnTo>
                    <a:pt x="0" y="110680"/>
                  </a:lnTo>
                </a:path>
              </a:pathLst>
            </a:custGeom>
            <a:ln w="28574">
              <a:solidFill>
                <a:srgbClr val="C8D3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1016000" y="7553451"/>
            <a:ext cx="5000000" cy="883919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2100" b="1" dirty="0">
                <a:solidFill>
                  <a:srgbClr val="0A1F4A"/>
                </a:solidFill>
                <a:latin typeface="Calibri"/>
                <a:cs typeface="Calibri"/>
              </a:rPr>
              <a:t>Receive &amp; Search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800" i="1" dirty="0">
                <a:solidFill>
                  <a:srgbClr val="5B6474"/>
                </a:solidFill>
                <a:latin typeface="Calibri"/>
                <a:cs typeface="Calibri"/>
              </a:rPr>
              <a:t>Extract location, time, type; search active incidents in radius &amp; time window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6466236" y="7522368"/>
            <a:ext cx="5529580" cy="1757680"/>
            <a:chOff x="6466236" y="7522368"/>
            <a:chExt cx="5529580" cy="1757680"/>
          </a:xfrm>
        </p:grpSpPr>
        <p:sp>
          <p:nvSpPr>
            <p:cNvPr id="60" name="object 60"/>
            <p:cNvSpPr/>
            <p:nvPr/>
          </p:nvSpPr>
          <p:spPr>
            <a:xfrm>
              <a:off x="6480524" y="7536656"/>
              <a:ext cx="5501005" cy="1729105"/>
            </a:xfrm>
            <a:custGeom>
              <a:avLst/>
              <a:gdLst/>
              <a:ahLst/>
              <a:cxnLst/>
              <a:rect l="l" t="t" r="r" b="b"/>
              <a:pathLst>
                <a:path w="5501005" h="1729104">
                  <a:moveTo>
                    <a:pt x="5390006" y="1728787"/>
                  </a:moveTo>
                  <a:lnTo>
                    <a:pt x="110680" y="1728787"/>
                  </a:lnTo>
                  <a:lnTo>
                    <a:pt x="67588" y="1720092"/>
                  </a:lnTo>
                  <a:lnTo>
                    <a:pt x="32408" y="1696378"/>
                  </a:lnTo>
                  <a:lnTo>
                    <a:pt x="8694" y="1661198"/>
                  </a:lnTo>
                  <a:lnTo>
                    <a:pt x="0" y="1618106"/>
                  </a:lnTo>
                  <a:lnTo>
                    <a:pt x="0" y="110680"/>
                  </a:lnTo>
                  <a:lnTo>
                    <a:pt x="8694" y="67588"/>
                  </a:lnTo>
                  <a:lnTo>
                    <a:pt x="32408" y="32408"/>
                  </a:lnTo>
                  <a:lnTo>
                    <a:pt x="67588" y="8694"/>
                  </a:lnTo>
                  <a:lnTo>
                    <a:pt x="110680" y="0"/>
                  </a:lnTo>
                  <a:lnTo>
                    <a:pt x="5390006" y="0"/>
                  </a:lnTo>
                  <a:lnTo>
                    <a:pt x="5433098" y="8694"/>
                  </a:lnTo>
                  <a:lnTo>
                    <a:pt x="5468278" y="32408"/>
                  </a:lnTo>
                  <a:lnTo>
                    <a:pt x="5491992" y="67588"/>
                  </a:lnTo>
                  <a:lnTo>
                    <a:pt x="5500687" y="110680"/>
                  </a:lnTo>
                  <a:lnTo>
                    <a:pt x="5500687" y="1618106"/>
                  </a:lnTo>
                  <a:lnTo>
                    <a:pt x="5491992" y="1661198"/>
                  </a:lnTo>
                  <a:lnTo>
                    <a:pt x="5468278" y="1696378"/>
                  </a:lnTo>
                  <a:lnTo>
                    <a:pt x="5433098" y="1720092"/>
                  </a:lnTo>
                  <a:lnTo>
                    <a:pt x="5390006" y="1728787"/>
                  </a:lnTo>
                  <a:close/>
                </a:path>
              </a:pathLst>
            </a:custGeom>
            <a:solidFill>
              <a:srgbClr val="EDF1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480524" y="7536656"/>
              <a:ext cx="5501005" cy="1729105"/>
            </a:xfrm>
            <a:custGeom>
              <a:avLst/>
              <a:gdLst/>
              <a:ahLst/>
              <a:cxnLst/>
              <a:rect l="l" t="t" r="r" b="b"/>
              <a:pathLst>
                <a:path w="5501005" h="1729104">
                  <a:moveTo>
                    <a:pt x="0" y="110680"/>
                  </a:moveTo>
                  <a:lnTo>
                    <a:pt x="8694" y="67588"/>
                  </a:lnTo>
                  <a:lnTo>
                    <a:pt x="32408" y="32408"/>
                  </a:lnTo>
                  <a:lnTo>
                    <a:pt x="67588" y="8694"/>
                  </a:lnTo>
                  <a:lnTo>
                    <a:pt x="110680" y="0"/>
                  </a:lnTo>
                  <a:lnTo>
                    <a:pt x="5390006" y="0"/>
                  </a:lnTo>
                  <a:lnTo>
                    <a:pt x="5433097" y="8694"/>
                  </a:lnTo>
                  <a:lnTo>
                    <a:pt x="5468278" y="32408"/>
                  </a:lnTo>
                  <a:lnTo>
                    <a:pt x="5491992" y="67588"/>
                  </a:lnTo>
                  <a:lnTo>
                    <a:pt x="5500687" y="110680"/>
                  </a:lnTo>
                  <a:lnTo>
                    <a:pt x="5500687" y="1618106"/>
                  </a:lnTo>
                  <a:lnTo>
                    <a:pt x="5491992" y="1661198"/>
                  </a:lnTo>
                  <a:lnTo>
                    <a:pt x="5468278" y="1696378"/>
                  </a:lnTo>
                  <a:lnTo>
                    <a:pt x="5433097" y="1720092"/>
                  </a:lnTo>
                  <a:lnTo>
                    <a:pt x="5390006" y="1728787"/>
                  </a:lnTo>
                  <a:lnTo>
                    <a:pt x="110680" y="1728787"/>
                  </a:lnTo>
                  <a:lnTo>
                    <a:pt x="67588" y="1720092"/>
                  </a:lnTo>
                  <a:lnTo>
                    <a:pt x="32408" y="1696378"/>
                  </a:lnTo>
                  <a:lnTo>
                    <a:pt x="8694" y="1661198"/>
                  </a:lnTo>
                  <a:lnTo>
                    <a:pt x="0" y="1618106"/>
                  </a:lnTo>
                  <a:lnTo>
                    <a:pt x="0" y="110680"/>
                  </a:lnTo>
                </a:path>
              </a:pathLst>
            </a:custGeom>
            <a:ln w="28574">
              <a:solidFill>
                <a:srgbClr val="C8D3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6749288" y="7553451"/>
            <a:ext cx="5000000" cy="883919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2100" b="1" dirty="0">
                <a:solidFill>
                  <a:srgbClr val="0A1F4A"/>
                </a:solidFill>
                <a:latin typeface="Calibri"/>
                <a:cs typeface="Calibri"/>
              </a:rPr>
              <a:t>Compare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800" i="1" dirty="0">
                <a:solidFill>
                  <a:srgbClr val="5B6474"/>
                </a:solidFill>
                <a:latin typeface="Calibri"/>
                <a:cs typeface="Calibri"/>
              </a:rPr>
              <a:t>Strong match: link to incident. Uncertain: dispatcher review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12192380" y="7515225"/>
            <a:ext cx="5362575" cy="1771650"/>
            <a:chOff x="12192380" y="7515225"/>
            <a:chExt cx="5362575" cy="1771650"/>
          </a:xfrm>
        </p:grpSpPr>
        <p:sp>
          <p:nvSpPr>
            <p:cNvPr id="64" name="object 64"/>
            <p:cNvSpPr/>
            <p:nvPr/>
          </p:nvSpPr>
          <p:spPr>
            <a:xfrm>
              <a:off x="12211429" y="7534274"/>
              <a:ext cx="5327650" cy="1733550"/>
            </a:xfrm>
            <a:custGeom>
              <a:avLst/>
              <a:gdLst/>
              <a:ahLst/>
              <a:cxnLst/>
              <a:rect l="l" t="t" r="r" b="b"/>
              <a:pathLst>
                <a:path w="5327650" h="1733550">
                  <a:moveTo>
                    <a:pt x="5216175" y="1733549"/>
                  </a:moveTo>
                  <a:lnTo>
                    <a:pt x="110966" y="1733549"/>
                  </a:lnTo>
                  <a:lnTo>
                    <a:pt x="67749" y="1724837"/>
                  </a:lnTo>
                  <a:lnTo>
                    <a:pt x="32480" y="1701069"/>
                  </a:lnTo>
                  <a:lnTo>
                    <a:pt x="8712" y="1665800"/>
                  </a:lnTo>
                  <a:lnTo>
                    <a:pt x="0" y="1622583"/>
                  </a:lnTo>
                  <a:lnTo>
                    <a:pt x="0" y="110966"/>
                  </a:lnTo>
                  <a:lnTo>
                    <a:pt x="8712" y="67749"/>
                  </a:lnTo>
                  <a:lnTo>
                    <a:pt x="32480" y="32480"/>
                  </a:lnTo>
                  <a:lnTo>
                    <a:pt x="67749" y="8712"/>
                  </a:lnTo>
                  <a:lnTo>
                    <a:pt x="110966" y="0"/>
                  </a:lnTo>
                  <a:lnTo>
                    <a:pt x="5216175" y="0"/>
                  </a:lnTo>
                  <a:lnTo>
                    <a:pt x="5259352" y="8712"/>
                  </a:lnTo>
                  <a:lnTo>
                    <a:pt x="5294625" y="32480"/>
                  </a:lnTo>
                  <a:lnTo>
                    <a:pt x="5318416" y="67749"/>
                  </a:lnTo>
                  <a:lnTo>
                    <a:pt x="5327141" y="110966"/>
                  </a:lnTo>
                  <a:lnTo>
                    <a:pt x="5327141" y="1622583"/>
                  </a:lnTo>
                  <a:lnTo>
                    <a:pt x="5318402" y="1665800"/>
                  </a:lnTo>
                  <a:lnTo>
                    <a:pt x="5294608" y="1701069"/>
                  </a:lnTo>
                  <a:lnTo>
                    <a:pt x="5259326" y="1724837"/>
                  </a:lnTo>
                  <a:lnTo>
                    <a:pt x="5216175" y="1733549"/>
                  </a:lnTo>
                  <a:close/>
                </a:path>
              </a:pathLst>
            </a:custGeom>
            <a:solidFill>
              <a:srgbClr val="F1A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2211430" y="7534274"/>
              <a:ext cx="5324475" cy="1733550"/>
            </a:xfrm>
            <a:custGeom>
              <a:avLst/>
              <a:gdLst/>
              <a:ahLst/>
              <a:cxnLst/>
              <a:rect l="l" t="t" r="r" b="b"/>
              <a:pathLst>
                <a:path w="5324475" h="1733550">
                  <a:moveTo>
                    <a:pt x="5324479" y="1635076"/>
                  </a:moveTo>
                  <a:lnTo>
                    <a:pt x="5318292" y="1665739"/>
                  </a:lnTo>
                  <a:lnTo>
                    <a:pt x="5294524" y="1701012"/>
                  </a:lnTo>
                  <a:lnTo>
                    <a:pt x="5259256" y="1724802"/>
                  </a:lnTo>
                  <a:lnTo>
                    <a:pt x="5216040" y="1733549"/>
                  </a:lnTo>
                  <a:lnTo>
                    <a:pt x="110958" y="1733548"/>
                  </a:lnTo>
                  <a:lnTo>
                    <a:pt x="67747" y="1724815"/>
                  </a:lnTo>
                  <a:lnTo>
                    <a:pt x="32479" y="1701048"/>
                  </a:lnTo>
                  <a:lnTo>
                    <a:pt x="8712" y="1665779"/>
                  </a:lnTo>
                  <a:lnTo>
                    <a:pt x="0" y="1622564"/>
                  </a:lnTo>
                  <a:lnTo>
                    <a:pt x="0" y="110985"/>
                  </a:lnTo>
                  <a:lnTo>
                    <a:pt x="8712" y="67770"/>
                  </a:lnTo>
                  <a:lnTo>
                    <a:pt x="32479" y="32501"/>
                  </a:lnTo>
                  <a:lnTo>
                    <a:pt x="67747" y="8734"/>
                  </a:lnTo>
                  <a:lnTo>
                    <a:pt x="110963" y="0"/>
                  </a:lnTo>
                  <a:lnTo>
                    <a:pt x="5216040" y="0"/>
                  </a:lnTo>
                  <a:lnTo>
                    <a:pt x="5259216" y="8734"/>
                  </a:lnTo>
                  <a:lnTo>
                    <a:pt x="5294489" y="32501"/>
                  </a:lnTo>
                  <a:lnTo>
                    <a:pt x="5318278" y="67769"/>
                  </a:lnTo>
                  <a:lnTo>
                    <a:pt x="5324474" y="98454"/>
                  </a:lnTo>
                </a:path>
              </a:pathLst>
            </a:custGeom>
            <a:ln w="38099">
              <a:solidFill>
                <a:srgbClr val="F1A8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12482575" y="7564393"/>
            <a:ext cx="5000000" cy="895985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100" b="1" dirty="0">
                <a:solidFill>
                  <a:srgbClr val="0A1F4A"/>
                </a:solidFill>
                <a:latin typeface="Calibri"/>
                <a:cs typeface="Calibri"/>
              </a:rPr>
              <a:t>Create New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950" i="1" dirty="0">
                <a:solidFill>
                  <a:srgbClr val="0A1F4A"/>
                </a:solidFill>
                <a:latin typeface="Calibri"/>
                <a:cs typeface="Calibri"/>
              </a:rPr>
              <a:t>No suitable match: create a new incident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67" name="object 6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525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49BC86C8-5140-2197-FB75-794E78297D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84" y="1750948"/>
            <a:ext cx="6563032" cy="52600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1679" y="556132"/>
            <a:ext cx="800000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3865" algn="l"/>
                <a:tab pos="661035" algn="l"/>
                <a:tab pos="2070735" algn="l"/>
                <a:tab pos="3220085" algn="l"/>
                <a:tab pos="4989830" algn="l"/>
                <a:tab pos="5299075" algn="l"/>
              </a:tabLst>
            </a:pPr>
            <a:r>
              <a:rPr sz="1650" b="1" dirty="0">
                <a:solidFill>
                  <a:srgbClr val="B07900"/>
                </a:solidFill>
                <a:latin typeface="Calibri"/>
                <a:cs typeface="Calibri"/>
              </a:rPr>
              <a:t>0 5	·	A L L O C A T I O N</a:t>
            </a:r>
            <a:r>
              <a:rPr lang="en-US" sz="1650" b="1" dirty="0">
                <a:solidFill>
                  <a:srgbClr val="B07900"/>
                </a:solidFill>
                <a:latin typeface="Calibri"/>
                <a:cs typeface="Calibri"/>
              </a:rPr>
              <a:t>  </a:t>
            </a:r>
            <a:r>
              <a:rPr sz="1650" b="1" dirty="0">
                <a:solidFill>
                  <a:srgbClr val="B07900"/>
                </a:solidFill>
                <a:latin typeface="Calibri"/>
                <a:cs typeface="Calibri"/>
              </a:rPr>
              <a:t>&amp;</a:t>
            </a:r>
            <a:r>
              <a:rPr lang="en-US" sz="1650" b="1" dirty="0">
                <a:solidFill>
                  <a:srgbClr val="B07900"/>
                </a:solidFill>
                <a:latin typeface="Calibri"/>
                <a:cs typeface="Calibri"/>
              </a:rPr>
              <a:t>  </a:t>
            </a:r>
            <a:r>
              <a:rPr sz="1650" b="1" dirty="0">
                <a:solidFill>
                  <a:srgbClr val="B07900"/>
                </a:solidFill>
                <a:latin typeface="Calibri"/>
                <a:cs typeface="Calibri"/>
              </a:rPr>
              <a:t>R O U T I N G</a:t>
            </a:r>
            <a:endParaRPr sz="165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161799" y="750951"/>
            <a:ext cx="370205" cy="333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b="1" spc="-20" dirty="0">
                <a:solidFill>
                  <a:srgbClr val="5B6474"/>
                </a:solidFill>
                <a:latin typeface="Calibri"/>
                <a:cs typeface="Calibri"/>
              </a:rPr>
              <a:t>DSIRT</a:t>
            </a:r>
            <a:endParaRPr sz="1200">
              <a:latin typeface="Calibri"/>
              <a:cs typeface="Calibri"/>
            </a:endParaRPr>
          </a:p>
          <a:p>
            <a:pPr marL="34290">
              <a:lnSpc>
                <a:spcPts val="1430"/>
              </a:lnSpc>
            </a:pPr>
            <a:r>
              <a:rPr sz="1200" b="1" spc="-20" dirty="0">
                <a:solidFill>
                  <a:srgbClr val="5B6474"/>
                </a:solidFill>
                <a:latin typeface="Calibri"/>
                <a:cs typeface="Calibri"/>
              </a:rPr>
              <a:t>Logo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07451" y="479488"/>
            <a:ext cx="878966" cy="878966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4853285" y="588654"/>
            <a:ext cx="933450" cy="657225"/>
            <a:chOff x="14853285" y="588654"/>
            <a:chExt cx="933450" cy="657225"/>
          </a:xfrm>
        </p:grpSpPr>
        <p:sp>
          <p:nvSpPr>
            <p:cNvPr id="7" name="object 7"/>
            <p:cNvSpPr/>
            <p:nvPr/>
          </p:nvSpPr>
          <p:spPr>
            <a:xfrm>
              <a:off x="14872334" y="607695"/>
              <a:ext cx="897890" cy="622935"/>
            </a:xfrm>
            <a:custGeom>
              <a:avLst/>
              <a:gdLst/>
              <a:ahLst/>
              <a:cxnLst/>
              <a:rect l="l" t="t" r="r" b="b"/>
              <a:pathLst>
                <a:path w="897890" h="622935">
                  <a:moveTo>
                    <a:pt x="897353" y="622553"/>
                  </a:moveTo>
                  <a:lnTo>
                    <a:pt x="0" y="622553"/>
                  </a:lnTo>
                  <a:lnTo>
                    <a:pt x="0" y="0"/>
                  </a:lnTo>
                  <a:lnTo>
                    <a:pt x="897353" y="0"/>
                  </a:lnTo>
                  <a:lnTo>
                    <a:pt x="897353" y="622553"/>
                  </a:lnTo>
                  <a:close/>
                </a:path>
              </a:pathLst>
            </a:custGeom>
            <a:solidFill>
              <a:srgbClr val="D0D5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872335" y="607704"/>
              <a:ext cx="895350" cy="619125"/>
            </a:xfrm>
            <a:custGeom>
              <a:avLst/>
              <a:gdLst/>
              <a:ahLst/>
              <a:cxnLst/>
              <a:rect l="l" t="t" r="r" b="b"/>
              <a:pathLst>
                <a:path w="895350" h="619125">
                  <a:moveTo>
                    <a:pt x="0" y="619115"/>
                  </a:moveTo>
                  <a:lnTo>
                    <a:pt x="0" y="0"/>
                  </a:lnTo>
                  <a:lnTo>
                    <a:pt x="895350" y="0"/>
                  </a:lnTo>
                </a:path>
              </a:pathLst>
            </a:custGeom>
            <a:ln w="38099">
              <a:solidFill>
                <a:srgbClr val="D0D5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09292" y="644652"/>
              <a:ext cx="822959" cy="54863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5831393" y="698627"/>
            <a:ext cx="15875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50" dirty="0">
                <a:solidFill>
                  <a:srgbClr val="0A1F4A"/>
                </a:solidFill>
                <a:latin typeface="Calibri"/>
                <a:cs typeface="Calibri"/>
              </a:rPr>
              <a:t>×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6032860" y="588654"/>
            <a:ext cx="933450" cy="657225"/>
            <a:chOff x="16032860" y="588654"/>
            <a:chExt cx="933450" cy="657225"/>
          </a:xfrm>
        </p:grpSpPr>
        <p:sp>
          <p:nvSpPr>
            <p:cNvPr id="12" name="object 12"/>
            <p:cNvSpPr/>
            <p:nvPr/>
          </p:nvSpPr>
          <p:spPr>
            <a:xfrm>
              <a:off x="16051910" y="607695"/>
              <a:ext cx="897890" cy="622935"/>
            </a:xfrm>
            <a:custGeom>
              <a:avLst/>
              <a:gdLst/>
              <a:ahLst/>
              <a:cxnLst/>
              <a:rect l="l" t="t" r="r" b="b"/>
              <a:pathLst>
                <a:path w="897890" h="622935">
                  <a:moveTo>
                    <a:pt x="897353" y="622553"/>
                  </a:moveTo>
                  <a:lnTo>
                    <a:pt x="0" y="622553"/>
                  </a:lnTo>
                  <a:lnTo>
                    <a:pt x="0" y="0"/>
                  </a:lnTo>
                  <a:lnTo>
                    <a:pt x="897353" y="0"/>
                  </a:lnTo>
                  <a:lnTo>
                    <a:pt x="897353" y="622553"/>
                  </a:lnTo>
                  <a:close/>
                </a:path>
              </a:pathLst>
            </a:custGeom>
            <a:solidFill>
              <a:srgbClr val="D0D5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6051910" y="607704"/>
              <a:ext cx="895350" cy="619125"/>
            </a:xfrm>
            <a:custGeom>
              <a:avLst/>
              <a:gdLst/>
              <a:ahLst/>
              <a:cxnLst/>
              <a:rect l="l" t="t" r="r" b="b"/>
              <a:pathLst>
                <a:path w="895350" h="619125">
                  <a:moveTo>
                    <a:pt x="0" y="619115"/>
                  </a:moveTo>
                  <a:lnTo>
                    <a:pt x="0" y="0"/>
                  </a:lnTo>
                  <a:lnTo>
                    <a:pt x="895350" y="0"/>
                  </a:lnTo>
                </a:path>
              </a:pathLst>
            </a:custGeom>
            <a:ln w="38099">
              <a:solidFill>
                <a:srgbClr val="D0D5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088867" y="644652"/>
              <a:ext cx="822959" cy="54863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7282576" y="750951"/>
            <a:ext cx="300990" cy="333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">
              <a:lnSpc>
                <a:spcPts val="1135"/>
              </a:lnSpc>
            </a:pPr>
            <a:r>
              <a:rPr sz="1200" b="1" spc="-25" dirty="0">
                <a:solidFill>
                  <a:srgbClr val="5B6474"/>
                </a:solidFill>
                <a:latin typeface="Calibri"/>
                <a:cs typeface="Calibri"/>
              </a:rPr>
              <a:t>DGU</a:t>
            </a:r>
            <a:endParaRPr sz="1200">
              <a:latin typeface="Calibri"/>
              <a:cs typeface="Calibri"/>
            </a:endParaRPr>
          </a:p>
          <a:p>
            <a:pPr>
              <a:lnSpc>
                <a:spcPts val="1430"/>
              </a:lnSpc>
            </a:pPr>
            <a:r>
              <a:rPr sz="1200" b="1" spc="-25" dirty="0">
                <a:solidFill>
                  <a:srgbClr val="5B6474"/>
                </a:solidFill>
                <a:latin typeface="Calibri"/>
                <a:cs typeface="Calibri"/>
              </a:rPr>
              <a:t>Logo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993551" y="479488"/>
            <a:ext cx="878966" cy="87896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04434" y="1045210"/>
            <a:ext cx="12000000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Allocation &amp; Hospital Routing</a:t>
            </a:r>
            <a:endParaRPr dirty="0"/>
          </a:p>
        </p:txBody>
      </p:sp>
      <p:sp>
        <p:nvSpPr>
          <p:cNvPr id="17" name="object 17"/>
          <p:cNvSpPr txBox="1"/>
          <p:nvPr/>
        </p:nvSpPr>
        <p:spPr>
          <a:xfrm>
            <a:off x="741679" y="1982596"/>
            <a:ext cx="55000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0A1F4A"/>
                </a:solidFill>
                <a:latin typeface="Cambria"/>
                <a:cs typeface="Cambria"/>
              </a:rPr>
              <a:t>A. Priority-Based Allocation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1302999" y="1982596"/>
            <a:ext cx="55000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10" dirty="0">
                <a:solidFill>
                  <a:srgbClr val="0A1F4A"/>
                </a:solidFill>
                <a:latin typeface="Cambria"/>
                <a:cs typeface="Cambria"/>
              </a:rPr>
              <a:t>B. Hospital Routing</a:t>
            </a:r>
            <a:endParaRPr sz="2100">
              <a:latin typeface="Cambria"/>
              <a:cs typeface="Cambri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47236" y="2461736"/>
            <a:ext cx="1978660" cy="4606290"/>
            <a:chOff x="747236" y="2461736"/>
            <a:chExt cx="1978660" cy="4606290"/>
          </a:xfrm>
        </p:grpSpPr>
        <p:sp>
          <p:nvSpPr>
            <p:cNvPr id="19" name="object 19"/>
            <p:cNvSpPr/>
            <p:nvPr/>
          </p:nvSpPr>
          <p:spPr>
            <a:xfrm>
              <a:off x="747236" y="2461736"/>
              <a:ext cx="1978660" cy="4606290"/>
            </a:xfrm>
            <a:custGeom>
              <a:avLst/>
              <a:gdLst/>
              <a:ahLst/>
              <a:cxnLst/>
              <a:rect l="l" t="t" r="r" b="b"/>
              <a:pathLst>
                <a:path w="1978660" h="4606290">
                  <a:moveTo>
                    <a:pt x="1978418" y="4606005"/>
                  </a:moveTo>
                  <a:lnTo>
                    <a:pt x="0" y="4606005"/>
                  </a:lnTo>
                  <a:lnTo>
                    <a:pt x="0" y="0"/>
                  </a:lnTo>
                  <a:lnTo>
                    <a:pt x="1978418" y="0"/>
                  </a:lnTo>
                  <a:lnTo>
                    <a:pt x="1978418" y="4606005"/>
                  </a:lnTo>
                  <a:close/>
                </a:path>
              </a:pathLst>
            </a:custGeom>
            <a:solidFill>
              <a:srgbClr val="F5F7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54582" y="2569083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403225" h="403225">
                  <a:moveTo>
                    <a:pt x="201548" y="403097"/>
                  </a:moveTo>
                  <a:lnTo>
                    <a:pt x="155324" y="397776"/>
                  </a:lnTo>
                  <a:lnTo>
                    <a:pt x="112897" y="382618"/>
                  </a:lnTo>
                  <a:lnTo>
                    <a:pt x="75475" y="358830"/>
                  </a:lnTo>
                  <a:lnTo>
                    <a:pt x="44267" y="327622"/>
                  </a:lnTo>
                  <a:lnTo>
                    <a:pt x="20479" y="290200"/>
                  </a:lnTo>
                  <a:lnTo>
                    <a:pt x="5321" y="247773"/>
                  </a:lnTo>
                  <a:lnTo>
                    <a:pt x="0" y="201548"/>
                  </a:lnTo>
                  <a:lnTo>
                    <a:pt x="5321" y="155324"/>
                  </a:lnTo>
                  <a:lnTo>
                    <a:pt x="20479" y="112897"/>
                  </a:lnTo>
                  <a:lnTo>
                    <a:pt x="44267" y="75475"/>
                  </a:lnTo>
                  <a:lnTo>
                    <a:pt x="75475" y="44267"/>
                  </a:lnTo>
                  <a:lnTo>
                    <a:pt x="112897" y="20479"/>
                  </a:lnTo>
                  <a:lnTo>
                    <a:pt x="155324" y="5321"/>
                  </a:lnTo>
                  <a:lnTo>
                    <a:pt x="201548" y="0"/>
                  </a:lnTo>
                  <a:lnTo>
                    <a:pt x="247773" y="5321"/>
                  </a:lnTo>
                  <a:lnTo>
                    <a:pt x="290200" y="20479"/>
                  </a:lnTo>
                  <a:lnTo>
                    <a:pt x="327622" y="44267"/>
                  </a:lnTo>
                  <a:lnTo>
                    <a:pt x="358830" y="75475"/>
                  </a:lnTo>
                  <a:lnTo>
                    <a:pt x="382618" y="112897"/>
                  </a:lnTo>
                  <a:lnTo>
                    <a:pt x="397776" y="155324"/>
                  </a:lnTo>
                  <a:lnTo>
                    <a:pt x="403097" y="201548"/>
                  </a:lnTo>
                  <a:lnTo>
                    <a:pt x="397776" y="247773"/>
                  </a:lnTo>
                  <a:lnTo>
                    <a:pt x="382618" y="290200"/>
                  </a:lnTo>
                  <a:lnTo>
                    <a:pt x="358830" y="327622"/>
                  </a:lnTo>
                  <a:lnTo>
                    <a:pt x="327622" y="358830"/>
                  </a:lnTo>
                  <a:lnTo>
                    <a:pt x="290200" y="382618"/>
                  </a:lnTo>
                  <a:lnTo>
                    <a:pt x="247773" y="397776"/>
                  </a:lnTo>
                  <a:lnTo>
                    <a:pt x="201548" y="403097"/>
                  </a:lnTo>
                  <a:close/>
                </a:path>
              </a:pathLst>
            </a:custGeom>
            <a:solidFill>
              <a:srgbClr val="0A1F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3550" y="2778056"/>
              <a:ext cx="210102" cy="21005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54579" y="2569079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175078" y="400025"/>
                  </a:moveTo>
                  <a:lnTo>
                    <a:pt x="112856" y="382593"/>
                  </a:lnTo>
                  <a:lnTo>
                    <a:pt x="75440" y="358796"/>
                  </a:lnTo>
                  <a:lnTo>
                    <a:pt x="44242" y="327581"/>
                  </a:lnTo>
                  <a:lnTo>
                    <a:pt x="20466" y="290157"/>
                  </a:lnTo>
                  <a:lnTo>
                    <a:pt x="5319" y="247733"/>
                  </a:lnTo>
                  <a:lnTo>
                    <a:pt x="0" y="201516"/>
                  </a:lnTo>
                  <a:lnTo>
                    <a:pt x="5333" y="155304"/>
                  </a:lnTo>
                  <a:lnTo>
                    <a:pt x="20491" y="112889"/>
                  </a:lnTo>
                  <a:lnTo>
                    <a:pt x="44273" y="75477"/>
                  </a:lnTo>
                  <a:lnTo>
                    <a:pt x="75473" y="44274"/>
                  </a:lnTo>
                  <a:lnTo>
                    <a:pt x="112884" y="20489"/>
                  </a:lnTo>
                  <a:lnTo>
                    <a:pt x="155301" y="5328"/>
                  </a:lnTo>
                  <a:lnTo>
                    <a:pt x="201517" y="0"/>
                  </a:lnTo>
                  <a:lnTo>
                    <a:pt x="247737" y="5311"/>
                  </a:lnTo>
                  <a:lnTo>
                    <a:pt x="290165" y="20459"/>
                  </a:lnTo>
                  <a:lnTo>
                    <a:pt x="327592" y="44238"/>
                  </a:lnTo>
                  <a:lnTo>
                    <a:pt x="358810" y="75441"/>
                  </a:lnTo>
                  <a:lnTo>
                    <a:pt x="382608" y="112862"/>
                  </a:lnTo>
                  <a:lnTo>
                    <a:pt x="397776" y="155293"/>
                  </a:lnTo>
                  <a:lnTo>
                    <a:pt x="400025" y="175078"/>
                  </a:lnTo>
                </a:path>
              </a:pathLst>
            </a:custGeom>
            <a:ln w="38099">
              <a:solidFill>
                <a:srgbClr val="0A1F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47236" y="2461745"/>
            <a:ext cx="1978660" cy="4609465"/>
          </a:xfrm>
          <a:prstGeom prst="rect">
            <a:avLst/>
          </a:prstGeom>
          <a:ln w="28575">
            <a:solidFill>
              <a:srgbClr val="C8D3E6"/>
            </a:solidFill>
          </a:ln>
        </p:spPr>
        <p:txBody>
          <a:bodyPr vert="horz" wrap="square" lIns="0" tIns="172720" rIns="0" bIns="0" rtlCol="0">
            <a:spAutoFit/>
          </a:bodyPr>
          <a:lstStyle/>
          <a:p>
            <a:pPr marL="260350">
              <a:lnSpc>
                <a:spcPct val="100000"/>
              </a:lnSpc>
              <a:spcBef>
                <a:spcPts val="1360"/>
              </a:spcBef>
              <a:tabLst>
                <a:tab pos="582930" algn="l"/>
              </a:tabLst>
            </a:pPr>
            <a:r>
              <a:rPr sz="2250" b="1" spc="-75" baseline="3703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2250" b="1" baseline="3703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550" b="1" dirty="0">
                <a:solidFill>
                  <a:srgbClr val="0A1F4A"/>
                </a:solidFill>
                <a:latin typeface="Calibri"/>
                <a:cs typeface="Calibri"/>
              </a:rPr>
              <a:t>Priority</a:t>
            </a:r>
            <a:endParaRPr sz="1550">
              <a:latin typeface="Calibri"/>
              <a:cs typeface="Calibri"/>
            </a:endParaRPr>
          </a:p>
          <a:p>
            <a:pPr marL="144145" marR="243204">
              <a:lnSpc>
                <a:spcPts val="1580"/>
              </a:lnSpc>
              <a:spcBef>
                <a:spcPts val="1555"/>
              </a:spcBef>
            </a:pPr>
            <a:r>
              <a:rPr sz="1350" i="1" dirty="0">
                <a:solidFill>
                  <a:srgbClr val="5B6474"/>
                </a:solidFill>
                <a:latin typeface="Calibri"/>
                <a:cs typeface="Calibri"/>
              </a:rPr>
              <a:t>Assessed priority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779376" y="2447450"/>
            <a:ext cx="2007235" cy="4634230"/>
            <a:chOff x="2779376" y="2447450"/>
            <a:chExt cx="2007235" cy="4634230"/>
          </a:xfrm>
        </p:grpSpPr>
        <p:sp>
          <p:nvSpPr>
            <p:cNvPr id="25" name="object 25"/>
            <p:cNvSpPr/>
            <p:nvPr/>
          </p:nvSpPr>
          <p:spPr>
            <a:xfrm>
              <a:off x="2793663" y="2461736"/>
              <a:ext cx="1978660" cy="2272665"/>
            </a:xfrm>
            <a:custGeom>
              <a:avLst/>
              <a:gdLst/>
              <a:ahLst/>
              <a:cxnLst/>
              <a:rect l="l" t="t" r="r" b="b"/>
              <a:pathLst>
                <a:path w="1978660" h="2272665">
                  <a:moveTo>
                    <a:pt x="1978418" y="2272090"/>
                  </a:moveTo>
                  <a:lnTo>
                    <a:pt x="0" y="2272090"/>
                  </a:lnTo>
                  <a:lnTo>
                    <a:pt x="0" y="0"/>
                  </a:lnTo>
                  <a:lnTo>
                    <a:pt x="1978418" y="0"/>
                  </a:lnTo>
                  <a:lnTo>
                    <a:pt x="1978418" y="2272090"/>
                  </a:lnTo>
                  <a:close/>
                </a:path>
              </a:pathLst>
            </a:custGeom>
            <a:solidFill>
              <a:srgbClr val="F5F7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793663" y="2461738"/>
              <a:ext cx="1978660" cy="2266950"/>
            </a:xfrm>
            <a:custGeom>
              <a:avLst/>
              <a:gdLst/>
              <a:ahLst/>
              <a:cxnLst/>
              <a:rect l="l" t="t" r="r" b="b"/>
              <a:pathLst>
                <a:path w="1978660" h="2266950">
                  <a:moveTo>
                    <a:pt x="0" y="2266947"/>
                  </a:moveTo>
                  <a:lnTo>
                    <a:pt x="0" y="0"/>
                  </a:lnTo>
                  <a:lnTo>
                    <a:pt x="1978391" y="0"/>
                  </a:lnTo>
                  <a:lnTo>
                    <a:pt x="1978391" y="2266947"/>
                  </a:lnTo>
                </a:path>
              </a:pathLst>
            </a:custGeom>
            <a:ln w="28575">
              <a:solidFill>
                <a:srgbClr val="C8D3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901009" y="2569083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403225" h="403225">
                  <a:moveTo>
                    <a:pt x="201548" y="403097"/>
                  </a:moveTo>
                  <a:lnTo>
                    <a:pt x="155324" y="397776"/>
                  </a:lnTo>
                  <a:lnTo>
                    <a:pt x="112897" y="382618"/>
                  </a:lnTo>
                  <a:lnTo>
                    <a:pt x="75475" y="358830"/>
                  </a:lnTo>
                  <a:lnTo>
                    <a:pt x="44267" y="327622"/>
                  </a:lnTo>
                  <a:lnTo>
                    <a:pt x="20479" y="290200"/>
                  </a:lnTo>
                  <a:lnTo>
                    <a:pt x="5321" y="247773"/>
                  </a:lnTo>
                  <a:lnTo>
                    <a:pt x="0" y="201548"/>
                  </a:lnTo>
                  <a:lnTo>
                    <a:pt x="5321" y="155324"/>
                  </a:lnTo>
                  <a:lnTo>
                    <a:pt x="20479" y="112897"/>
                  </a:lnTo>
                  <a:lnTo>
                    <a:pt x="44267" y="75475"/>
                  </a:lnTo>
                  <a:lnTo>
                    <a:pt x="75475" y="44267"/>
                  </a:lnTo>
                  <a:lnTo>
                    <a:pt x="112897" y="20479"/>
                  </a:lnTo>
                  <a:lnTo>
                    <a:pt x="155324" y="5321"/>
                  </a:lnTo>
                  <a:lnTo>
                    <a:pt x="201548" y="0"/>
                  </a:lnTo>
                  <a:lnTo>
                    <a:pt x="247773" y="5321"/>
                  </a:lnTo>
                  <a:lnTo>
                    <a:pt x="290200" y="20479"/>
                  </a:lnTo>
                  <a:lnTo>
                    <a:pt x="327622" y="44267"/>
                  </a:lnTo>
                  <a:lnTo>
                    <a:pt x="358830" y="75475"/>
                  </a:lnTo>
                  <a:lnTo>
                    <a:pt x="382618" y="112897"/>
                  </a:lnTo>
                  <a:lnTo>
                    <a:pt x="397776" y="155324"/>
                  </a:lnTo>
                  <a:lnTo>
                    <a:pt x="403097" y="201548"/>
                  </a:lnTo>
                  <a:lnTo>
                    <a:pt x="397776" y="247773"/>
                  </a:lnTo>
                  <a:lnTo>
                    <a:pt x="382618" y="290200"/>
                  </a:lnTo>
                  <a:lnTo>
                    <a:pt x="358830" y="327622"/>
                  </a:lnTo>
                  <a:lnTo>
                    <a:pt x="327622" y="358830"/>
                  </a:lnTo>
                  <a:lnTo>
                    <a:pt x="290200" y="382618"/>
                  </a:lnTo>
                  <a:lnTo>
                    <a:pt x="247773" y="397776"/>
                  </a:lnTo>
                  <a:lnTo>
                    <a:pt x="201548" y="403097"/>
                  </a:lnTo>
                  <a:close/>
                </a:path>
              </a:pathLst>
            </a:custGeom>
            <a:solidFill>
              <a:srgbClr val="0A1F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09977" y="2778056"/>
              <a:ext cx="210102" cy="210052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901006" y="2569079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175078" y="400025"/>
                  </a:moveTo>
                  <a:lnTo>
                    <a:pt x="112856" y="382593"/>
                  </a:lnTo>
                  <a:lnTo>
                    <a:pt x="75440" y="358796"/>
                  </a:lnTo>
                  <a:lnTo>
                    <a:pt x="44242" y="327581"/>
                  </a:lnTo>
                  <a:lnTo>
                    <a:pt x="20466" y="290157"/>
                  </a:lnTo>
                  <a:lnTo>
                    <a:pt x="5319" y="247733"/>
                  </a:lnTo>
                  <a:lnTo>
                    <a:pt x="0" y="201516"/>
                  </a:lnTo>
                  <a:lnTo>
                    <a:pt x="5333" y="155304"/>
                  </a:lnTo>
                  <a:lnTo>
                    <a:pt x="20491" y="112889"/>
                  </a:lnTo>
                  <a:lnTo>
                    <a:pt x="44273" y="75477"/>
                  </a:lnTo>
                  <a:lnTo>
                    <a:pt x="75473" y="44274"/>
                  </a:lnTo>
                  <a:lnTo>
                    <a:pt x="112884" y="20489"/>
                  </a:lnTo>
                  <a:lnTo>
                    <a:pt x="155301" y="5328"/>
                  </a:lnTo>
                  <a:lnTo>
                    <a:pt x="201517" y="0"/>
                  </a:lnTo>
                  <a:lnTo>
                    <a:pt x="247737" y="5311"/>
                  </a:lnTo>
                  <a:lnTo>
                    <a:pt x="290165" y="20459"/>
                  </a:lnTo>
                  <a:lnTo>
                    <a:pt x="327592" y="44238"/>
                  </a:lnTo>
                  <a:lnTo>
                    <a:pt x="358810" y="75441"/>
                  </a:lnTo>
                  <a:lnTo>
                    <a:pt x="382607" y="112862"/>
                  </a:lnTo>
                  <a:lnTo>
                    <a:pt x="397776" y="155293"/>
                  </a:lnTo>
                  <a:lnTo>
                    <a:pt x="400025" y="175078"/>
                  </a:lnTo>
                </a:path>
              </a:pathLst>
            </a:custGeom>
            <a:ln w="38099">
              <a:solidFill>
                <a:srgbClr val="0A1F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793663" y="4800314"/>
              <a:ext cx="1978660" cy="2272665"/>
            </a:xfrm>
            <a:custGeom>
              <a:avLst/>
              <a:gdLst/>
              <a:ahLst/>
              <a:cxnLst/>
              <a:rect l="l" t="t" r="r" b="b"/>
              <a:pathLst>
                <a:path w="1978660" h="2272665">
                  <a:moveTo>
                    <a:pt x="1978418" y="2272090"/>
                  </a:moveTo>
                  <a:lnTo>
                    <a:pt x="0" y="2272090"/>
                  </a:lnTo>
                  <a:lnTo>
                    <a:pt x="0" y="0"/>
                  </a:lnTo>
                  <a:lnTo>
                    <a:pt x="1978418" y="0"/>
                  </a:lnTo>
                  <a:lnTo>
                    <a:pt x="1978418" y="2272090"/>
                  </a:lnTo>
                  <a:close/>
                </a:path>
              </a:pathLst>
            </a:custGeom>
            <a:solidFill>
              <a:srgbClr val="F5F7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793663" y="4800316"/>
              <a:ext cx="1978660" cy="2266950"/>
            </a:xfrm>
            <a:custGeom>
              <a:avLst/>
              <a:gdLst/>
              <a:ahLst/>
              <a:cxnLst/>
              <a:rect l="l" t="t" r="r" b="b"/>
              <a:pathLst>
                <a:path w="1978660" h="2266950">
                  <a:moveTo>
                    <a:pt x="0" y="2266947"/>
                  </a:moveTo>
                  <a:lnTo>
                    <a:pt x="0" y="0"/>
                  </a:lnTo>
                  <a:lnTo>
                    <a:pt x="1978391" y="0"/>
                  </a:lnTo>
                  <a:lnTo>
                    <a:pt x="1978391" y="2266947"/>
                  </a:lnTo>
                </a:path>
              </a:pathLst>
            </a:custGeom>
            <a:ln w="28575">
              <a:solidFill>
                <a:srgbClr val="C8D3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901009" y="4907660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403225" h="403225">
                  <a:moveTo>
                    <a:pt x="201548" y="403097"/>
                  </a:moveTo>
                  <a:lnTo>
                    <a:pt x="155324" y="397776"/>
                  </a:lnTo>
                  <a:lnTo>
                    <a:pt x="112897" y="382618"/>
                  </a:lnTo>
                  <a:lnTo>
                    <a:pt x="75475" y="358830"/>
                  </a:lnTo>
                  <a:lnTo>
                    <a:pt x="44267" y="327622"/>
                  </a:lnTo>
                  <a:lnTo>
                    <a:pt x="20479" y="290200"/>
                  </a:lnTo>
                  <a:lnTo>
                    <a:pt x="5321" y="247773"/>
                  </a:lnTo>
                  <a:lnTo>
                    <a:pt x="0" y="201548"/>
                  </a:lnTo>
                  <a:lnTo>
                    <a:pt x="5321" y="155324"/>
                  </a:lnTo>
                  <a:lnTo>
                    <a:pt x="20479" y="112897"/>
                  </a:lnTo>
                  <a:lnTo>
                    <a:pt x="44267" y="75475"/>
                  </a:lnTo>
                  <a:lnTo>
                    <a:pt x="75475" y="44267"/>
                  </a:lnTo>
                  <a:lnTo>
                    <a:pt x="112897" y="20479"/>
                  </a:lnTo>
                  <a:lnTo>
                    <a:pt x="155324" y="5321"/>
                  </a:lnTo>
                  <a:lnTo>
                    <a:pt x="201548" y="0"/>
                  </a:lnTo>
                  <a:lnTo>
                    <a:pt x="247773" y="5321"/>
                  </a:lnTo>
                  <a:lnTo>
                    <a:pt x="290200" y="20479"/>
                  </a:lnTo>
                  <a:lnTo>
                    <a:pt x="327622" y="44267"/>
                  </a:lnTo>
                  <a:lnTo>
                    <a:pt x="358830" y="75475"/>
                  </a:lnTo>
                  <a:lnTo>
                    <a:pt x="382618" y="112897"/>
                  </a:lnTo>
                  <a:lnTo>
                    <a:pt x="397776" y="155324"/>
                  </a:lnTo>
                  <a:lnTo>
                    <a:pt x="403097" y="201548"/>
                  </a:lnTo>
                  <a:lnTo>
                    <a:pt x="397776" y="247773"/>
                  </a:lnTo>
                  <a:lnTo>
                    <a:pt x="382618" y="290200"/>
                  </a:lnTo>
                  <a:lnTo>
                    <a:pt x="358830" y="327622"/>
                  </a:lnTo>
                  <a:lnTo>
                    <a:pt x="327622" y="358830"/>
                  </a:lnTo>
                  <a:lnTo>
                    <a:pt x="290200" y="382618"/>
                  </a:lnTo>
                  <a:lnTo>
                    <a:pt x="247773" y="397776"/>
                  </a:lnTo>
                  <a:lnTo>
                    <a:pt x="201548" y="403097"/>
                  </a:lnTo>
                  <a:close/>
                </a:path>
              </a:pathLst>
            </a:custGeom>
            <a:solidFill>
              <a:srgbClr val="0A1F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09977" y="5116633"/>
              <a:ext cx="210102" cy="21005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901006" y="4907656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175078" y="400025"/>
                  </a:moveTo>
                  <a:lnTo>
                    <a:pt x="112856" y="382593"/>
                  </a:lnTo>
                  <a:lnTo>
                    <a:pt x="75440" y="358796"/>
                  </a:lnTo>
                  <a:lnTo>
                    <a:pt x="44242" y="327581"/>
                  </a:lnTo>
                  <a:lnTo>
                    <a:pt x="20466" y="290157"/>
                  </a:lnTo>
                  <a:lnTo>
                    <a:pt x="5319" y="247733"/>
                  </a:lnTo>
                  <a:lnTo>
                    <a:pt x="0" y="201516"/>
                  </a:lnTo>
                  <a:lnTo>
                    <a:pt x="5333" y="155304"/>
                  </a:lnTo>
                  <a:lnTo>
                    <a:pt x="20491" y="112889"/>
                  </a:lnTo>
                  <a:lnTo>
                    <a:pt x="44273" y="75477"/>
                  </a:lnTo>
                  <a:lnTo>
                    <a:pt x="75473" y="44274"/>
                  </a:lnTo>
                  <a:lnTo>
                    <a:pt x="112884" y="20489"/>
                  </a:lnTo>
                  <a:lnTo>
                    <a:pt x="155301" y="5328"/>
                  </a:lnTo>
                  <a:lnTo>
                    <a:pt x="201517" y="0"/>
                  </a:lnTo>
                  <a:lnTo>
                    <a:pt x="247737" y="5311"/>
                  </a:lnTo>
                  <a:lnTo>
                    <a:pt x="290165" y="20459"/>
                  </a:lnTo>
                  <a:lnTo>
                    <a:pt x="327592" y="44238"/>
                  </a:lnTo>
                  <a:lnTo>
                    <a:pt x="358810" y="75441"/>
                  </a:lnTo>
                  <a:lnTo>
                    <a:pt x="382607" y="112862"/>
                  </a:lnTo>
                  <a:lnTo>
                    <a:pt x="397776" y="155293"/>
                  </a:lnTo>
                  <a:lnTo>
                    <a:pt x="400025" y="175078"/>
                  </a:lnTo>
                </a:path>
              </a:pathLst>
            </a:custGeom>
            <a:ln w="38099">
              <a:solidFill>
                <a:srgbClr val="0A1F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807951" y="2618867"/>
            <a:ext cx="1950085" cy="1657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5745">
              <a:lnSpc>
                <a:spcPct val="100000"/>
              </a:lnSpc>
              <a:spcBef>
                <a:spcPts val="125"/>
              </a:spcBef>
              <a:tabLst>
                <a:tab pos="568325" algn="l"/>
              </a:tabLst>
            </a:pPr>
            <a:r>
              <a:rPr sz="2250" b="1" spc="-75" baseline="3703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2250" b="1" baseline="3703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550" b="1" dirty="0">
                <a:solidFill>
                  <a:srgbClr val="0A1F4A"/>
                </a:solidFill>
                <a:latin typeface="Calibri"/>
                <a:cs typeface="Calibri"/>
              </a:rPr>
              <a:t>Ambulances</a:t>
            </a:r>
            <a:endParaRPr sz="1550">
              <a:latin typeface="Calibri"/>
              <a:cs typeface="Calibri"/>
            </a:endParaRPr>
          </a:p>
          <a:p>
            <a:pPr marL="129539" marR="197485">
              <a:lnSpc>
                <a:spcPts val="1580"/>
              </a:lnSpc>
              <a:spcBef>
                <a:spcPts val="1555"/>
              </a:spcBef>
            </a:pPr>
            <a:r>
              <a:rPr sz="1350" i="1" dirty="0">
                <a:solidFill>
                  <a:srgbClr val="5B6474"/>
                </a:solidFill>
                <a:latin typeface="Calibri"/>
                <a:cs typeface="Calibri"/>
              </a:rPr>
              <a:t>Identify available units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807951" y="4957444"/>
            <a:ext cx="1950085" cy="14573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5745">
              <a:lnSpc>
                <a:spcPct val="100000"/>
              </a:lnSpc>
              <a:spcBef>
                <a:spcPts val="125"/>
              </a:spcBef>
              <a:tabLst>
                <a:tab pos="568325" algn="l"/>
              </a:tabLst>
            </a:pPr>
            <a:r>
              <a:rPr sz="2250" b="1" spc="-75" baseline="3703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2250" b="1" baseline="3703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550" b="1" dirty="0">
                <a:solidFill>
                  <a:srgbClr val="0A1F4A"/>
                </a:solidFill>
                <a:latin typeface="Calibri"/>
                <a:cs typeface="Calibri"/>
              </a:rPr>
              <a:t>ETA</a:t>
            </a:r>
            <a:endParaRPr sz="1550">
              <a:latin typeface="Calibri"/>
              <a:cs typeface="Calibri"/>
            </a:endParaRPr>
          </a:p>
          <a:p>
            <a:pPr marL="129539" marR="194310">
              <a:lnSpc>
                <a:spcPts val="1580"/>
              </a:lnSpc>
              <a:spcBef>
                <a:spcPts val="1555"/>
              </a:spcBef>
            </a:pPr>
            <a:r>
              <a:rPr sz="1350" i="1" dirty="0">
                <a:solidFill>
                  <a:srgbClr val="5B6474"/>
                </a:solidFill>
                <a:latin typeface="Calibri"/>
                <a:cs typeface="Calibri"/>
              </a:rPr>
              <a:t>Location &amp; travel time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840090" y="2461736"/>
            <a:ext cx="1978660" cy="4606290"/>
            <a:chOff x="4840090" y="2461736"/>
            <a:chExt cx="1978660" cy="4606290"/>
          </a:xfrm>
        </p:grpSpPr>
        <p:sp>
          <p:nvSpPr>
            <p:cNvPr id="38" name="object 38"/>
            <p:cNvSpPr/>
            <p:nvPr/>
          </p:nvSpPr>
          <p:spPr>
            <a:xfrm>
              <a:off x="4840090" y="2461736"/>
              <a:ext cx="1978660" cy="4606290"/>
            </a:xfrm>
            <a:custGeom>
              <a:avLst/>
              <a:gdLst/>
              <a:ahLst/>
              <a:cxnLst/>
              <a:rect l="l" t="t" r="r" b="b"/>
              <a:pathLst>
                <a:path w="1978659" h="4606290">
                  <a:moveTo>
                    <a:pt x="1978418" y="4606005"/>
                  </a:moveTo>
                  <a:lnTo>
                    <a:pt x="0" y="4606005"/>
                  </a:lnTo>
                  <a:lnTo>
                    <a:pt x="0" y="0"/>
                  </a:lnTo>
                  <a:lnTo>
                    <a:pt x="1978418" y="0"/>
                  </a:lnTo>
                  <a:lnTo>
                    <a:pt x="1978418" y="4606005"/>
                  </a:lnTo>
                  <a:close/>
                </a:path>
              </a:pathLst>
            </a:custGeom>
            <a:solidFill>
              <a:srgbClr val="0A1F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947437" y="2569083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403225" h="403225">
                  <a:moveTo>
                    <a:pt x="201548" y="403097"/>
                  </a:moveTo>
                  <a:lnTo>
                    <a:pt x="155324" y="397776"/>
                  </a:lnTo>
                  <a:lnTo>
                    <a:pt x="112897" y="382618"/>
                  </a:lnTo>
                  <a:lnTo>
                    <a:pt x="75475" y="358830"/>
                  </a:lnTo>
                  <a:lnTo>
                    <a:pt x="44267" y="327622"/>
                  </a:lnTo>
                  <a:lnTo>
                    <a:pt x="20479" y="290200"/>
                  </a:lnTo>
                  <a:lnTo>
                    <a:pt x="5321" y="247773"/>
                  </a:lnTo>
                  <a:lnTo>
                    <a:pt x="0" y="201548"/>
                  </a:lnTo>
                  <a:lnTo>
                    <a:pt x="5321" y="155324"/>
                  </a:lnTo>
                  <a:lnTo>
                    <a:pt x="20479" y="112897"/>
                  </a:lnTo>
                  <a:lnTo>
                    <a:pt x="44267" y="75475"/>
                  </a:lnTo>
                  <a:lnTo>
                    <a:pt x="75475" y="44267"/>
                  </a:lnTo>
                  <a:lnTo>
                    <a:pt x="112897" y="20479"/>
                  </a:lnTo>
                  <a:lnTo>
                    <a:pt x="155324" y="5321"/>
                  </a:lnTo>
                  <a:lnTo>
                    <a:pt x="201548" y="0"/>
                  </a:lnTo>
                  <a:lnTo>
                    <a:pt x="247773" y="5321"/>
                  </a:lnTo>
                  <a:lnTo>
                    <a:pt x="290200" y="20479"/>
                  </a:lnTo>
                  <a:lnTo>
                    <a:pt x="327622" y="44267"/>
                  </a:lnTo>
                  <a:lnTo>
                    <a:pt x="358830" y="75475"/>
                  </a:lnTo>
                  <a:lnTo>
                    <a:pt x="382618" y="112897"/>
                  </a:lnTo>
                  <a:lnTo>
                    <a:pt x="397776" y="155324"/>
                  </a:lnTo>
                  <a:lnTo>
                    <a:pt x="403097" y="201548"/>
                  </a:lnTo>
                  <a:lnTo>
                    <a:pt x="397776" y="247773"/>
                  </a:lnTo>
                  <a:lnTo>
                    <a:pt x="382618" y="290200"/>
                  </a:lnTo>
                  <a:lnTo>
                    <a:pt x="358830" y="327622"/>
                  </a:lnTo>
                  <a:lnTo>
                    <a:pt x="327622" y="358830"/>
                  </a:lnTo>
                  <a:lnTo>
                    <a:pt x="290200" y="382618"/>
                  </a:lnTo>
                  <a:lnTo>
                    <a:pt x="247773" y="397776"/>
                  </a:lnTo>
                  <a:lnTo>
                    <a:pt x="201548" y="403097"/>
                  </a:lnTo>
                  <a:close/>
                </a:path>
              </a:pathLst>
            </a:custGeom>
            <a:solidFill>
              <a:srgbClr val="F1A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56405" y="2778054"/>
              <a:ext cx="210102" cy="210053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947434" y="2569079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175078" y="400025"/>
                  </a:moveTo>
                  <a:lnTo>
                    <a:pt x="112856" y="382593"/>
                  </a:lnTo>
                  <a:lnTo>
                    <a:pt x="75440" y="358796"/>
                  </a:lnTo>
                  <a:lnTo>
                    <a:pt x="44242" y="327581"/>
                  </a:lnTo>
                  <a:lnTo>
                    <a:pt x="20466" y="290157"/>
                  </a:lnTo>
                  <a:lnTo>
                    <a:pt x="5319" y="247733"/>
                  </a:lnTo>
                  <a:lnTo>
                    <a:pt x="0" y="201516"/>
                  </a:lnTo>
                  <a:lnTo>
                    <a:pt x="5333" y="155304"/>
                  </a:lnTo>
                  <a:lnTo>
                    <a:pt x="20491" y="112889"/>
                  </a:lnTo>
                  <a:lnTo>
                    <a:pt x="44273" y="75477"/>
                  </a:lnTo>
                  <a:lnTo>
                    <a:pt x="75473" y="44274"/>
                  </a:lnTo>
                  <a:lnTo>
                    <a:pt x="112884" y="20489"/>
                  </a:lnTo>
                  <a:lnTo>
                    <a:pt x="155301" y="5328"/>
                  </a:lnTo>
                  <a:lnTo>
                    <a:pt x="201517" y="0"/>
                  </a:lnTo>
                  <a:lnTo>
                    <a:pt x="247737" y="5311"/>
                  </a:lnTo>
                  <a:lnTo>
                    <a:pt x="290165" y="20459"/>
                  </a:lnTo>
                  <a:lnTo>
                    <a:pt x="327592" y="44238"/>
                  </a:lnTo>
                  <a:lnTo>
                    <a:pt x="358810" y="75441"/>
                  </a:lnTo>
                  <a:lnTo>
                    <a:pt x="382607" y="112862"/>
                  </a:lnTo>
                  <a:lnTo>
                    <a:pt x="397776" y="155293"/>
                  </a:lnTo>
                  <a:lnTo>
                    <a:pt x="400025" y="175080"/>
                  </a:lnTo>
                </a:path>
              </a:pathLst>
            </a:custGeom>
            <a:ln w="38099">
              <a:solidFill>
                <a:srgbClr val="F1A8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4840090" y="2461745"/>
            <a:ext cx="1978660" cy="4707122"/>
          </a:xfrm>
          <a:prstGeom prst="rect">
            <a:avLst/>
          </a:prstGeom>
          <a:ln w="28575">
            <a:solidFill>
              <a:srgbClr val="C8D3E6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582930" marR="345440" indent="-323215">
              <a:lnSpc>
                <a:spcPct val="100800"/>
              </a:lnSpc>
              <a:spcBef>
                <a:spcPts val="370"/>
              </a:spcBef>
              <a:tabLst>
                <a:tab pos="582930" algn="l"/>
              </a:tabLst>
            </a:pPr>
            <a:r>
              <a:rPr sz="2250" b="1" spc="-75" baseline="-31481" dirty="0">
                <a:solidFill>
                  <a:srgbClr val="0A1F4A"/>
                </a:solidFill>
                <a:latin typeface="Calibri"/>
                <a:cs typeface="Calibri"/>
              </a:rPr>
              <a:t>4</a:t>
            </a:r>
            <a:r>
              <a:rPr sz="2250" b="1" baseline="-31481" dirty="0">
                <a:solidFill>
                  <a:srgbClr val="0A1F4A"/>
                </a:solidFill>
                <a:latin typeface="Calibri"/>
                <a:cs typeface="Calibri"/>
              </a:rPr>
              <a:t>	</a:t>
            </a:r>
            <a:r>
              <a:rPr sz="1550" b="1" spc="-10" dirty="0">
                <a:solidFill>
                  <a:srgbClr val="FFFFFF"/>
                </a:solidFill>
                <a:latin typeface="Calibri"/>
                <a:cs typeface="Calibri"/>
              </a:rPr>
              <a:t>Staff &amp; Kit</a:t>
            </a:r>
            <a:endParaRPr lang="en-US" sz="1550" b="1" spc="-1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582930" marR="345440" indent="-323215">
              <a:lnSpc>
                <a:spcPct val="100800"/>
              </a:lnSpc>
              <a:spcBef>
                <a:spcPts val="370"/>
              </a:spcBef>
              <a:tabLst>
                <a:tab pos="582930" algn="l"/>
              </a:tabLst>
            </a:pPr>
            <a:endParaRPr lang="en-IN" sz="1550" b="1" spc="-1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582930" marR="345440" indent="-323215">
              <a:lnSpc>
                <a:spcPct val="100800"/>
              </a:lnSpc>
              <a:spcBef>
                <a:spcPts val="370"/>
              </a:spcBef>
              <a:tabLst>
                <a:tab pos="582930" algn="l"/>
              </a:tabLst>
            </a:pPr>
            <a:endParaRPr sz="1550" dirty="0">
              <a:latin typeface="Calibri"/>
              <a:cs typeface="Calibri"/>
            </a:endParaRPr>
          </a:p>
          <a:p>
            <a:pPr marL="144145" marR="152400">
              <a:lnSpc>
                <a:spcPts val="1580"/>
              </a:lnSpc>
              <a:spcBef>
                <a:spcPts val="655"/>
              </a:spcBef>
            </a:pPr>
            <a:r>
              <a:rPr sz="1350" i="1" dirty="0">
                <a:solidFill>
                  <a:srgbClr val="DBE3F5"/>
                </a:solidFill>
                <a:latin typeface="Calibri"/>
                <a:cs typeface="Calibri"/>
              </a:rPr>
              <a:t>Equipment, personnel</a:t>
            </a:r>
            <a:endParaRPr lang="en-US" sz="1350" i="1" dirty="0">
              <a:solidFill>
                <a:srgbClr val="DBE3F5"/>
              </a:solidFill>
              <a:latin typeface="Calibri"/>
              <a:cs typeface="Calibri"/>
            </a:endParaRPr>
          </a:p>
          <a:p>
            <a:pPr marL="144145" marR="152400">
              <a:lnSpc>
                <a:spcPts val="1580"/>
              </a:lnSpc>
              <a:spcBef>
                <a:spcPts val="655"/>
              </a:spcBef>
            </a:pPr>
            <a:endParaRPr lang="en-IN" sz="1350" i="1" dirty="0">
              <a:solidFill>
                <a:srgbClr val="DBE3F5"/>
              </a:solidFill>
              <a:latin typeface="Calibri"/>
              <a:cs typeface="Calibri"/>
            </a:endParaRPr>
          </a:p>
          <a:p>
            <a:pPr marL="144145" marR="152400">
              <a:lnSpc>
                <a:spcPts val="1580"/>
              </a:lnSpc>
              <a:spcBef>
                <a:spcPts val="655"/>
              </a:spcBef>
            </a:pPr>
            <a:endParaRPr lang="en-IN" sz="1350" i="1" dirty="0">
              <a:solidFill>
                <a:srgbClr val="DBE3F5"/>
              </a:solidFill>
              <a:latin typeface="Calibri"/>
              <a:cs typeface="Calibri"/>
            </a:endParaRPr>
          </a:p>
          <a:p>
            <a:pPr marL="144145" marR="152400">
              <a:lnSpc>
                <a:spcPts val="1580"/>
              </a:lnSpc>
              <a:spcBef>
                <a:spcPts val="655"/>
              </a:spcBef>
            </a:pPr>
            <a:endParaRPr lang="en-IN" sz="1350" i="1" dirty="0">
              <a:solidFill>
                <a:srgbClr val="DBE3F5"/>
              </a:solidFill>
              <a:latin typeface="Calibri"/>
              <a:cs typeface="Calibri"/>
            </a:endParaRPr>
          </a:p>
          <a:p>
            <a:pPr marL="144145" marR="152400">
              <a:lnSpc>
                <a:spcPts val="1580"/>
              </a:lnSpc>
              <a:spcBef>
                <a:spcPts val="655"/>
              </a:spcBef>
            </a:pPr>
            <a:endParaRPr lang="en-IN" sz="1350" i="1" dirty="0">
              <a:solidFill>
                <a:srgbClr val="DBE3F5"/>
              </a:solidFill>
              <a:latin typeface="Calibri"/>
              <a:cs typeface="Calibri"/>
            </a:endParaRPr>
          </a:p>
          <a:p>
            <a:pPr marL="144145" marR="152400">
              <a:lnSpc>
                <a:spcPts val="1580"/>
              </a:lnSpc>
              <a:spcBef>
                <a:spcPts val="655"/>
              </a:spcBef>
            </a:pPr>
            <a:endParaRPr lang="en-IN" sz="1350" i="1" dirty="0">
              <a:solidFill>
                <a:srgbClr val="DBE3F5"/>
              </a:solidFill>
              <a:latin typeface="Calibri"/>
              <a:cs typeface="Calibri"/>
            </a:endParaRPr>
          </a:p>
          <a:p>
            <a:pPr marL="144145" marR="152400">
              <a:lnSpc>
                <a:spcPts val="1580"/>
              </a:lnSpc>
              <a:spcBef>
                <a:spcPts val="655"/>
              </a:spcBef>
            </a:pPr>
            <a:endParaRPr lang="en-IN" sz="1350" i="1" dirty="0">
              <a:solidFill>
                <a:srgbClr val="DBE3F5"/>
              </a:solidFill>
              <a:latin typeface="Calibri"/>
              <a:cs typeface="Calibri"/>
            </a:endParaRPr>
          </a:p>
          <a:p>
            <a:pPr marL="144145" marR="152400">
              <a:lnSpc>
                <a:spcPts val="1580"/>
              </a:lnSpc>
              <a:spcBef>
                <a:spcPts val="655"/>
              </a:spcBef>
            </a:pPr>
            <a:endParaRPr lang="en-IN" sz="1350" i="1" dirty="0">
              <a:solidFill>
                <a:srgbClr val="DBE3F5"/>
              </a:solidFill>
              <a:latin typeface="Calibri"/>
              <a:cs typeface="Calibri"/>
            </a:endParaRPr>
          </a:p>
          <a:p>
            <a:pPr marL="144145" marR="152400">
              <a:lnSpc>
                <a:spcPts val="1580"/>
              </a:lnSpc>
              <a:spcBef>
                <a:spcPts val="655"/>
              </a:spcBef>
            </a:pPr>
            <a:endParaRPr lang="en-IN" sz="1350" i="1" dirty="0">
              <a:solidFill>
                <a:srgbClr val="DBE3F5"/>
              </a:solidFill>
              <a:latin typeface="Calibri"/>
              <a:cs typeface="Calibri"/>
            </a:endParaRPr>
          </a:p>
          <a:p>
            <a:pPr marL="144145" marR="152400">
              <a:lnSpc>
                <a:spcPts val="1580"/>
              </a:lnSpc>
              <a:spcBef>
                <a:spcPts val="655"/>
              </a:spcBef>
            </a:pPr>
            <a:endParaRPr lang="en-IN" sz="1350" i="1" dirty="0">
              <a:solidFill>
                <a:srgbClr val="DBE3F5"/>
              </a:solidFill>
              <a:latin typeface="Calibri"/>
              <a:cs typeface="Calibri"/>
            </a:endParaRPr>
          </a:p>
          <a:p>
            <a:pPr marL="144145" marR="152400">
              <a:lnSpc>
                <a:spcPts val="1580"/>
              </a:lnSpc>
              <a:spcBef>
                <a:spcPts val="655"/>
              </a:spcBef>
            </a:pPr>
            <a:endParaRPr lang="en-IN" sz="1350" i="1" dirty="0">
              <a:solidFill>
                <a:srgbClr val="DBE3F5"/>
              </a:solidFill>
              <a:latin typeface="Calibri"/>
              <a:cs typeface="Calibri"/>
            </a:endParaRPr>
          </a:p>
          <a:p>
            <a:pPr marL="144145" marR="152400">
              <a:lnSpc>
                <a:spcPts val="1580"/>
              </a:lnSpc>
              <a:spcBef>
                <a:spcPts val="655"/>
              </a:spcBef>
            </a:pPr>
            <a:endParaRPr lang="en-IN" sz="1350" i="1" dirty="0">
              <a:solidFill>
                <a:srgbClr val="DBE3F5"/>
              </a:solidFill>
              <a:latin typeface="Calibri"/>
              <a:cs typeface="Calibri"/>
            </a:endParaRPr>
          </a:p>
          <a:p>
            <a:pPr marL="144145" marR="152400">
              <a:lnSpc>
                <a:spcPts val="1580"/>
              </a:lnSpc>
              <a:spcBef>
                <a:spcPts val="655"/>
              </a:spcBef>
            </a:pPr>
            <a:endParaRPr sz="1350" dirty="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6872230" y="2447450"/>
            <a:ext cx="2007235" cy="4634230"/>
            <a:chOff x="6872230" y="2447450"/>
            <a:chExt cx="2007235" cy="4634230"/>
          </a:xfrm>
        </p:grpSpPr>
        <p:sp>
          <p:nvSpPr>
            <p:cNvPr id="44" name="object 44"/>
            <p:cNvSpPr/>
            <p:nvPr/>
          </p:nvSpPr>
          <p:spPr>
            <a:xfrm>
              <a:off x="6886517" y="2461736"/>
              <a:ext cx="1978660" cy="2272665"/>
            </a:xfrm>
            <a:custGeom>
              <a:avLst/>
              <a:gdLst/>
              <a:ahLst/>
              <a:cxnLst/>
              <a:rect l="l" t="t" r="r" b="b"/>
              <a:pathLst>
                <a:path w="1978659" h="2272665">
                  <a:moveTo>
                    <a:pt x="1978418" y="2272090"/>
                  </a:moveTo>
                  <a:lnTo>
                    <a:pt x="0" y="2272090"/>
                  </a:lnTo>
                  <a:lnTo>
                    <a:pt x="0" y="0"/>
                  </a:lnTo>
                  <a:lnTo>
                    <a:pt x="1978418" y="0"/>
                  </a:lnTo>
                  <a:lnTo>
                    <a:pt x="1978418" y="2272090"/>
                  </a:lnTo>
                  <a:close/>
                </a:path>
              </a:pathLst>
            </a:custGeom>
            <a:solidFill>
              <a:srgbClr val="F5F7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886517" y="2461738"/>
              <a:ext cx="1978660" cy="2266950"/>
            </a:xfrm>
            <a:custGeom>
              <a:avLst/>
              <a:gdLst/>
              <a:ahLst/>
              <a:cxnLst/>
              <a:rect l="l" t="t" r="r" b="b"/>
              <a:pathLst>
                <a:path w="1978659" h="2266950">
                  <a:moveTo>
                    <a:pt x="0" y="2266947"/>
                  </a:moveTo>
                  <a:lnTo>
                    <a:pt x="0" y="0"/>
                  </a:lnTo>
                  <a:lnTo>
                    <a:pt x="1978391" y="0"/>
                  </a:lnTo>
                  <a:lnTo>
                    <a:pt x="1978391" y="2266947"/>
                  </a:lnTo>
                </a:path>
              </a:pathLst>
            </a:custGeom>
            <a:ln w="28575">
              <a:solidFill>
                <a:srgbClr val="C8D3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993865" y="2569083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403225" h="403225">
                  <a:moveTo>
                    <a:pt x="201548" y="403097"/>
                  </a:moveTo>
                  <a:lnTo>
                    <a:pt x="155324" y="397776"/>
                  </a:lnTo>
                  <a:lnTo>
                    <a:pt x="112897" y="382618"/>
                  </a:lnTo>
                  <a:lnTo>
                    <a:pt x="75475" y="358830"/>
                  </a:lnTo>
                  <a:lnTo>
                    <a:pt x="44267" y="327622"/>
                  </a:lnTo>
                  <a:lnTo>
                    <a:pt x="20479" y="290200"/>
                  </a:lnTo>
                  <a:lnTo>
                    <a:pt x="5321" y="247773"/>
                  </a:lnTo>
                  <a:lnTo>
                    <a:pt x="0" y="201548"/>
                  </a:lnTo>
                  <a:lnTo>
                    <a:pt x="5321" y="155324"/>
                  </a:lnTo>
                  <a:lnTo>
                    <a:pt x="20479" y="112897"/>
                  </a:lnTo>
                  <a:lnTo>
                    <a:pt x="44267" y="75475"/>
                  </a:lnTo>
                  <a:lnTo>
                    <a:pt x="75475" y="44267"/>
                  </a:lnTo>
                  <a:lnTo>
                    <a:pt x="112897" y="20479"/>
                  </a:lnTo>
                  <a:lnTo>
                    <a:pt x="155324" y="5321"/>
                  </a:lnTo>
                  <a:lnTo>
                    <a:pt x="201548" y="0"/>
                  </a:lnTo>
                  <a:lnTo>
                    <a:pt x="247773" y="5321"/>
                  </a:lnTo>
                  <a:lnTo>
                    <a:pt x="290200" y="20479"/>
                  </a:lnTo>
                  <a:lnTo>
                    <a:pt x="327622" y="44267"/>
                  </a:lnTo>
                  <a:lnTo>
                    <a:pt x="358830" y="75475"/>
                  </a:lnTo>
                  <a:lnTo>
                    <a:pt x="382618" y="112897"/>
                  </a:lnTo>
                  <a:lnTo>
                    <a:pt x="397776" y="155324"/>
                  </a:lnTo>
                  <a:lnTo>
                    <a:pt x="403097" y="201548"/>
                  </a:lnTo>
                  <a:lnTo>
                    <a:pt x="397776" y="247773"/>
                  </a:lnTo>
                  <a:lnTo>
                    <a:pt x="382618" y="290200"/>
                  </a:lnTo>
                  <a:lnTo>
                    <a:pt x="358830" y="327622"/>
                  </a:lnTo>
                  <a:lnTo>
                    <a:pt x="327622" y="358830"/>
                  </a:lnTo>
                  <a:lnTo>
                    <a:pt x="290200" y="382618"/>
                  </a:lnTo>
                  <a:lnTo>
                    <a:pt x="247773" y="397776"/>
                  </a:lnTo>
                  <a:lnTo>
                    <a:pt x="201548" y="403097"/>
                  </a:lnTo>
                  <a:close/>
                </a:path>
              </a:pathLst>
            </a:custGeom>
            <a:solidFill>
              <a:srgbClr val="0A1F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02832" y="2778056"/>
              <a:ext cx="210102" cy="210052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6993860" y="2569079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175078" y="400025"/>
                  </a:moveTo>
                  <a:lnTo>
                    <a:pt x="112856" y="382593"/>
                  </a:lnTo>
                  <a:lnTo>
                    <a:pt x="75440" y="358796"/>
                  </a:lnTo>
                  <a:lnTo>
                    <a:pt x="44242" y="327581"/>
                  </a:lnTo>
                  <a:lnTo>
                    <a:pt x="20466" y="290157"/>
                  </a:lnTo>
                  <a:lnTo>
                    <a:pt x="5319" y="247733"/>
                  </a:lnTo>
                  <a:lnTo>
                    <a:pt x="0" y="201516"/>
                  </a:lnTo>
                  <a:lnTo>
                    <a:pt x="5333" y="155304"/>
                  </a:lnTo>
                  <a:lnTo>
                    <a:pt x="20491" y="112889"/>
                  </a:lnTo>
                  <a:lnTo>
                    <a:pt x="44273" y="75477"/>
                  </a:lnTo>
                  <a:lnTo>
                    <a:pt x="75473" y="44274"/>
                  </a:lnTo>
                  <a:lnTo>
                    <a:pt x="112884" y="20489"/>
                  </a:lnTo>
                  <a:lnTo>
                    <a:pt x="155301" y="5328"/>
                  </a:lnTo>
                  <a:lnTo>
                    <a:pt x="201517" y="0"/>
                  </a:lnTo>
                  <a:lnTo>
                    <a:pt x="247737" y="5311"/>
                  </a:lnTo>
                  <a:lnTo>
                    <a:pt x="290165" y="20459"/>
                  </a:lnTo>
                  <a:lnTo>
                    <a:pt x="327592" y="44238"/>
                  </a:lnTo>
                  <a:lnTo>
                    <a:pt x="358810" y="75441"/>
                  </a:lnTo>
                  <a:lnTo>
                    <a:pt x="382608" y="112862"/>
                  </a:lnTo>
                  <a:lnTo>
                    <a:pt x="397776" y="155293"/>
                  </a:lnTo>
                  <a:lnTo>
                    <a:pt x="400025" y="175079"/>
                  </a:lnTo>
                </a:path>
              </a:pathLst>
            </a:custGeom>
            <a:ln w="38099">
              <a:solidFill>
                <a:srgbClr val="0A1F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886517" y="4800314"/>
              <a:ext cx="1978660" cy="2272665"/>
            </a:xfrm>
            <a:custGeom>
              <a:avLst/>
              <a:gdLst/>
              <a:ahLst/>
              <a:cxnLst/>
              <a:rect l="l" t="t" r="r" b="b"/>
              <a:pathLst>
                <a:path w="1978659" h="2272665">
                  <a:moveTo>
                    <a:pt x="1978418" y="2272090"/>
                  </a:moveTo>
                  <a:lnTo>
                    <a:pt x="0" y="2272090"/>
                  </a:lnTo>
                  <a:lnTo>
                    <a:pt x="0" y="0"/>
                  </a:lnTo>
                  <a:lnTo>
                    <a:pt x="1978418" y="0"/>
                  </a:lnTo>
                  <a:lnTo>
                    <a:pt x="1978418" y="2272090"/>
                  </a:lnTo>
                  <a:close/>
                </a:path>
              </a:pathLst>
            </a:custGeom>
            <a:solidFill>
              <a:srgbClr val="F5F7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886517" y="4800316"/>
              <a:ext cx="1978660" cy="2266950"/>
            </a:xfrm>
            <a:custGeom>
              <a:avLst/>
              <a:gdLst/>
              <a:ahLst/>
              <a:cxnLst/>
              <a:rect l="l" t="t" r="r" b="b"/>
              <a:pathLst>
                <a:path w="1978659" h="2266950">
                  <a:moveTo>
                    <a:pt x="0" y="2266947"/>
                  </a:moveTo>
                  <a:lnTo>
                    <a:pt x="0" y="0"/>
                  </a:lnTo>
                  <a:lnTo>
                    <a:pt x="1978391" y="0"/>
                  </a:lnTo>
                  <a:lnTo>
                    <a:pt x="1978391" y="2266947"/>
                  </a:lnTo>
                </a:path>
              </a:pathLst>
            </a:custGeom>
            <a:ln w="28574">
              <a:solidFill>
                <a:srgbClr val="C8D3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993865" y="4907660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403225" h="403225">
                  <a:moveTo>
                    <a:pt x="201548" y="403097"/>
                  </a:moveTo>
                  <a:lnTo>
                    <a:pt x="155324" y="397776"/>
                  </a:lnTo>
                  <a:lnTo>
                    <a:pt x="112897" y="382618"/>
                  </a:lnTo>
                  <a:lnTo>
                    <a:pt x="75475" y="358830"/>
                  </a:lnTo>
                  <a:lnTo>
                    <a:pt x="44267" y="327622"/>
                  </a:lnTo>
                  <a:lnTo>
                    <a:pt x="20479" y="290200"/>
                  </a:lnTo>
                  <a:lnTo>
                    <a:pt x="5321" y="247773"/>
                  </a:lnTo>
                  <a:lnTo>
                    <a:pt x="0" y="201548"/>
                  </a:lnTo>
                  <a:lnTo>
                    <a:pt x="5321" y="155324"/>
                  </a:lnTo>
                  <a:lnTo>
                    <a:pt x="20479" y="112897"/>
                  </a:lnTo>
                  <a:lnTo>
                    <a:pt x="44267" y="75475"/>
                  </a:lnTo>
                  <a:lnTo>
                    <a:pt x="75475" y="44267"/>
                  </a:lnTo>
                  <a:lnTo>
                    <a:pt x="112897" y="20479"/>
                  </a:lnTo>
                  <a:lnTo>
                    <a:pt x="155324" y="5321"/>
                  </a:lnTo>
                  <a:lnTo>
                    <a:pt x="201548" y="0"/>
                  </a:lnTo>
                  <a:lnTo>
                    <a:pt x="247773" y="5321"/>
                  </a:lnTo>
                  <a:lnTo>
                    <a:pt x="290200" y="20479"/>
                  </a:lnTo>
                  <a:lnTo>
                    <a:pt x="327622" y="44267"/>
                  </a:lnTo>
                  <a:lnTo>
                    <a:pt x="358830" y="75475"/>
                  </a:lnTo>
                  <a:lnTo>
                    <a:pt x="382618" y="112897"/>
                  </a:lnTo>
                  <a:lnTo>
                    <a:pt x="397776" y="155324"/>
                  </a:lnTo>
                  <a:lnTo>
                    <a:pt x="403097" y="201548"/>
                  </a:lnTo>
                  <a:lnTo>
                    <a:pt x="397776" y="247773"/>
                  </a:lnTo>
                  <a:lnTo>
                    <a:pt x="382618" y="290200"/>
                  </a:lnTo>
                  <a:lnTo>
                    <a:pt x="358830" y="327622"/>
                  </a:lnTo>
                  <a:lnTo>
                    <a:pt x="327622" y="358830"/>
                  </a:lnTo>
                  <a:lnTo>
                    <a:pt x="290200" y="382618"/>
                  </a:lnTo>
                  <a:lnTo>
                    <a:pt x="247773" y="397776"/>
                  </a:lnTo>
                  <a:lnTo>
                    <a:pt x="201548" y="403097"/>
                  </a:lnTo>
                  <a:close/>
                </a:path>
              </a:pathLst>
            </a:custGeom>
            <a:solidFill>
              <a:srgbClr val="0A1F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02832" y="5116633"/>
              <a:ext cx="210102" cy="210052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6993860" y="4907656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175078" y="400025"/>
                  </a:moveTo>
                  <a:lnTo>
                    <a:pt x="112856" y="382593"/>
                  </a:lnTo>
                  <a:lnTo>
                    <a:pt x="75440" y="358796"/>
                  </a:lnTo>
                  <a:lnTo>
                    <a:pt x="44242" y="327581"/>
                  </a:lnTo>
                  <a:lnTo>
                    <a:pt x="20466" y="290157"/>
                  </a:lnTo>
                  <a:lnTo>
                    <a:pt x="5319" y="247733"/>
                  </a:lnTo>
                  <a:lnTo>
                    <a:pt x="0" y="201516"/>
                  </a:lnTo>
                  <a:lnTo>
                    <a:pt x="5333" y="155304"/>
                  </a:lnTo>
                  <a:lnTo>
                    <a:pt x="20491" y="112889"/>
                  </a:lnTo>
                  <a:lnTo>
                    <a:pt x="44273" y="75477"/>
                  </a:lnTo>
                  <a:lnTo>
                    <a:pt x="75473" y="44274"/>
                  </a:lnTo>
                  <a:lnTo>
                    <a:pt x="112884" y="20489"/>
                  </a:lnTo>
                  <a:lnTo>
                    <a:pt x="155301" y="5328"/>
                  </a:lnTo>
                  <a:lnTo>
                    <a:pt x="201517" y="0"/>
                  </a:lnTo>
                  <a:lnTo>
                    <a:pt x="247737" y="5311"/>
                  </a:lnTo>
                  <a:lnTo>
                    <a:pt x="290165" y="20459"/>
                  </a:lnTo>
                  <a:lnTo>
                    <a:pt x="327592" y="44238"/>
                  </a:lnTo>
                  <a:lnTo>
                    <a:pt x="358810" y="75441"/>
                  </a:lnTo>
                  <a:lnTo>
                    <a:pt x="382608" y="112862"/>
                  </a:lnTo>
                  <a:lnTo>
                    <a:pt x="397776" y="155293"/>
                  </a:lnTo>
                  <a:lnTo>
                    <a:pt x="400025" y="175079"/>
                  </a:lnTo>
                </a:path>
              </a:pathLst>
            </a:custGeom>
            <a:ln w="38099">
              <a:solidFill>
                <a:srgbClr val="0A1F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6900805" y="2495042"/>
            <a:ext cx="1950085" cy="12625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68325" marR="255270" indent="-323215">
              <a:lnSpc>
                <a:spcPct val="100800"/>
              </a:lnSpc>
              <a:spcBef>
                <a:spcPts val="110"/>
              </a:spcBef>
              <a:tabLst>
                <a:tab pos="568325" algn="l"/>
              </a:tabLst>
            </a:pPr>
            <a:r>
              <a:rPr sz="2250" b="1" spc="-75" baseline="-31481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sz="2250" b="1" baseline="-3148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550" b="1" spc="-10" dirty="0">
                <a:solidFill>
                  <a:srgbClr val="0A1F4A"/>
                </a:solidFill>
                <a:latin typeface="Calibri"/>
                <a:cs typeface="Calibri"/>
              </a:rPr>
              <a:t>Recommend</a:t>
            </a:r>
            <a:endParaRPr lang="en-US" sz="1550" b="1" spc="-10" dirty="0">
              <a:solidFill>
                <a:srgbClr val="0A1F4A"/>
              </a:solidFill>
              <a:latin typeface="Calibri"/>
              <a:cs typeface="Calibri"/>
            </a:endParaRPr>
          </a:p>
          <a:p>
            <a:pPr marL="568325" marR="255270" indent="-323215">
              <a:lnSpc>
                <a:spcPct val="100800"/>
              </a:lnSpc>
              <a:spcBef>
                <a:spcPts val="110"/>
              </a:spcBef>
              <a:tabLst>
                <a:tab pos="568325" algn="l"/>
              </a:tabLst>
            </a:pPr>
            <a:endParaRPr lang="en-IN" sz="1550" b="1" spc="-10" dirty="0">
              <a:solidFill>
                <a:srgbClr val="0A1F4A"/>
              </a:solidFill>
              <a:latin typeface="Calibri"/>
              <a:cs typeface="Calibri"/>
            </a:endParaRPr>
          </a:p>
          <a:p>
            <a:pPr marL="568325" marR="255270" indent="-323215">
              <a:lnSpc>
                <a:spcPct val="100800"/>
              </a:lnSpc>
              <a:spcBef>
                <a:spcPts val="110"/>
              </a:spcBef>
              <a:tabLst>
                <a:tab pos="568325" algn="l"/>
              </a:tabLst>
            </a:pPr>
            <a:endParaRPr sz="1550" dirty="0">
              <a:latin typeface="Calibri"/>
              <a:cs typeface="Calibri"/>
            </a:endParaRPr>
          </a:p>
          <a:p>
            <a:pPr marL="129539" marR="276225">
              <a:lnSpc>
                <a:spcPts val="1580"/>
              </a:lnSpc>
              <a:spcBef>
                <a:spcPts val="655"/>
              </a:spcBef>
            </a:pPr>
            <a:r>
              <a:rPr sz="1350" i="1" dirty="0">
                <a:solidFill>
                  <a:srgbClr val="5B6474"/>
                </a:solidFill>
                <a:latin typeface="Calibri"/>
                <a:cs typeface="Calibri"/>
              </a:rPr>
              <a:t>Suggest a suitable ambulance</a:t>
            </a:r>
            <a:endParaRPr sz="1350" dirty="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900805" y="4957444"/>
            <a:ext cx="1950085" cy="14573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5745">
              <a:lnSpc>
                <a:spcPct val="100000"/>
              </a:lnSpc>
              <a:spcBef>
                <a:spcPts val="125"/>
              </a:spcBef>
              <a:tabLst>
                <a:tab pos="568325" algn="l"/>
              </a:tabLst>
            </a:pPr>
            <a:r>
              <a:rPr sz="2250" b="1" spc="-75" baseline="3703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r>
              <a:rPr sz="2250" b="1" baseline="3703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550" b="1" spc="-10" dirty="0">
                <a:solidFill>
                  <a:srgbClr val="0A1F4A"/>
                </a:solidFill>
                <a:latin typeface="Calibri"/>
                <a:cs typeface="Calibri"/>
              </a:rPr>
              <a:t>Confirm</a:t>
            </a:r>
            <a:endParaRPr sz="1550">
              <a:latin typeface="Calibri"/>
              <a:cs typeface="Calibri"/>
            </a:endParaRPr>
          </a:p>
          <a:p>
            <a:pPr marL="129539" marR="214629">
              <a:lnSpc>
                <a:spcPts val="1580"/>
              </a:lnSpc>
              <a:spcBef>
                <a:spcPts val="1555"/>
              </a:spcBef>
            </a:pPr>
            <a:r>
              <a:rPr sz="1350" i="1" dirty="0">
                <a:solidFill>
                  <a:srgbClr val="5B6474"/>
                </a:solidFill>
                <a:latin typeface="Calibri"/>
                <a:cs typeface="Calibri"/>
              </a:rPr>
              <a:t>Dispatcher confirms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8932943" y="2461736"/>
            <a:ext cx="1978660" cy="4606290"/>
            <a:chOff x="8932943" y="2461736"/>
            <a:chExt cx="1978660" cy="4606290"/>
          </a:xfrm>
        </p:grpSpPr>
        <p:sp>
          <p:nvSpPr>
            <p:cNvPr id="57" name="object 57"/>
            <p:cNvSpPr/>
            <p:nvPr/>
          </p:nvSpPr>
          <p:spPr>
            <a:xfrm>
              <a:off x="8932943" y="2461736"/>
              <a:ext cx="1978660" cy="4606290"/>
            </a:xfrm>
            <a:custGeom>
              <a:avLst/>
              <a:gdLst/>
              <a:ahLst/>
              <a:cxnLst/>
              <a:rect l="l" t="t" r="r" b="b"/>
              <a:pathLst>
                <a:path w="1978659" h="4606290">
                  <a:moveTo>
                    <a:pt x="1978418" y="4606005"/>
                  </a:moveTo>
                  <a:lnTo>
                    <a:pt x="0" y="4606005"/>
                  </a:lnTo>
                  <a:lnTo>
                    <a:pt x="0" y="0"/>
                  </a:lnTo>
                  <a:lnTo>
                    <a:pt x="1978418" y="0"/>
                  </a:lnTo>
                  <a:lnTo>
                    <a:pt x="1978418" y="4606005"/>
                  </a:lnTo>
                  <a:close/>
                </a:path>
              </a:pathLst>
            </a:custGeom>
            <a:solidFill>
              <a:srgbClr val="F5F7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9040291" y="2569083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403225" h="403225">
                  <a:moveTo>
                    <a:pt x="201548" y="403097"/>
                  </a:moveTo>
                  <a:lnTo>
                    <a:pt x="155324" y="397776"/>
                  </a:lnTo>
                  <a:lnTo>
                    <a:pt x="112897" y="382618"/>
                  </a:lnTo>
                  <a:lnTo>
                    <a:pt x="75475" y="358830"/>
                  </a:lnTo>
                  <a:lnTo>
                    <a:pt x="44267" y="327622"/>
                  </a:lnTo>
                  <a:lnTo>
                    <a:pt x="20479" y="290200"/>
                  </a:lnTo>
                  <a:lnTo>
                    <a:pt x="5321" y="247773"/>
                  </a:lnTo>
                  <a:lnTo>
                    <a:pt x="0" y="201548"/>
                  </a:lnTo>
                  <a:lnTo>
                    <a:pt x="5321" y="155324"/>
                  </a:lnTo>
                  <a:lnTo>
                    <a:pt x="20479" y="112897"/>
                  </a:lnTo>
                  <a:lnTo>
                    <a:pt x="44267" y="75475"/>
                  </a:lnTo>
                  <a:lnTo>
                    <a:pt x="75475" y="44267"/>
                  </a:lnTo>
                  <a:lnTo>
                    <a:pt x="112897" y="20479"/>
                  </a:lnTo>
                  <a:lnTo>
                    <a:pt x="155324" y="5321"/>
                  </a:lnTo>
                  <a:lnTo>
                    <a:pt x="201548" y="0"/>
                  </a:lnTo>
                  <a:lnTo>
                    <a:pt x="247773" y="5321"/>
                  </a:lnTo>
                  <a:lnTo>
                    <a:pt x="290200" y="20479"/>
                  </a:lnTo>
                  <a:lnTo>
                    <a:pt x="327622" y="44267"/>
                  </a:lnTo>
                  <a:lnTo>
                    <a:pt x="358830" y="75475"/>
                  </a:lnTo>
                  <a:lnTo>
                    <a:pt x="382618" y="112897"/>
                  </a:lnTo>
                  <a:lnTo>
                    <a:pt x="397776" y="155324"/>
                  </a:lnTo>
                  <a:lnTo>
                    <a:pt x="403097" y="201548"/>
                  </a:lnTo>
                  <a:lnTo>
                    <a:pt x="397776" y="247773"/>
                  </a:lnTo>
                  <a:lnTo>
                    <a:pt x="382618" y="290200"/>
                  </a:lnTo>
                  <a:lnTo>
                    <a:pt x="358830" y="327622"/>
                  </a:lnTo>
                  <a:lnTo>
                    <a:pt x="327622" y="358830"/>
                  </a:lnTo>
                  <a:lnTo>
                    <a:pt x="290200" y="382618"/>
                  </a:lnTo>
                  <a:lnTo>
                    <a:pt x="247773" y="397776"/>
                  </a:lnTo>
                  <a:lnTo>
                    <a:pt x="201548" y="403097"/>
                  </a:lnTo>
                  <a:close/>
                </a:path>
              </a:pathLst>
            </a:custGeom>
            <a:solidFill>
              <a:srgbClr val="0A1F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49259" y="2778056"/>
              <a:ext cx="210102" cy="210052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9040288" y="2569079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175078" y="400025"/>
                  </a:moveTo>
                  <a:lnTo>
                    <a:pt x="112856" y="382593"/>
                  </a:lnTo>
                  <a:lnTo>
                    <a:pt x="75440" y="358796"/>
                  </a:lnTo>
                  <a:lnTo>
                    <a:pt x="44242" y="327581"/>
                  </a:lnTo>
                  <a:lnTo>
                    <a:pt x="20466" y="290157"/>
                  </a:lnTo>
                  <a:lnTo>
                    <a:pt x="5319" y="247733"/>
                  </a:lnTo>
                  <a:lnTo>
                    <a:pt x="0" y="201516"/>
                  </a:lnTo>
                  <a:lnTo>
                    <a:pt x="5333" y="155304"/>
                  </a:lnTo>
                  <a:lnTo>
                    <a:pt x="20491" y="112889"/>
                  </a:lnTo>
                  <a:lnTo>
                    <a:pt x="44273" y="75477"/>
                  </a:lnTo>
                  <a:lnTo>
                    <a:pt x="75473" y="44275"/>
                  </a:lnTo>
                  <a:lnTo>
                    <a:pt x="112884" y="20489"/>
                  </a:lnTo>
                  <a:lnTo>
                    <a:pt x="155301" y="5328"/>
                  </a:lnTo>
                  <a:lnTo>
                    <a:pt x="201517" y="0"/>
                  </a:lnTo>
                  <a:lnTo>
                    <a:pt x="247737" y="5311"/>
                  </a:lnTo>
                  <a:lnTo>
                    <a:pt x="290165" y="20459"/>
                  </a:lnTo>
                  <a:lnTo>
                    <a:pt x="327592" y="44238"/>
                  </a:lnTo>
                  <a:lnTo>
                    <a:pt x="358810" y="75441"/>
                  </a:lnTo>
                  <a:lnTo>
                    <a:pt x="382608" y="112862"/>
                  </a:lnTo>
                  <a:lnTo>
                    <a:pt x="397776" y="155293"/>
                  </a:lnTo>
                  <a:lnTo>
                    <a:pt x="400025" y="175079"/>
                  </a:lnTo>
                </a:path>
              </a:pathLst>
            </a:custGeom>
            <a:ln w="38099">
              <a:solidFill>
                <a:srgbClr val="0A1F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8932943" y="2461745"/>
            <a:ext cx="1978660" cy="4617354"/>
          </a:xfrm>
          <a:prstGeom prst="rect">
            <a:avLst/>
          </a:prstGeom>
          <a:ln w="28575">
            <a:solidFill>
              <a:srgbClr val="C8D3E6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582930" marR="577215" indent="-323215">
              <a:lnSpc>
                <a:spcPct val="100800"/>
              </a:lnSpc>
              <a:spcBef>
                <a:spcPts val="370"/>
              </a:spcBef>
              <a:tabLst>
                <a:tab pos="582930" algn="l"/>
              </a:tabLst>
            </a:pPr>
            <a:r>
              <a:rPr sz="2250" b="1" spc="-75" baseline="-31481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r>
              <a:rPr sz="2250" b="1" baseline="-3148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550" b="1" spc="-10" dirty="0">
                <a:solidFill>
                  <a:srgbClr val="0A1F4A"/>
                </a:solidFill>
                <a:latin typeface="Calibri"/>
                <a:cs typeface="Calibri"/>
              </a:rPr>
              <a:t>Hospital</a:t>
            </a:r>
            <a:endParaRPr lang="en-US" sz="1550" b="1" spc="-10" dirty="0">
              <a:solidFill>
                <a:srgbClr val="0A1F4A"/>
              </a:solidFill>
              <a:latin typeface="Calibri"/>
              <a:cs typeface="Calibri"/>
            </a:endParaRPr>
          </a:p>
          <a:p>
            <a:pPr marL="582930" marR="577215" indent="-323215">
              <a:lnSpc>
                <a:spcPct val="100800"/>
              </a:lnSpc>
              <a:spcBef>
                <a:spcPts val="370"/>
              </a:spcBef>
              <a:tabLst>
                <a:tab pos="582930" algn="l"/>
              </a:tabLst>
            </a:pPr>
            <a:endParaRPr lang="en-IN" sz="1550" b="1" spc="-10" dirty="0">
              <a:solidFill>
                <a:srgbClr val="0A1F4A"/>
              </a:solidFill>
              <a:latin typeface="Calibri"/>
              <a:cs typeface="Calibri"/>
            </a:endParaRPr>
          </a:p>
          <a:p>
            <a:pPr marL="582930" marR="577215" indent="-323215">
              <a:lnSpc>
                <a:spcPct val="100800"/>
              </a:lnSpc>
              <a:spcBef>
                <a:spcPts val="370"/>
              </a:spcBef>
              <a:tabLst>
                <a:tab pos="582930" algn="l"/>
              </a:tabLst>
            </a:pPr>
            <a:endParaRPr sz="1550" dirty="0">
              <a:latin typeface="Calibri"/>
              <a:cs typeface="Calibri"/>
            </a:endParaRPr>
          </a:p>
          <a:p>
            <a:pPr marL="144145" marR="220979">
              <a:lnSpc>
                <a:spcPts val="1580"/>
              </a:lnSpc>
              <a:spcBef>
                <a:spcPts val="655"/>
              </a:spcBef>
            </a:pPr>
            <a:r>
              <a:rPr sz="1350" i="1" dirty="0">
                <a:solidFill>
                  <a:srgbClr val="5B6474"/>
                </a:solidFill>
                <a:latin typeface="Calibri"/>
                <a:cs typeface="Calibri"/>
              </a:rPr>
              <a:t>Travel time, suitability, availability</a:t>
            </a:r>
            <a:endParaRPr lang="en-US" sz="1350" i="1" dirty="0">
              <a:solidFill>
                <a:srgbClr val="5B6474"/>
              </a:solidFill>
              <a:latin typeface="Calibri"/>
              <a:cs typeface="Calibri"/>
            </a:endParaRPr>
          </a:p>
          <a:p>
            <a:pPr marL="144145" marR="220979">
              <a:lnSpc>
                <a:spcPts val="1580"/>
              </a:lnSpc>
              <a:spcBef>
                <a:spcPts val="655"/>
              </a:spcBef>
            </a:pPr>
            <a:endParaRPr lang="en-IN" sz="1350" i="1" dirty="0">
              <a:solidFill>
                <a:srgbClr val="5B6474"/>
              </a:solidFill>
              <a:latin typeface="Calibri"/>
              <a:cs typeface="Calibri"/>
            </a:endParaRPr>
          </a:p>
          <a:p>
            <a:pPr marL="144145" marR="220979">
              <a:lnSpc>
                <a:spcPts val="1580"/>
              </a:lnSpc>
              <a:spcBef>
                <a:spcPts val="655"/>
              </a:spcBef>
            </a:pPr>
            <a:endParaRPr lang="en-IN" sz="1350" i="1" dirty="0">
              <a:solidFill>
                <a:srgbClr val="5B6474"/>
              </a:solidFill>
              <a:latin typeface="Calibri"/>
              <a:cs typeface="Calibri"/>
            </a:endParaRPr>
          </a:p>
          <a:p>
            <a:pPr marL="144145" marR="220979">
              <a:lnSpc>
                <a:spcPts val="1580"/>
              </a:lnSpc>
              <a:spcBef>
                <a:spcPts val="655"/>
              </a:spcBef>
            </a:pPr>
            <a:endParaRPr lang="en-IN" sz="1350" i="1" dirty="0">
              <a:solidFill>
                <a:srgbClr val="5B6474"/>
              </a:solidFill>
              <a:latin typeface="Calibri"/>
              <a:cs typeface="Calibri"/>
            </a:endParaRPr>
          </a:p>
          <a:p>
            <a:pPr marL="144145" marR="220979">
              <a:lnSpc>
                <a:spcPts val="1580"/>
              </a:lnSpc>
              <a:spcBef>
                <a:spcPts val="655"/>
              </a:spcBef>
            </a:pPr>
            <a:endParaRPr lang="en-IN" sz="1350" i="1" dirty="0">
              <a:solidFill>
                <a:srgbClr val="5B6474"/>
              </a:solidFill>
              <a:latin typeface="Calibri"/>
              <a:cs typeface="Calibri"/>
            </a:endParaRPr>
          </a:p>
          <a:p>
            <a:pPr marL="144145" marR="220979">
              <a:lnSpc>
                <a:spcPts val="1580"/>
              </a:lnSpc>
              <a:spcBef>
                <a:spcPts val="655"/>
              </a:spcBef>
            </a:pPr>
            <a:endParaRPr lang="en-IN" sz="1350" i="1" dirty="0">
              <a:solidFill>
                <a:srgbClr val="5B6474"/>
              </a:solidFill>
              <a:latin typeface="Calibri"/>
              <a:cs typeface="Calibri"/>
            </a:endParaRPr>
          </a:p>
          <a:p>
            <a:pPr marL="144145" marR="220979">
              <a:lnSpc>
                <a:spcPts val="1580"/>
              </a:lnSpc>
              <a:spcBef>
                <a:spcPts val="655"/>
              </a:spcBef>
            </a:pPr>
            <a:endParaRPr lang="en-IN" sz="1350" i="1" dirty="0">
              <a:solidFill>
                <a:srgbClr val="5B6474"/>
              </a:solidFill>
              <a:latin typeface="Calibri"/>
              <a:cs typeface="Calibri"/>
            </a:endParaRPr>
          </a:p>
          <a:p>
            <a:pPr marL="144145" marR="220979">
              <a:lnSpc>
                <a:spcPts val="1580"/>
              </a:lnSpc>
              <a:spcBef>
                <a:spcPts val="655"/>
              </a:spcBef>
            </a:pPr>
            <a:endParaRPr lang="en-IN" sz="1350" i="1" dirty="0">
              <a:solidFill>
                <a:srgbClr val="5B6474"/>
              </a:solidFill>
              <a:latin typeface="Calibri"/>
              <a:cs typeface="Calibri"/>
            </a:endParaRPr>
          </a:p>
          <a:p>
            <a:pPr marL="144145" marR="220979">
              <a:lnSpc>
                <a:spcPts val="1580"/>
              </a:lnSpc>
              <a:spcBef>
                <a:spcPts val="655"/>
              </a:spcBef>
            </a:pPr>
            <a:endParaRPr lang="en-IN" sz="1350" i="1" dirty="0">
              <a:solidFill>
                <a:srgbClr val="5B6474"/>
              </a:solidFill>
              <a:latin typeface="Calibri"/>
              <a:cs typeface="Calibri"/>
            </a:endParaRPr>
          </a:p>
          <a:p>
            <a:pPr marL="144145" marR="220979">
              <a:lnSpc>
                <a:spcPts val="1580"/>
              </a:lnSpc>
              <a:spcBef>
                <a:spcPts val="655"/>
              </a:spcBef>
            </a:pPr>
            <a:endParaRPr lang="en-IN" sz="1350" i="1" dirty="0">
              <a:solidFill>
                <a:srgbClr val="5B6474"/>
              </a:solidFill>
              <a:latin typeface="Calibri"/>
              <a:cs typeface="Calibri"/>
            </a:endParaRPr>
          </a:p>
          <a:p>
            <a:pPr marL="144145" marR="220979">
              <a:lnSpc>
                <a:spcPts val="1580"/>
              </a:lnSpc>
              <a:spcBef>
                <a:spcPts val="655"/>
              </a:spcBef>
            </a:pPr>
            <a:endParaRPr lang="en-IN" sz="1350" i="1" dirty="0">
              <a:solidFill>
                <a:srgbClr val="5B6474"/>
              </a:solidFill>
              <a:latin typeface="Calibri"/>
              <a:cs typeface="Calibri"/>
            </a:endParaRPr>
          </a:p>
          <a:p>
            <a:pPr marL="144145" marR="220979">
              <a:lnSpc>
                <a:spcPts val="1580"/>
              </a:lnSpc>
              <a:spcBef>
                <a:spcPts val="655"/>
              </a:spcBef>
            </a:pPr>
            <a:endParaRPr sz="1350" dirty="0">
              <a:latin typeface="Calibri"/>
              <a:cs typeface="Calibri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11294363" y="2447448"/>
            <a:ext cx="6256020" cy="2854960"/>
            <a:chOff x="11294363" y="2447448"/>
            <a:chExt cx="6256020" cy="2854960"/>
          </a:xfrm>
        </p:grpSpPr>
        <p:sp>
          <p:nvSpPr>
            <p:cNvPr id="76" name="object 76"/>
            <p:cNvSpPr/>
            <p:nvPr/>
          </p:nvSpPr>
          <p:spPr>
            <a:xfrm>
              <a:off x="11308556" y="2461736"/>
              <a:ext cx="6223635" cy="2826385"/>
            </a:xfrm>
            <a:custGeom>
              <a:avLst/>
              <a:gdLst/>
              <a:ahLst/>
              <a:cxnLst/>
              <a:rect l="l" t="t" r="r" b="b"/>
              <a:pathLst>
                <a:path w="6223634" h="2826385">
                  <a:moveTo>
                    <a:pt x="6117336" y="2826067"/>
                  </a:moveTo>
                  <a:lnTo>
                    <a:pt x="110299" y="2826067"/>
                  </a:lnTo>
                  <a:lnTo>
                    <a:pt x="67348" y="2817405"/>
                  </a:lnTo>
                  <a:lnTo>
                    <a:pt x="32290" y="2793777"/>
                  </a:lnTo>
                  <a:lnTo>
                    <a:pt x="8662" y="2758719"/>
                  </a:lnTo>
                  <a:lnTo>
                    <a:pt x="0" y="2715768"/>
                  </a:lnTo>
                  <a:lnTo>
                    <a:pt x="0" y="110299"/>
                  </a:lnTo>
                  <a:lnTo>
                    <a:pt x="8662" y="67347"/>
                  </a:lnTo>
                  <a:lnTo>
                    <a:pt x="32290" y="32289"/>
                  </a:lnTo>
                  <a:lnTo>
                    <a:pt x="67348" y="8661"/>
                  </a:lnTo>
                  <a:lnTo>
                    <a:pt x="110299" y="0"/>
                  </a:lnTo>
                  <a:lnTo>
                    <a:pt x="6117336" y="0"/>
                  </a:lnTo>
                  <a:lnTo>
                    <a:pt x="6160248" y="8661"/>
                  </a:lnTo>
                  <a:lnTo>
                    <a:pt x="6195310" y="32289"/>
                  </a:lnTo>
                  <a:lnTo>
                    <a:pt x="6218960" y="67347"/>
                  </a:lnTo>
                  <a:lnTo>
                    <a:pt x="6223057" y="87630"/>
                  </a:lnTo>
                  <a:lnTo>
                    <a:pt x="6223057" y="2738400"/>
                  </a:lnTo>
                  <a:lnTo>
                    <a:pt x="6218947" y="2758719"/>
                  </a:lnTo>
                  <a:lnTo>
                    <a:pt x="6195293" y="2793777"/>
                  </a:lnTo>
                  <a:lnTo>
                    <a:pt x="6160221" y="2817405"/>
                  </a:lnTo>
                  <a:lnTo>
                    <a:pt x="6117336" y="2826067"/>
                  </a:lnTo>
                  <a:close/>
                </a:path>
              </a:pathLst>
            </a:custGeom>
            <a:solidFill>
              <a:srgbClr val="F5F7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1308650" y="2461735"/>
              <a:ext cx="6227445" cy="2826385"/>
            </a:xfrm>
            <a:custGeom>
              <a:avLst/>
              <a:gdLst/>
              <a:ahLst/>
              <a:cxnLst/>
              <a:rect l="l" t="t" r="r" b="b"/>
              <a:pathLst>
                <a:path w="6227444" h="2826385">
                  <a:moveTo>
                    <a:pt x="0" y="110294"/>
                  </a:moveTo>
                  <a:lnTo>
                    <a:pt x="8661" y="67344"/>
                  </a:lnTo>
                  <a:lnTo>
                    <a:pt x="32288" y="32288"/>
                  </a:lnTo>
                  <a:lnTo>
                    <a:pt x="67345" y="8661"/>
                  </a:lnTo>
                  <a:lnTo>
                    <a:pt x="110295" y="0"/>
                  </a:lnTo>
                  <a:lnTo>
                    <a:pt x="6117077" y="0"/>
                  </a:lnTo>
                  <a:lnTo>
                    <a:pt x="6159987" y="8661"/>
                  </a:lnTo>
                  <a:lnTo>
                    <a:pt x="6195048" y="32288"/>
                  </a:lnTo>
                  <a:lnTo>
                    <a:pt x="6218698" y="67344"/>
                  </a:lnTo>
                  <a:lnTo>
                    <a:pt x="6227373" y="110294"/>
                  </a:lnTo>
                  <a:lnTo>
                    <a:pt x="6227373" y="2715653"/>
                  </a:lnTo>
                  <a:lnTo>
                    <a:pt x="6218711" y="2758563"/>
                  </a:lnTo>
                  <a:lnTo>
                    <a:pt x="6195084" y="2793624"/>
                  </a:lnTo>
                  <a:lnTo>
                    <a:pt x="6160027" y="2817273"/>
                  </a:lnTo>
                  <a:lnTo>
                    <a:pt x="6117077" y="2825948"/>
                  </a:lnTo>
                  <a:lnTo>
                    <a:pt x="110295" y="2825948"/>
                  </a:lnTo>
                  <a:lnTo>
                    <a:pt x="67344" y="2817286"/>
                  </a:lnTo>
                  <a:lnTo>
                    <a:pt x="32288" y="2793659"/>
                  </a:lnTo>
                  <a:lnTo>
                    <a:pt x="8661" y="2758603"/>
                  </a:lnTo>
                  <a:lnTo>
                    <a:pt x="0" y="2715653"/>
                  </a:lnTo>
                  <a:lnTo>
                    <a:pt x="0" y="110294"/>
                  </a:lnTo>
                </a:path>
              </a:pathLst>
            </a:custGeom>
            <a:ln w="28574">
              <a:solidFill>
                <a:srgbClr val="C8D3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534010" y="2714621"/>
              <a:ext cx="247627" cy="247628"/>
            </a:xfrm>
            <a:prstGeom prst="rect">
              <a:avLst/>
            </a:prstGeom>
          </p:spPr>
        </p:pic>
      </p:grpSp>
      <p:sp>
        <p:nvSpPr>
          <p:cNvPr id="79" name="object 79"/>
          <p:cNvSpPr txBox="1"/>
          <p:nvPr/>
        </p:nvSpPr>
        <p:spPr>
          <a:xfrm>
            <a:off x="11879071" y="2736215"/>
            <a:ext cx="5311140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0A1F4A"/>
                </a:solidFill>
                <a:latin typeface="Calibri"/>
                <a:cs typeface="Calibri"/>
              </a:rPr>
              <a:t>Hospital A: </a:t>
            </a:r>
            <a:r>
              <a:rPr sz="1550" i="1" dirty="0">
                <a:solidFill>
                  <a:srgbClr val="5B6474"/>
                </a:solidFill>
                <a:latin typeface="Calibri"/>
                <a:cs typeface="Calibri"/>
              </a:rPr>
              <a:t>12 min, lacks needed facility (illustrative)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11493338" y="3359272"/>
            <a:ext cx="5857875" cy="1808480"/>
            <a:chOff x="11493338" y="3359272"/>
            <a:chExt cx="5857875" cy="1808480"/>
          </a:xfrm>
        </p:grpSpPr>
        <p:pic>
          <p:nvPicPr>
            <p:cNvPr id="81" name="object 8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534010" y="3359272"/>
              <a:ext cx="247627" cy="247628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534010" y="4003925"/>
              <a:ext cx="247627" cy="247628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11511915" y="4557902"/>
              <a:ext cx="5821045" cy="595630"/>
            </a:xfrm>
            <a:custGeom>
              <a:avLst/>
              <a:gdLst/>
              <a:ahLst/>
              <a:cxnLst/>
              <a:rect l="l" t="t" r="r" b="b"/>
              <a:pathLst>
                <a:path w="5821044" h="595629">
                  <a:moveTo>
                    <a:pt x="5735859" y="595121"/>
                  </a:moveTo>
                  <a:lnTo>
                    <a:pt x="85058" y="595121"/>
                  </a:lnTo>
                  <a:lnTo>
                    <a:pt x="51957" y="588435"/>
                  </a:lnTo>
                  <a:lnTo>
                    <a:pt x="24919" y="570202"/>
                  </a:lnTo>
                  <a:lnTo>
                    <a:pt x="6686" y="543164"/>
                  </a:lnTo>
                  <a:lnTo>
                    <a:pt x="0" y="510063"/>
                  </a:lnTo>
                  <a:lnTo>
                    <a:pt x="0" y="85058"/>
                  </a:lnTo>
                  <a:lnTo>
                    <a:pt x="6686" y="51957"/>
                  </a:lnTo>
                  <a:lnTo>
                    <a:pt x="24919" y="24919"/>
                  </a:lnTo>
                  <a:lnTo>
                    <a:pt x="51957" y="6686"/>
                  </a:lnTo>
                  <a:lnTo>
                    <a:pt x="85058" y="0"/>
                  </a:lnTo>
                  <a:lnTo>
                    <a:pt x="5735859" y="0"/>
                  </a:lnTo>
                  <a:lnTo>
                    <a:pt x="5768960" y="6686"/>
                  </a:lnTo>
                  <a:lnTo>
                    <a:pt x="5795998" y="24919"/>
                  </a:lnTo>
                  <a:lnTo>
                    <a:pt x="5814230" y="51957"/>
                  </a:lnTo>
                  <a:lnTo>
                    <a:pt x="5820917" y="85058"/>
                  </a:lnTo>
                  <a:lnTo>
                    <a:pt x="5820917" y="510063"/>
                  </a:lnTo>
                  <a:lnTo>
                    <a:pt x="5814230" y="543164"/>
                  </a:lnTo>
                  <a:lnTo>
                    <a:pt x="5795998" y="570202"/>
                  </a:lnTo>
                  <a:lnTo>
                    <a:pt x="5768960" y="588435"/>
                  </a:lnTo>
                  <a:lnTo>
                    <a:pt x="5735859" y="595121"/>
                  </a:lnTo>
                  <a:close/>
                </a:path>
              </a:pathLst>
            </a:custGeom>
            <a:solidFill>
              <a:srgbClr val="0A1F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11512388" y="4557902"/>
              <a:ext cx="5819775" cy="590550"/>
            </a:xfrm>
            <a:custGeom>
              <a:avLst/>
              <a:gdLst/>
              <a:ahLst/>
              <a:cxnLst/>
              <a:rect l="l" t="t" r="r" b="b"/>
              <a:pathLst>
                <a:path w="5819775" h="590550">
                  <a:moveTo>
                    <a:pt x="5819301" y="512785"/>
                  </a:moveTo>
                  <a:lnTo>
                    <a:pt x="5813184" y="543067"/>
                  </a:lnTo>
                  <a:lnTo>
                    <a:pt x="5794954" y="570099"/>
                  </a:lnTo>
                  <a:lnTo>
                    <a:pt x="5767921" y="588329"/>
                  </a:lnTo>
                  <a:lnTo>
                    <a:pt x="5756927" y="590550"/>
                  </a:lnTo>
                </a:path>
                <a:path w="5819775" h="590550">
                  <a:moveTo>
                    <a:pt x="62941" y="590550"/>
                  </a:moveTo>
                  <a:lnTo>
                    <a:pt x="51947" y="588329"/>
                  </a:lnTo>
                  <a:lnTo>
                    <a:pt x="24915" y="570099"/>
                  </a:lnTo>
                  <a:lnTo>
                    <a:pt x="6685" y="543066"/>
                  </a:lnTo>
                  <a:lnTo>
                    <a:pt x="0" y="509971"/>
                  </a:lnTo>
                  <a:lnTo>
                    <a:pt x="0" y="85042"/>
                  </a:lnTo>
                  <a:lnTo>
                    <a:pt x="24915" y="24915"/>
                  </a:lnTo>
                  <a:lnTo>
                    <a:pt x="85042" y="0"/>
                  </a:lnTo>
                  <a:lnTo>
                    <a:pt x="5734826" y="0"/>
                  </a:lnTo>
                  <a:lnTo>
                    <a:pt x="5767921" y="6685"/>
                  </a:lnTo>
                  <a:lnTo>
                    <a:pt x="5794954" y="24915"/>
                  </a:lnTo>
                  <a:lnTo>
                    <a:pt x="5813184" y="51947"/>
                  </a:lnTo>
                  <a:lnTo>
                    <a:pt x="5819301" y="82229"/>
                  </a:lnTo>
                </a:path>
              </a:pathLst>
            </a:custGeom>
            <a:ln w="38100">
              <a:solidFill>
                <a:srgbClr val="0A1F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11879071" y="3380866"/>
            <a:ext cx="4672330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0A1F4A"/>
                </a:solidFill>
                <a:latin typeface="Calibri"/>
                <a:cs typeface="Calibri"/>
              </a:rPr>
              <a:t>Hospital B: </a:t>
            </a:r>
            <a:r>
              <a:rPr sz="1550" i="1" dirty="0">
                <a:solidFill>
                  <a:srgbClr val="5B6474"/>
                </a:solidFill>
                <a:latin typeface="Calibri"/>
                <a:cs typeface="Calibri"/>
              </a:rPr>
              <a:t>15 min, suitable &amp; available (illustrative)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1879071" y="4025519"/>
            <a:ext cx="4973955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0A1F4A"/>
                </a:solidFill>
                <a:latin typeface="Calibri"/>
                <a:cs typeface="Calibri"/>
              </a:rPr>
              <a:t>Result: </a:t>
            </a:r>
            <a:r>
              <a:rPr sz="1550" i="1" dirty="0">
                <a:solidFill>
                  <a:srgbClr val="5B6474"/>
                </a:solidFill>
                <a:latin typeface="Calibri"/>
                <a:cs typeface="Calibri"/>
              </a:rPr>
              <a:t>B suggested despite longer time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1714478" y="4688077"/>
            <a:ext cx="3188970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F1A800"/>
                </a:solidFill>
                <a:latin typeface="Calibri"/>
                <a:cs typeface="Calibri"/>
              </a:rPr>
              <a:t>Illustrative times, not real data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1302999" y="5548756"/>
            <a:ext cx="55000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10" dirty="0">
                <a:solidFill>
                  <a:srgbClr val="0A1F4A"/>
                </a:solidFill>
                <a:latin typeface="Cambria"/>
                <a:cs typeface="Cambria"/>
              </a:rPr>
              <a:t>Graph Model</a:t>
            </a:r>
            <a:endParaRPr sz="2100">
              <a:latin typeface="Cambria"/>
              <a:cs typeface="Cambria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11294328" y="6013608"/>
            <a:ext cx="6256020" cy="1000125"/>
            <a:chOff x="11294328" y="6013608"/>
            <a:chExt cx="6256020" cy="1000125"/>
          </a:xfrm>
        </p:grpSpPr>
        <p:sp>
          <p:nvSpPr>
            <p:cNvPr id="90" name="object 90"/>
            <p:cNvSpPr/>
            <p:nvPr/>
          </p:nvSpPr>
          <p:spPr>
            <a:xfrm>
              <a:off x="11308556" y="6027895"/>
              <a:ext cx="6227445" cy="974725"/>
            </a:xfrm>
            <a:custGeom>
              <a:avLst/>
              <a:gdLst/>
              <a:ahLst/>
              <a:cxnLst/>
              <a:rect l="l" t="t" r="r" b="b"/>
              <a:pathLst>
                <a:path w="6227444" h="974725">
                  <a:moveTo>
                    <a:pt x="6116288" y="974407"/>
                  </a:moveTo>
                  <a:lnTo>
                    <a:pt x="111347" y="974407"/>
                  </a:lnTo>
                  <a:lnTo>
                    <a:pt x="67990" y="965662"/>
                  </a:lnTo>
                  <a:lnTo>
                    <a:pt x="32599" y="941808"/>
                  </a:lnTo>
                  <a:lnTo>
                    <a:pt x="8745" y="906417"/>
                  </a:lnTo>
                  <a:lnTo>
                    <a:pt x="0" y="863060"/>
                  </a:lnTo>
                  <a:lnTo>
                    <a:pt x="0" y="111347"/>
                  </a:lnTo>
                  <a:lnTo>
                    <a:pt x="8745" y="67990"/>
                  </a:lnTo>
                  <a:lnTo>
                    <a:pt x="32599" y="32599"/>
                  </a:lnTo>
                  <a:lnTo>
                    <a:pt x="67990" y="8745"/>
                  </a:lnTo>
                  <a:lnTo>
                    <a:pt x="111347" y="0"/>
                  </a:lnTo>
                  <a:lnTo>
                    <a:pt x="6116288" y="0"/>
                  </a:lnTo>
                  <a:lnTo>
                    <a:pt x="6159644" y="8745"/>
                  </a:lnTo>
                  <a:lnTo>
                    <a:pt x="6195036" y="32599"/>
                  </a:lnTo>
                  <a:lnTo>
                    <a:pt x="6218890" y="67990"/>
                  </a:lnTo>
                  <a:lnTo>
                    <a:pt x="6227072" y="108556"/>
                  </a:lnTo>
                  <a:lnTo>
                    <a:pt x="6227072" y="865851"/>
                  </a:lnTo>
                  <a:lnTo>
                    <a:pt x="6218890" y="906417"/>
                  </a:lnTo>
                  <a:lnTo>
                    <a:pt x="6195036" y="941808"/>
                  </a:lnTo>
                  <a:lnTo>
                    <a:pt x="6159644" y="965662"/>
                  </a:lnTo>
                  <a:lnTo>
                    <a:pt x="6116288" y="974407"/>
                  </a:lnTo>
                  <a:close/>
                </a:path>
              </a:pathLst>
            </a:custGeom>
            <a:solidFill>
              <a:srgbClr val="EDF1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11308615" y="6027895"/>
              <a:ext cx="6227445" cy="971550"/>
            </a:xfrm>
            <a:custGeom>
              <a:avLst/>
              <a:gdLst/>
              <a:ahLst/>
              <a:cxnLst/>
              <a:rect l="l" t="t" r="r" b="b"/>
              <a:pathLst>
                <a:path w="6227444" h="971550">
                  <a:moveTo>
                    <a:pt x="97323" y="971549"/>
                  </a:moveTo>
                  <a:lnTo>
                    <a:pt x="67988" y="965633"/>
                  </a:lnTo>
                  <a:lnTo>
                    <a:pt x="32597" y="941779"/>
                  </a:lnTo>
                  <a:lnTo>
                    <a:pt x="8744" y="906389"/>
                  </a:lnTo>
                  <a:lnTo>
                    <a:pt x="0" y="863033"/>
                  </a:lnTo>
                  <a:lnTo>
                    <a:pt x="0" y="111343"/>
                  </a:lnTo>
                  <a:lnTo>
                    <a:pt x="8744" y="67988"/>
                  </a:lnTo>
                  <a:lnTo>
                    <a:pt x="32598" y="32598"/>
                  </a:lnTo>
                  <a:lnTo>
                    <a:pt x="67988" y="8744"/>
                  </a:lnTo>
                  <a:lnTo>
                    <a:pt x="111343" y="0"/>
                  </a:lnTo>
                  <a:lnTo>
                    <a:pt x="6116100" y="0"/>
                  </a:lnTo>
                  <a:lnTo>
                    <a:pt x="6159456" y="8744"/>
                  </a:lnTo>
                  <a:lnTo>
                    <a:pt x="6194846" y="32598"/>
                  </a:lnTo>
                  <a:lnTo>
                    <a:pt x="6218700" y="67988"/>
                  </a:lnTo>
                  <a:lnTo>
                    <a:pt x="6227445" y="111343"/>
                  </a:lnTo>
                  <a:lnTo>
                    <a:pt x="6227445" y="863033"/>
                  </a:lnTo>
                  <a:lnTo>
                    <a:pt x="6218700" y="906389"/>
                  </a:lnTo>
                  <a:lnTo>
                    <a:pt x="6194846" y="941779"/>
                  </a:lnTo>
                  <a:lnTo>
                    <a:pt x="6159456" y="965633"/>
                  </a:lnTo>
                  <a:lnTo>
                    <a:pt x="6130120" y="971549"/>
                  </a:lnTo>
                </a:path>
              </a:pathLst>
            </a:custGeom>
            <a:ln w="28575">
              <a:solidFill>
                <a:srgbClr val="C8D3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1498199" y="6258686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79">
                  <a:moveTo>
                    <a:pt x="256412" y="512825"/>
                  </a:moveTo>
                  <a:lnTo>
                    <a:pt x="210316" y="508695"/>
                  </a:lnTo>
                  <a:lnTo>
                    <a:pt x="166932" y="496786"/>
                  </a:lnTo>
                  <a:lnTo>
                    <a:pt x="126985" y="477823"/>
                  </a:lnTo>
                  <a:lnTo>
                    <a:pt x="91199" y="452528"/>
                  </a:lnTo>
                  <a:lnTo>
                    <a:pt x="60297" y="421626"/>
                  </a:lnTo>
                  <a:lnTo>
                    <a:pt x="35002" y="385840"/>
                  </a:lnTo>
                  <a:lnTo>
                    <a:pt x="16039" y="345893"/>
                  </a:lnTo>
                  <a:lnTo>
                    <a:pt x="4130" y="302509"/>
                  </a:lnTo>
                  <a:lnTo>
                    <a:pt x="0" y="256412"/>
                  </a:lnTo>
                  <a:lnTo>
                    <a:pt x="4130" y="210316"/>
                  </a:lnTo>
                  <a:lnTo>
                    <a:pt x="16039" y="166932"/>
                  </a:lnTo>
                  <a:lnTo>
                    <a:pt x="35002" y="126985"/>
                  </a:lnTo>
                  <a:lnTo>
                    <a:pt x="60297" y="91199"/>
                  </a:lnTo>
                  <a:lnTo>
                    <a:pt x="91199" y="60297"/>
                  </a:lnTo>
                  <a:lnTo>
                    <a:pt x="126985" y="35002"/>
                  </a:lnTo>
                  <a:lnTo>
                    <a:pt x="166932" y="16039"/>
                  </a:lnTo>
                  <a:lnTo>
                    <a:pt x="210316" y="4130"/>
                  </a:lnTo>
                  <a:lnTo>
                    <a:pt x="256412" y="0"/>
                  </a:lnTo>
                  <a:lnTo>
                    <a:pt x="302509" y="4130"/>
                  </a:lnTo>
                  <a:lnTo>
                    <a:pt x="345893" y="16039"/>
                  </a:lnTo>
                  <a:lnTo>
                    <a:pt x="385840" y="35002"/>
                  </a:lnTo>
                  <a:lnTo>
                    <a:pt x="421626" y="60297"/>
                  </a:lnTo>
                  <a:lnTo>
                    <a:pt x="452528" y="91199"/>
                  </a:lnTo>
                  <a:lnTo>
                    <a:pt x="477823" y="126985"/>
                  </a:lnTo>
                  <a:lnTo>
                    <a:pt x="496786" y="166932"/>
                  </a:lnTo>
                  <a:lnTo>
                    <a:pt x="508695" y="210316"/>
                  </a:lnTo>
                  <a:lnTo>
                    <a:pt x="512825" y="256412"/>
                  </a:lnTo>
                  <a:lnTo>
                    <a:pt x="508695" y="302509"/>
                  </a:lnTo>
                  <a:lnTo>
                    <a:pt x="496786" y="345893"/>
                  </a:lnTo>
                  <a:lnTo>
                    <a:pt x="477823" y="385840"/>
                  </a:lnTo>
                  <a:lnTo>
                    <a:pt x="452528" y="421626"/>
                  </a:lnTo>
                  <a:lnTo>
                    <a:pt x="421626" y="452528"/>
                  </a:lnTo>
                  <a:lnTo>
                    <a:pt x="385840" y="477823"/>
                  </a:lnTo>
                  <a:lnTo>
                    <a:pt x="345893" y="496786"/>
                  </a:lnTo>
                  <a:lnTo>
                    <a:pt x="302509" y="508695"/>
                  </a:lnTo>
                  <a:lnTo>
                    <a:pt x="256412" y="512825"/>
                  </a:lnTo>
                  <a:close/>
                </a:path>
              </a:pathLst>
            </a:custGeom>
            <a:solidFill>
              <a:srgbClr val="F1A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11498194" y="6258691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79">
                  <a:moveTo>
                    <a:pt x="9" y="256351"/>
                  </a:moveTo>
                  <a:lnTo>
                    <a:pt x="4146" y="210268"/>
                  </a:lnTo>
                  <a:lnTo>
                    <a:pt x="16057" y="166898"/>
                  </a:lnTo>
                  <a:lnTo>
                    <a:pt x="35018" y="126965"/>
                  </a:lnTo>
                  <a:lnTo>
                    <a:pt x="60305" y="91191"/>
                  </a:lnTo>
                  <a:lnTo>
                    <a:pt x="91197" y="60297"/>
                  </a:lnTo>
                  <a:lnTo>
                    <a:pt x="126970" y="35007"/>
                  </a:lnTo>
                  <a:lnTo>
                    <a:pt x="166903" y="16043"/>
                  </a:lnTo>
                  <a:lnTo>
                    <a:pt x="210274" y="4129"/>
                  </a:lnTo>
                  <a:lnTo>
                    <a:pt x="256361" y="0"/>
                  </a:lnTo>
                  <a:lnTo>
                    <a:pt x="302452" y="4108"/>
                  </a:lnTo>
                  <a:lnTo>
                    <a:pt x="345834" y="16003"/>
                  </a:lnTo>
                  <a:lnTo>
                    <a:pt x="385784" y="34954"/>
                  </a:lnTo>
                  <a:lnTo>
                    <a:pt x="421577" y="60238"/>
                  </a:lnTo>
                  <a:lnTo>
                    <a:pt x="452490" y="91133"/>
                  </a:lnTo>
                  <a:lnTo>
                    <a:pt x="477797" y="126916"/>
                  </a:lnTo>
                  <a:lnTo>
                    <a:pt x="496774" y="166865"/>
                  </a:lnTo>
                  <a:lnTo>
                    <a:pt x="508695" y="210255"/>
                  </a:lnTo>
                  <a:lnTo>
                    <a:pt x="512834" y="256361"/>
                  </a:lnTo>
                  <a:lnTo>
                    <a:pt x="508709" y="302471"/>
                  </a:lnTo>
                  <a:lnTo>
                    <a:pt x="496801" y="345868"/>
                  </a:lnTo>
                  <a:lnTo>
                    <a:pt x="477833" y="385828"/>
                  </a:lnTo>
                  <a:lnTo>
                    <a:pt x="452530" y="421624"/>
                  </a:lnTo>
                  <a:lnTo>
                    <a:pt x="421616" y="452534"/>
                  </a:lnTo>
                  <a:lnTo>
                    <a:pt x="385816" y="477832"/>
                  </a:lnTo>
                  <a:lnTo>
                    <a:pt x="345855" y="496793"/>
                  </a:lnTo>
                  <a:lnTo>
                    <a:pt x="302458" y="508695"/>
                  </a:lnTo>
                  <a:lnTo>
                    <a:pt x="256351" y="512815"/>
                  </a:lnTo>
                  <a:lnTo>
                    <a:pt x="210248" y="508670"/>
                  </a:lnTo>
                  <a:lnTo>
                    <a:pt x="166864" y="496747"/>
                  </a:lnTo>
                  <a:lnTo>
                    <a:pt x="126922" y="477769"/>
                  </a:lnTo>
                  <a:lnTo>
                    <a:pt x="91144" y="452463"/>
                  </a:lnTo>
                  <a:lnTo>
                    <a:pt x="60253" y="421552"/>
                  </a:lnTo>
                  <a:lnTo>
                    <a:pt x="34972" y="385762"/>
                  </a:lnTo>
                  <a:lnTo>
                    <a:pt x="16024" y="345816"/>
                  </a:lnTo>
                  <a:lnTo>
                    <a:pt x="4129" y="302438"/>
                  </a:lnTo>
                  <a:lnTo>
                    <a:pt x="0" y="256350"/>
                  </a:lnTo>
                </a:path>
              </a:pathLst>
            </a:custGeom>
            <a:ln w="38100">
              <a:solidFill>
                <a:srgbClr val="F1A8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11678974" y="6312661"/>
            <a:ext cx="15113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b="1" spc="-50" dirty="0">
                <a:solidFill>
                  <a:srgbClr val="0A1F4A"/>
                </a:solidFill>
                <a:latin typeface="Calibri"/>
                <a:cs typeface="Calibri"/>
              </a:rPr>
              <a:t>1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2153391" y="6061241"/>
            <a:ext cx="4667250" cy="57721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700" b="1" spc="-10" dirty="0">
                <a:solidFill>
                  <a:srgbClr val="0A1F4A"/>
                </a:solidFill>
                <a:latin typeface="Calibri"/>
                <a:cs typeface="Calibri"/>
              </a:rPr>
              <a:t>Nodes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400" i="1" dirty="0">
                <a:solidFill>
                  <a:srgbClr val="5B6474"/>
                </a:solidFill>
                <a:latin typeface="Calibri"/>
                <a:cs typeface="Calibri"/>
              </a:rPr>
              <a:t>Junctions &amp; hospital entrances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747236" y="7138892"/>
            <a:ext cx="5050155" cy="2140585"/>
            <a:chOff x="747236" y="7138892"/>
            <a:chExt cx="5050155" cy="2140585"/>
          </a:xfrm>
        </p:grpSpPr>
        <p:sp>
          <p:nvSpPr>
            <p:cNvPr id="63" name="object 63"/>
            <p:cNvSpPr/>
            <p:nvPr/>
          </p:nvSpPr>
          <p:spPr>
            <a:xfrm>
              <a:off x="747236" y="7138892"/>
              <a:ext cx="5050155" cy="2140585"/>
            </a:xfrm>
            <a:custGeom>
              <a:avLst/>
              <a:gdLst/>
              <a:ahLst/>
              <a:cxnLst/>
              <a:rect l="l" t="t" r="r" b="b"/>
              <a:pathLst>
                <a:path w="5050155" h="2140584">
                  <a:moveTo>
                    <a:pt x="5049693" y="2140267"/>
                  </a:moveTo>
                  <a:lnTo>
                    <a:pt x="0" y="2140267"/>
                  </a:lnTo>
                  <a:lnTo>
                    <a:pt x="0" y="0"/>
                  </a:lnTo>
                  <a:lnTo>
                    <a:pt x="5049693" y="0"/>
                  </a:lnTo>
                  <a:lnTo>
                    <a:pt x="5049693" y="2140267"/>
                  </a:lnTo>
                  <a:close/>
                </a:path>
              </a:pathLst>
            </a:custGeom>
            <a:solidFill>
              <a:srgbClr val="F5F7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54582" y="7246239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403225" h="403225">
                  <a:moveTo>
                    <a:pt x="201548" y="403097"/>
                  </a:moveTo>
                  <a:lnTo>
                    <a:pt x="155324" y="397776"/>
                  </a:lnTo>
                  <a:lnTo>
                    <a:pt x="112897" y="382618"/>
                  </a:lnTo>
                  <a:lnTo>
                    <a:pt x="75475" y="358830"/>
                  </a:lnTo>
                  <a:lnTo>
                    <a:pt x="44267" y="327622"/>
                  </a:lnTo>
                  <a:lnTo>
                    <a:pt x="20479" y="290200"/>
                  </a:lnTo>
                  <a:lnTo>
                    <a:pt x="5321" y="247773"/>
                  </a:lnTo>
                  <a:lnTo>
                    <a:pt x="0" y="201548"/>
                  </a:lnTo>
                  <a:lnTo>
                    <a:pt x="5321" y="155324"/>
                  </a:lnTo>
                  <a:lnTo>
                    <a:pt x="20479" y="112897"/>
                  </a:lnTo>
                  <a:lnTo>
                    <a:pt x="44267" y="75475"/>
                  </a:lnTo>
                  <a:lnTo>
                    <a:pt x="75475" y="44267"/>
                  </a:lnTo>
                  <a:lnTo>
                    <a:pt x="112897" y="20479"/>
                  </a:lnTo>
                  <a:lnTo>
                    <a:pt x="155324" y="5321"/>
                  </a:lnTo>
                  <a:lnTo>
                    <a:pt x="201548" y="0"/>
                  </a:lnTo>
                  <a:lnTo>
                    <a:pt x="247773" y="5321"/>
                  </a:lnTo>
                  <a:lnTo>
                    <a:pt x="290200" y="20479"/>
                  </a:lnTo>
                  <a:lnTo>
                    <a:pt x="327622" y="44267"/>
                  </a:lnTo>
                  <a:lnTo>
                    <a:pt x="358830" y="75475"/>
                  </a:lnTo>
                  <a:lnTo>
                    <a:pt x="382618" y="112897"/>
                  </a:lnTo>
                  <a:lnTo>
                    <a:pt x="397776" y="155324"/>
                  </a:lnTo>
                  <a:lnTo>
                    <a:pt x="403097" y="201548"/>
                  </a:lnTo>
                  <a:lnTo>
                    <a:pt x="397776" y="247773"/>
                  </a:lnTo>
                  <a:lnTo>
                    <a:pt x="382618" y="290200"/>
                  </a:lnTo>
                  <a:lnTo>
                    <a:pt x="358830" y="327622"/>
                  </a:lnTo>
                  <a:lnTo>
                    <a:pt x="327622" y="358830"/>
                  </a:lnTo>
                  <a:lnTo>
                    <a:pt x="290200" y="382618"/>
                  </a:lnTo>
                  <a:lnTo>
                    <a:pt x="247773" y="397776"/>
                  </a:lnTo>
                  <a:lnTo>
                    <a:pt x="201548" y="403097"/>
                  </a:lnTo>
                  <a:close/>
                </a:path>
              </a:pathLst>
            </a:custGeom>
            <a:solidFill>
              <a:srgbClr val="0A1F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3550" y="7455212"/>
              <a:ext cx="210102" cy="210052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854579" y="7246235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175078" y="400025"/>
                  </a:moveTo>
                  <a:lnTo>
                    <a:pt x="112856" y="382593"/>
                  </a:lnTo>
                  <a:lnTo>
                    <a:pt x="75440" y="358796"/>
                  </a:lnTo>
                  <a:lnTo>
                    <a:pt x="44242" y="327581"/>
                  </a:lnTo>
                  <a:lnTo>
                    <a:pt x="20466" y="290157"/>
                  </a:lnTo>
                  <a:lnTo>
                    <a:pt x="5319" y="247733"/>
                  </a:lnTo>
                  <a:lnTo>
                    <a:pt x="0" y="201516"/>
                  </a:lnTo>
                  <a:lnTo>
                    <a:pt x="5333" y="155304"/>
                  </a:lnTo>
                  <a:lnTo>
                    <a:pt x="20491" y="112889"/>
                  </a:lnTo>
                  <a:lnTo>
                    <a:pt x="44273" y="75477"/>
                  </a:lnTo>
                  <a:lnTo>
                    <a:pt x="75473" y="44274"/>
                  </a:lnTo>
                  <a:lnTo>
                    <a:pt x="112884" y="20489"/>
                  </a:lnTo>
                  <a:lnTo>
                    <a:pt x="155301" y="5328"/>
                  </a:lnTo>
                  <a:lnTo>
                    <a:pt x="201517" y="0"/>
                  </a:lnTo>
                  <a:lnTo>
                    <a:pt x="247737" y="5311"/>
                  </a:lnTo>
                  <a:lnTo>
                    <a:pt x="290165" y="20459"/>
                  </a:lnTo>
                  <a:lnTo>
                    <a:pt x="327592" y="44238"/>
                  </a:lnTo>
                  <a:lnTo>
                    <a:pt x="358810" y="75441"/>
                  </a:lnTo>
                  <a:lnTo>
                    <a:pt x="382608" y="112862"/>
                  </a:lnTo>
                  <a:lnTo>
                    <a:pt x="397776" y="155293"/>
                  </a:lnTo>
                  <a:lnTo>
                    <a:pt x="400025" y="175079"/>
                  </a:lnTo>
                </a:path>
              </a:pathLst>
            </a:custGeom>
            <a:ln w="38099">
              <a:solidFill>
                <a:srgbClr val="0A1F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747323" y="7138892"/>
            <a:ext cx="5048250" cy="2140585"/>
          </a:xfrm>
          <a:prstGeom prst="rect">
            <a:avLst/>
          </a:prstGeom>
          <a:ln w="28575">
            <a:solidFill>
              <a:srgbClr val="C8D3E6"/>
            </a:solidFill>
          </a:ln>
        </p:spPr>
        <p:txBody>
          <a:bodyPr vert="horz" wrap="square" lIns="0" tIns="172720" rIns="0" bIns="0" rtlCol="0">
            <a:spAutoFit/>
          </a:bodyPr>
          <a:lstStyle/>
          <a:p>
            <a:pPr marL="260350">
              <a:lnSpc>
                <a:spcPct val="100000"/>
              </a:lnSpc>
              <a:spcBef>
                <a:spcPts val="1360"/>
              </a:spcBef>
              <a:tabLst>
                <a:tab pos="582930" algn="l"/>
              </a:tabLst>
            </a:pPr>
            <a:r>
              <a:rPr sz="2250" b="1" spc="-75" baseline="3703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r>
              <a:rPr sz="2250" b="1" baseline="3703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550" b="1" dirty="0">
                <a:solidFill>
                  <a:srgbClr val="0A1F4A"/>
                </a:solidFill>
                <a:latin typeface="Calibri"/>
                <a:cs typeface="Calibri"/>
              </a:rPr>
              <a:t>Dijkstra's Algorithm</a:t>
            </a:r>
            <a:endParaRPr sz="1550">
              <a:latin typeface="Calibri"/>
              <a:cs typeface="Calibri"/>
            </a:endParaRPr>
          </a:p>
          <a:p>
            <a:pPr marL="144145" marR="589915">
              <a:lnSpc>
                <a:spcPts val="1580"/>
              </a:lnSpc>
              <a:spcBef>
                <a:spcPts val="1555"/>
              </a:spcBef>
            </a:pPr>
            <a:r>
              <a:rPr sz="1350" i="1" dirty="0">
                <a:solidFill>
                  <a:srgbClr val="5B6474"/>
                </a:solidFill>
                <a:latin typeface="Calibri"/>
                <a:cs typeface="Calibri"/>
              </a:rPr>
              <a:t>Junctions &amp; hospital entrances = nodes; road segments = edges with travel-time weights. Finds minimum total time when weights are non-negative.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5863304" y="7138892"/>
            <a:ext cx="5050155" cy="2140585"/>
            <a:chOff x="5863304" y="7138892"/>
            <a:chExt cx="5050155" cy="2140585"/>
          </a:xfrm>
        </p:grpSpPr>
        <p:sp>
          <p:nvSpPr>
            <p:cNvPr id="69" name="object 69"/>
            <p:cNvSpPr/>
            <p:nvPr/>
          </p:nvSpPr>
          <p:spPr>
            <a:xfrm>
              <a:off x="5863304" y="7138892"/>
              <a:ext cx="5050155" cy="2140585"/>
            </a:xfrm>
            <a:custGeom>
              <a:avLst/>
              <a:gdLst/>
              <a:ahLst/>
              <a:cxnLst/>
              <a:rect l="l" t="t" r="r" b="b"/>
              <a:pathLst>
                <a:path w="5050155" h="2140584">
                  <a:moveTo>
                    <a:pt x="5049693" y="2140267"/>
                  </a:moveTo>
                  <a:lnTo>
                    <a:pt x="0" y="2140267"/>
                  </a:lnTo>
                  <a:lnTo>
                    <a:pt x="0" y="0"/>
                  </a:lnTo>
                  <a:lnTo>
                    <a:pt x="5049693" y="0"/>
                  </a:lnTo>
                  <a:lnTo>
                    <a:pt x="5049693" y="2140267"/>
                  </a:lnTo>
                  <a:close/>
                </a:path>
              </a:pathLst>
            </a:custGeom>
            <a:solidFill>
              <a:srgbClr val="F5F7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970651" y="7246239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403225" h="403225">
                  <a:moveTo>
                    <a:pt x="201548" y="403097"/>
                  </a:moveTo>
                  <a:lnTo>
                    <a:pt x="155324" y="397776"/>
                  </a:lnTo>
                  <a:lnTo>
                    <a:pt x="112897" y="382618"/>
                  </a:lnTo>
                  <a:lnTo>
                    <a:pt x="75475" y="358830"/>
                  </a:lnTo>
                  <a:lnTo>
                    <a:pt x="44267" y="327622"/>
                  </a:lnTo>
                  <a:lnTo>
                    <a:pt x="20479" y="290200"/>
                  </a:lnTo>
                  <a:lnTo>
                    <a:pt x="5321" y="247773"/>
                  </a:lnTo>
                  <a:lnTo>
                    <a:pt x="0" y="201548"/>
                  </a:lnTo>
                  <a:lnTo>
                    <a:pt x="5321" y="155324"/>
                  </a:lnTo>
                  <a:lnTo>
                    <a:pt x="20479" y="112897"/>
                  </a:lnTo>
                  <a:lnTo>
                    <a:pt x="44267" y="75475"/>
                  </a:lnTo>
                  <a:lnTo>
                    <a:pt x="75475" y="44267"/>
                  </a:lnTo>
                  <a:lnTo>
                    <a:pt x="112897" y="20479"/>
                  </a:lnTo>
                  <a:lnTo>
                    <a:pt x="155324" y="5321"/>
                  </a:lnTo>
                  <a:lnTo>
                    <a:pt x="201548" y="0"/>
                  </a:lnTo>
                  <a:lnTo>
                    <a:pt x="247773" y="5321"/>
                  </a:lnTo>
                  <a:lnTo>
                    <a:pt x="290200" y="20479"/>
                  </a:lnTo>
                  <a:lnTo>
                    <a:pt x="327622" y="44267"/>
                  </a:lnTo>
                  <a:lnTo>
                    <a:pt x="358830" y="75475"/>
                  </a:lnTo>
                  <a:lnTo>
                    <a:pt x="382618" y="112897"/>
                  </a:lnTo>
                  <a:lnTo>
                    <a:pt x="397776" y="155324"/>
                  </a:lnTo>
                  <a:lnTo>
                    <a:pt x="403097" y="201548"/>
                  </a:lnTo>
                  <a:lnTo>
                    <a:pt x="397776" y="247773"/>
                  </a:lnTo>
                  <a:lnTo>
                    <a:pt x="382618" y="290200"/>
                  </a:lnTo>
                  <a:lnTo>
                    <a:pt x="358830" y="327622"/>
                  </a:lnTo>
                  <a:lnTo>
                    <a:pt x="327622" y="358830"/>
                  </a:lnTo>
                  <a:lnTo>
                    <a:pt x="290200" y="382618"/>
                  </a:lnTo>
                  <a:lnTo>
                    <a:pt x="247773" y="397776"/>
                  </a:lnTo>
                  <a:lnTo>
                    <a:pt x="201548" y="403097"/>
                  </a:lnTo>
                  <a:close/>
                </a:path>
              </a:pathLst>
            </a:custGeom>
            <a:solidFill>
              <a:srgbClr val="0A1F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79619" y="7455212"/>
              <a:ext cx="210102" cy="210051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5970647" y="7246235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175078" y="400025"/>
                  </a:moveTo>
                  <a:lnTo>
                    <a:pt x="112856" y="382593"/>
                  </a:lnTo>
                  <a:lnTo>
                    <a:pt x="75440" y="358796"/>
                  </a:lnTo>
                  <a:lnTo>
                    <a:pt x="44242" y="327581"/>
                  </a:lnTo>
                  <a:lnTo>
                    <a:pt x="20466" y="290157"/>
                  </a:lnTo>
                  <a:lnTo>
                    <a:pt x="5319" y="247733"/>
                  </a:lnTo>
                  <a:lnTo>
                    <a:pt x="0" y="201516"/>
                  </a:lnTo>
                  <a:lnTo>
                    <a:pt x="5333" y="155304"/>
                  </a:lnTo>
                  <a:lnTo>
                    <a:pt x="20491" y="112889"/>
                  </a:lnTo>
                  <a:lnTo>
                    <a:pt x="44273" y="75477"/>
                  </a:lnTo>
                  <a:lnTo>
                    <a:pt x="75473" y="44275"/>
                  </a:lnTo>
                  <a:lnTo>
                    <a:pt x="112884" y="20489"/>
                  </a:lnTo>
                  <a:lnTo>
                    <a:pt x="155301" y="5328"/>
                  </a:lnTo>
                  <a:lnTo>
                    <a:pt x="201517" y="0"/>
                  </a:lnTo>
                  <a:lnTo>
                    <a:pt x="247737" y="5311"/>
                  </a:lnTo>
                  <a:lnTo>
                    <a:pt x="290165" y="20459"/>
                  </a:lnTo>
                  <a:lnTo>
                    <a:pt x="327592" y="44238"/>
                  </a:lnTo>
                  <a:lnTo>
                    <a:pt x="358809" y="75441"/>
                  </a:lnTo>
                  <a:lnTo>
                    <a:pt x="382607" y="112862"/>
                  </a:lnTo>
                  <a:lnTo>
                    <a:pt x="397776" y="155293"/>
                  </a:lnTo>
                  <a:lnTo>
                    <a:pt x="400024" y="175078"/>
                  </a:lnTo>
                </a:path>
              </a:pathLst>
            </a:custGeom>
            <a:ln w="38099">
              <a:solidFill>
                <a:srgbClr val="0A1F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5863390" y="7138892"/>
            <a:ext cx="5048250" cy="2140585"/>
          </a:xfrm>
          <a:prstGeom prst="rect">
            <a:avLst/>
          </a:prstGeom>
          <a:ln w="28575">
            <a:solidFill>
              <a:srgbClr val="C8D3E6"/>
            </a:solidFill>
          </a:ln>
        </p:spPr>
        <p:txBody>
          <a:bodyPr vert="horz" wrap="square" lIns="0" tIns="172720" rIns="0" bIns="0" rtlCol="0">
            <a:spAutoFit/>
          </a:bodyPr>
          <a:lstStyle/>
          <a:p>
            <a:pPr marL="260350">
              <a:lnSpc>
                <a:spcPct val="100000"/>
              </a:lnSpc>
              <a:spcBef>
                <a:spcPts val="1360"/>
              </a:spcBef>
              <a:tabLst>
                <a:tab pos="582930" algn="l"/>
              </a:tabLst>
            </a:pPr>
            <a:r>
              <a:rPr sz="2250" b="1" spc="-75" baseline="3703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r>
              <a:rPr sz="2250" b="1" baseline="3703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550" b="1" dirty="0">
                <a:solidFill>
                  <a:srgbClr val="0A1F4A"/>
                </a:solidFill>
                <a:latin typeface="Calibri"/>
                <a:cs typeface="Calibri"/>
              </a:rPr>
              <a:t>Recommendation</a:t>
            </a:r>
            <a:endParaRPr sz="1550">
              <a:latin typeface="Calibri"/>
              <a:cs typeface="Calibri"/>
            </a:endParaRPr>
          </a:p>
          <a:p>
            <a:pPr marL="144145" marR="347980">
              <a:lnSpc>
                <a:spcPts val="1580"/>
              </a:lnSpc>
              <a:spcBef>
                <a:spcPts val="1555"/>
              </a:spcBef>
            </a:pPr>
            <a:r>
              <a:rPr sz="1350" i="1" dirty="0">
                <a:solidFill>
                  <a:srgbClr val="5B6474"/>
                </a:solidFill>
                <a:latin typeface="Calibri"/>
                <a:cs typeface="Calibri"/>
              </a:rPr>
              <a:t>Suggest a suitable hospital &amp; route for dispatcher confirmation. Nearest hospital is not always the most appropriate.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11294327" y="7110888"/>
            <a:ext cx="6256020" cy="1000125"/>
            <a:chOff x="11294327" y="7110888"/>
            <a:chExt cx="6256020" cy="1000125"/>
          </a:xfrm>
        </p:grpSpPr>
        <p:sp>
          <p:nvSpPr>
            <p:cNvPr id="97" name="object 97"/>
            <p:cNvSpPr/>
            <p:nvPr/>
          </p:nvSpPr>
          <p:spPr>
            <a:xfrm>
              <a:off x="11308555" y="7125175"/>
              <a:ext cx="6227445" cy="974725"/>
            </a:xfrm>
            <a:custGeom>
              <a:avLst/>
              <a:gdLst/>
              <a:ahLst/>
              <a:cxnLst/>
              <a:rect l="l" t="t" r="r" b="b"/>
              <a:pathLst>
                <a:path w="6227444" h="974725">
                  <a:moveTo>
                    <a:pt x="6116288" y="974407"/>
                  </a:moveTo>
                  <a:lnTo>
                    <a:pt x="111347" y="974407"/>
                  </a:lnTo>
                  <a:lnTo>
                    <a:pt x="67990" y="965662"/>
                  </a:lnTo>
                  <a:lnTo>
                    <a:pt x="32599" y="941808"/>
                  </a:lnTo>
                  <a:lnTo>
                    <a:pt x="8745" y="906416"/>
                  </a:lnTo>
                  <a:lnTo>
                    <a:pt x="0" y="863060"/>
                  </a:lnTo>
                  <a:lnTo>
                    <a:pt x="0" y="111347"/>
                  </a:lnTo>
                  <a:lnTo>
                    <a:pt x="8745" y="67990"/>
                  </a:lnTo>
                  <a:lnTo>
                    <a:pt x="32599" y="32599"/>
                  </a:lnTo>
                  <a:lnTo>
                    <a:pt x="67990" y="8745"/>
                  </a:lnTo>
                  <a:lnTo>
                    <a:pt x="111347" y="0"/>
                  </a:lnTo>
                  <a:lnTo>
                    <a:pt x="6116288" y="0"/>
                  </a:lnTo>
                  <a:lnTo>
                    <a:pt x="6159644" y="8745"/>
                  </a:lnTo>
                  <a:lnTo>
                    <a:pt x="6195036" y="32599"/>
                  </a:lnTo>
                  <a:lnTo>
                    <a:pt x="6218890" y="67990"/>
                  </a:lnTo>
                  <a:lnTo>
                    <a:pt x="6227072" y="108556"/>
                  </a:lnTo>
                  <a:lnTo>
                    <a:pt x="6227072" y="865851"/>
                  </a:lnTo>
                  <a:lnTo>
                    <a:pt x="6218890" y="906416"/>
                  </a:lnTo>
                  <a:lnTo>
                    <a:pt x="6195036" y="941808"/>
                  </a:lnTo>
                  <a:lnTo>
                    <a:pt x="6159644" y="965662"/>
                  </a:lnTo>
                  <a:lnTo>
                    <a:pt x="6116288" y="974407"/>
                  </a:lnTo>
                  <a:close/>
                </a:path>
              </a:pathLst>
            </a:custGeom>
            <a:solidFill>
              <a:srgbClr val="EDF1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11308615" y="7125175"/>
              <a:ext cx="6227445" cy="971550"/>
            </a:xfrm>
            <a:custGeom>
              <a:avLst/>
              <a:gdLst/>
              <a:ahLst/>
              <a:cxnLst/>
              <a:rect l="l" t="t" r="r" b="b"/>
              <a:pathLst>
                <a:path w="6227444" h="971550">
                  <a:moveTo>
                    <a:pt x="97324" y="971549"/>
                  </a:moveTo>
                  <a:lnTo>
                    <a:pt x="32598" y="941779"/>
                  </a:lnTo>
                  <a:lnTo>
                    <a:pt x="8744" y="906389"/>
                  </a:lnTo>
                  <a:lnTo>
                    <a:pt x="0" y="863033"/>
                  </a:lnTo>
                  <a:lnTo>
                    <a:pt x="0" y="111343"/>
                  </a:lnTo>
                  <a:lnTo>
                    <a:pt x="8744" y="67988"/>
                  </a:lnTo>
                  <a:lnTo>
                    <a:pt x="32598" y="32598"/>
                  </a:lnTo>
                  <a:lnTo>
                    <a:pt x="67988" y="8744"/>
                  </a:lnTo>
                  <a:lnTo>
                    <a:pt x="111343" y="0"/>
                  </a:lnTo>
                  <a:lnTo>
                    <a:pt x="6116101" y="0"/>
                  </a:lnTo>
                  <a:lnTo>
                    <a:pt x="6159456" y="8744"/>
                  </a:lnTo>
                  <a:lnTo>
                    <a:pt x="6194846" y="32598"/>
                  </a:lnTo>
                  <a:lnTo>
                    <a:pt x="6218700" y="67988"/>
                  </a:lnTo>
                  <a:lnTo>
                    <a:pt x="6227445" y="111343"/>
                  </a:lnTo>
                  <a:lnTo>
                    <a:pt x="6227444" y="863033"/>
                  </a:lnTo>
                  <a:lnTo>
                    <a:pt x="6218700" y="906389"/>
                  </a:lnTo>
                  <a:lnTo>
                    <a:pt x="6194846" y="941779"/>
                  </a:lnTo>
                  <a:lnTo>
                    <a:pt x="6159456" y="965632"/>
                  </a:lnTo>
                  <a:lnTo>
                    <a:pt x="6130119" y="971550"/>
                  </a:lnTo>
                </a:path>
              </a:pathLst>
            </a:custGeom>
            <a:ln w="28575">
              <a:solidFill>
                <a:srgbClr val="C8D3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11498198" y="7355966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79">
                  <a:moveTo>
                    <a:pt x="256412" y="512825"/>
                  </a:moveTo>
                  <a:lnTo>
                    <a:pt x="210316" y="508695"/>
                  </a:lnTo>
                  <a:lnTo>
                    <a:pt x="166932" y="496786"/>
                  </a:lnTo>
                  <a:lnTo>
                    <a:pt x="126985" y="477823"/>
                  </a:lnTo>
                  <a:lnTo>
                    <a:pt x="91199" y="452528"/>
                  </a:lnTo>
                  <a:lnTo>
                    <a:pt x="60297" y="421626"/>
                  </a:lnTo>
                  <a:lnTo>
                    <a:pt x="35002" y="385840"/>
                  </a:lnTo>
                  <a:lnTo>
                    <a:pt x="16039" y="345893"/>
                  </a:lnTo>
                  <a:lnTo>
                    <a:pt x="4130" y="302509"/>
                  </a:lnTo>
                  <a:lnTo>
                    <a:pt x="0" y="256412"/>
                  </a:lnTo>
                  <a:lnTo>
                    <a:pt x="4130" y="210316"/>
                  </a:lnTo>
                  <a:lnTo>
                    <a:pt x="16039" y="166932"/>
                  </a:lnTo>
                  <a:lnTo>
                    <a:pt x="35002" y="126985"/>
                  </a:lnTo>
                  <a:lnTo>
                    <a:pt x="60297" y="91199"/>
                  </a:lnTo>
                  <a:lnTo>
                    <a:pt x="91199" y="60297"/>
                  </a:lnTo>
                  <a:lnTo>
                    <a:pt x="126985" y="35002"/>
                  </a:lnTo>
                  <a:lnTo>
                    <a:pt x="166932" y="16039"/>
                  </a:lnTo>
                  <a:lnTo>
                    <a:pt x="210316" y="4130"/>
                  </a:lnTo>
                  <a:lnTo>
                    <a:pt x="256412" y="0"/>
                  </a:lnTo>
                  <a:lnTo>
                    <a:pt x="302509" y="4130"/>
                  </a:lnTo>
                  <a:lnTo>
                    <a:pt x="345893" y="16039"/>
                  </a:lnTo>
                  <a:lnTo>
                    <a:pt x="385840" y="35002"/>
                  </a:lnTo>
                  <a:lnTo>
                    <a:pt x="421626" y="60297"/>
                  </a:lnTo>
                  <a:lnTo>
                    <a:pt x="452528" y="91199"/>
                  </a:lnTo>
                  <a:lnTo>
                    <a:pt x="477823" y="126985"/>
                  </a:lnTo>
                  <a:lnTo>
                    <a:pt x="496786" y="166932"/>
                  </a:lnTo>
                  <a:lnTo>
                    <a:pt x="508695" y="210316"/>
                  </a:lnTo>
                  <a:lnTo>
                    <a:pt x="512825" y="256412"/>
                  </a:lnTo>
                  <a:lnTo>
                    <a:pt x="508695" y="302509"/>
                  </a:lnTo>
                  <a:lnTo>
                    <a:pt x="496786" y="345893"/>
                  </a:lnTo>
                  <a:lnTo>
                    <a:pt x="477823" y="385840"/>
                  </a:lnTo>
                  <a:lnTo>
                    <a:pt x="452528" y="421626"/>
                  </a:lnTo>
                  <a:lnTo>
                    <a:pt x="421626" y="452528"/>
                  </a:lnTo>
                  <a:lnTo>
                    <a:pt x="385840" y="477823"/>
                  </a:lnTo>
                  <a:lnTo>
                    <a:pt x="345893" y="496786"/>
                  </a:lnTo>
                  <a:lnTo>
                    <a:pt x="302509" y="508695"/>
                  </a:lnTo>
                  <a:lnTo>
                    <a:pt x="256412" y="512825"/>
                  </a:lnTo>
                  <a:close/>
                </a:path>
              </a:pathLst>
            </a:custGeom>
            <a:solidFill>
              <a:srgbClr val="F1A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11498193" y="7355971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79">
                  <a:moveTo>
                    <a:pt x="9" y="256351"/>
                  </a:moveTo>
                  <a:lnTo>
                    <a:pt x="4146" y="210268"/>
                  </a:lnTo>
                  <a:lnTo>
                    <a:pt x="16057" y="166898"/>
                  </a:lnTo>
                  <a:lnTo>
                    <a:pt x="35018" y="126965"/>
                  </a:lnTo>
                  <a:lnTo>
                    <a:pt x="60305" y="91191"/>
                  </a:lnTo>
                  <a:lnTo>
                    <a:pt x="91197" y="60297"/>
                  </a:lnTo>
                  <a:lnTo>
                    <a:pt x="126970" y="35007"/>
                  </a:lnTo>
                  <a:lnTo>
                    <a:pt x="166903" y="16043"/>
                  </a:lnTo>
                  <a:lnTo>
                    <a:pt x="210274" y="4129"/>
                  </a:lnTo>
                  <a:lnTo>
                    <a:pt x="256361" y="0"/>
                  </a:lnTo>
                  <a:lnTo>
                    <a:pt x="302452" y="4108"/>
                  </a:lnTo>
                  <a:lnTo>
                    <a:pt x="345834" y="16003"/>
                  </a:lnTo>
                  <a:lnTo>
                    <a:pt x="385784" y="34954"/>
                  </a:lnTo>
                  <a:lnTo>
                    <a:pt x="421577" y="60238"/>
                  </a:lnTo>
                  <a:lnTo>
                    <a:pt x="452490" y="91133"/>
                  </a:lnTo>
                  <a:lnTo>
                    <a:pt x="477797" y="126916"/>
                  </a:lnTo>
                  <a:lnTo>
                    <a:pt x="496774" y="166865"/>
                  </a:lnTo>
                  <a:lnTo>
                    <a:pt x="508695" y="210254"/>
                  </a:lnTo>
                  <a:lnTo>
                    <a:pt x="512834" y="256361"/>
                  </a:lnTo>
                  <a:lnTo>
                    <a:pt x="508709" y="302471"/>
                  </a:lnTo>
                  <a:lnTo>
                    <a:pt x="496801" y="345868"/>
                  </a:lnTo>
                  <a:lnTo>
                    <a:pt x="477833" y="385828"/>
                  </a:lnTo>
                  <a:lnTo>
                    <a:pt x="452530" y="421624"/>
                  </a:lnTo>
                  <a:lnTo>
                    <a:pt x="421616" y="452534"/>
                  </a:lnTo>
                  <a:lnTo>
                    <a:pt x="385816" y="477832"/>
                  </a:lnTo>
                  <a:lnTo>
                    <a:pt x="345855" y="496793"/>
                  </a:lnTo>
                  <a:lnTo>
                    <a:pt x="302458" y="508695"/>
                  </a:lnTo>
                  <a:lnTo>
                    <a:pt x="256351" y="512815"/>
                  </a:lnTo>
                  <a:lnTo>
                    <a:pt x="210248" y="508670"/>
                  </a:lnTo>
                  <a:lnTo>
                    <a:pt x="166864" y="496747"/>
                  </a:lnTo>
                  <a:lnTo>
                    <a:pt x="126922" y="477769"/>
                  </a:lnTo>
                  <a:lnTo>
                    <a:pt x="91144" y="452463"/>
                  </a:lnTo>
                  <a:lnTo>
                    <a:pt x="60253" y="421552"/>
                  </a:lnTo>
                  <a:lnTo>
                    <a:pt x="34972" y="385762"/>
                  </a:lnTo>
                  <a:lnTo>
                    <a:pt x="16024" y="345816"/>
                  </a:lnTo>
                  <a:lnTo>
                    <a:pt x="4129" y="302438"/>
                  </a:lnTo>
                  <a:lnTo>
                    <a:pt x="0" y="256350"/>
                  </a:lnTo>
                </a:path>
              </a:pathLst>
            </a:custGeom>
            <a:ln w="38100">
              <a:solidFill>
                <a:srgbClr val="F1A8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11678974" y="7409941"/>
            <a:ext cx="15113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b="1" spc="-50" dirty="0">
                <a:solidFill>
                  <a:srgbClr val="0A1F4A"/>
                </a:solidFill>
                <a:latin typeface="Calibri"/>
                <a:cs typeface="Calibri"/>
              </a:rPr>
              <a:t>2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12153391" y="7158521"/>
            <a:ext cx="4542790" cy="57721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700" b="1" spc="-10" dirty="0">
                <a:solidFill>
                  <a:srgbClr val="0A1F4A"/>
                </a:solidFill>
                <a:latin typeface="Calibri"/>
                <a:cs typeface="Calibri"/>
              </a:rPr>
              <a:t>Edges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400" i="1" dirty="0">
                <a:solidFill>
                  <a:srgbClr val="5B6474"/>
                </a:solidFill>
                <a:latin typeface="Calibri"/>
                <a:cs typeface="Calibri"/>
              </a:rPr>
              <a:t>Road segments with travel-time weights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3" name="object 103"/>
          <p:cNvGrpSpPr/>
          <p:nvPr/>
        </p:nvGrpSpPr>
        <p:grpSpPr>
          <a:xfrm>
            <a:off x="11294327" y="8208168"/>
            <a:ext cx="6256020" cy="1000125"/>
            <a:chOff x="11294327" y="8208168"/>
            <a:chExt cx="6256020" cy="1000125"/>
          </a:xfrm>
        </p:grpSpPr>
        <p:sp>
          <p:nvSpPr>
            <p:cNvPr id="104" name="object 104"/>
            <p:cNvSpPr/>
            <p:nvPr/>
          </p:nvSpPr>
          <p:spPr>
            <a:xfrm>
              <a:off x="11308555" y="8222455"/>
              <a:ext cx="6227445" cy="974725"/>
            </a:xfrm>
            <a:custGeom>
              <a:avLst/>
              <a:gdLst/>
              <a:ahLst/>
              <a:cxnLst/>
              <a:rect l="l" t="t" r="r" b="b"/>
              <a:pathLst>
                <a:path w="6227444" h="974725">
                  <a:moveTo>
                    <a:pt x="6116288" y="974407"/>
                  </a:moveTo>
                  <a:lnTo>
                    <a:pt x="111347" y="974407"/>
                  </a:lnTo>
                  <a:lnTo>
                    <a:pt x="67990" y="965662"/>
                  </a:lnTo>
                  <a:lnTo>
                    <a:pt x="32599" y="941808"/>
                  </a:lnTo>
                  <a:lnTo>
                    <a:pt x="8745" y="906416"/>
                  </a:lnTo>
                  <a:lnTo>
                    <a:pt x="0" y="863060"/>
                  </a:lnTo>
                  <a:lnTo>
                    <a:pt x="0" y="111347"/>
                  </a:lnTo>
                  <a:lnTo>
                    <a:pt x="8745" y="67990"/>
                  </a:lnTo>
                  <a:lnTo>
                    <a:pt x="32599" y="32599"/>
                  </a:lnTo>
                  <a:lnTo>
                    <a:pt x="67990" y="8745"/>
                  </a:lnTo>
                  <a:lnTo>
                    <a:pt x="111347" y="0"/>
                  </a:lnTo>
                  <a:lnTo>
                    <a:pt x="6116288" y="0"/>
                  </a:lnTo>
                  <a:lnTo>
                    <a:pt x="6159644" y="8745"/>
                  </a:lnTo>
                  <a:lnTo>
                    <a:pt x="6195036" y="32599"/>
                  </a:lnTo>
                  <a:lnTo>
                    <a:pt x="6218890" y="67990"/>
                  </a:lnTo>
                  <a:lnTo>
                    <a:pt x="6227072" y="108556"/>
                  </a:lnTo>
                  <a:lnTo>
                    <a:pt x="6227072" y="865851"/>
                  </a:lnTo>
                  <a:lnTo>
                    <a:pt x="6218890" y="906416"/>
                  </a:lnTo>
                  <a:lnTo>
                    <a:pt x="6195036" y="941808"/>
                  </a:lnTo>
                  <a:lnTo>
                    <a:pt x="6159644" y="965662"/>
                  </a:lnTo>
                  <a:lnTo>
                    <a:pt x="6116288" y="974407"/>
                  </a:lnTo>
                  <a:close/>
                </a:path>
              </a:pathLst>
            </a:custGeom>
            <a:solidFill>
              <a:srgbClr val="EDF1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11308615" y="8222456"/>
              <a:ext cx="6227445" cy="971550"/>
            </a:xfrm>
            <a:custGeom>
              <a:avLst/>
              <a:gdLst/>
              <a:ahLst/>
              <a:cxnLst/>
              <a:rect l="l" t="t" r="r" b="b"/>
              <a:pathLst>
                <a:path w="6227444" h="971550">
                  <a:moveTo>
                    <a:pt x="97324" y="971549"/>
                  </a:moveTo>
                  <a:lnTo>
                    <a:pt x="32598" y="941779"/>
                  </a:lnTo>
                  <a:lnTo>
                    <a:pt x="8744" y="906388"/>
                  </a:lnTo>
                  <a:lnTo>
                    <a:pt x="0" y="863033"/>
                  </a:lnTo>
                  <a:lnTo>
                    <a:pt x="0" y="111343"/>
                  </a:lnTo>
                  <a:lnTo>
                    <a:pt x="8744" y="67988"/>
                  </a:lnTo>
                  <a:lnTo>
                    <a:pt x="32598" y="32598"/>
                  </a:lnTo>
                  <a:lnTo>
                    <a:pt x="67988" y="8744"/>
                  </a:lnTo>
                  <a:lnTo>
                    <a:pt x="111343" y="0"/>
                  </a:lnTo>
                  <a:lnTo>
                    <a:pt x="6116101" y="0"/>
                  </a:lnTo>
                  <a:lnTo>
                    <a:pt x="6159456" y="8744"/>
                  </a:lnTo>
                  <a:lnTo>
                    <a:pt x="6194846" y="32598"/>
                  </a:lnTo>
                  <a:lnTo>
                    <a:pt x="6218700" y="67988"/>
                  </a:lnTo>
                  <a:lnTo>
                    <a:pt x="6227445" y="111343"/>
                  </a:lnTo>
                  <a:lnTo>
                    <a:pt x="6227444" y="863033"/>
                  </a:lnTo>
                  <a:lnTo>
                    <a:pt x="6218700" y="906389"/>
                  </a:lnTo>
                  <a:lnTo>
                    <a:pt x="6194846" y="941779"/>
                  </a:lnTo>
                  <a:lnTo>
                    <a:pt x="6159456" y="965632"/>
                  </a:lnTo>
                  <a:lnTo>
                    <a:pt x="6130119" y="971550"/>
                  </a:lnTo>
                </a:path>
              </a:pathLst>
            </a:custGeom>
            <a:ln w="28575">
              <a:solidFill>
                <a:srgbClr val="C8D3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11498198" y="8453246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79">
                  <a:moveTo>
                    <a:pt x="256412" y="512825"/>
                  </a:moveTo>
                  <a:lnTo>
                    <a:pt x="210316" y="508695"/>
                  </a:lnTo>
                  <a:lnTo>
                    <a:pt x="166932" y="496786"/>
                  </a:lnTo>
                  <a:lnTo>
                    <a:pt x="126985" y="477823"/>
                  </a:lnTo>
                  <a:lnTo>
                    <a:pt x="91199" y="452528"/>
                  </a:lnTo>
                  <a:lnTo>
                    <a:pt x="60297" y="421626"/>
                  </a:lnTo>
                  <a:lnTo>
                    <a:pt x="35002" y="385840"/>
                  </a:lnTo>
                  <a:lnTo>
                    <a:pt x="16039" y="345893"/>
                  </a:lnTo>
                  <a:lnTo>
                    <a:pt x="4130" y="302509"/>
                  </a:lnTo>
                  <a:lnTo>
                    <a:pt x="0" y="256412"/>
                  </a:lnTo>
                  <a:lnTo>
                    <a:pt x="4130" y="210316"/>
                  </a:lnTo>
                  <a:lnTo>
                    <a:pt x="16039" y="166932"/>
                  </a:lnTo>
                  <a:lnTo>
                    <a:pt x="35002" y="126985"/>
                  </a:lnTo>
                  <a:lnTo>
                    <a:pt x="60297" y="91199"/>
                  </a:lnTo>
                  <a:lnTo>
                    <a:pt x="91199" y="60297"/>
                  </a:lnTo>
                  <a:lnTo>
                    <a:pt x="126985" y="35002"/>
                  </a:lnTo>
                  <a:lnTo>
                    <a:pt x="166932" y="16039"/>
                  </a:lnTo>
                  <a:lnTo>
                    <a:pt x="210316" y="4130"/>
                  </a:lnTo>
                  <a:lnTo>
                    <a:pt x="256412" y="0"/>
                  </a:lnTo>
                  <a:lnTo>
                    <a:pt x="302509" y="4130"/>
                  </a:lnTo>
                  <a:lnTo>
                    <a:pt x="345893" y="16039"/>
                  </a:lnTo>
                  <a:lnTo>
                    <a:pt x="385840" y="35002"/>
                  </a:lnTo>
                  <a:lnTo>
                    <a:pt x="421626" y="60297"/>
                  </a:lnTo>
                  <a:lnTo>
                    <a:pt x="452528" y="91199"/>
                  </a:lnTo>
                  <a:lnTo>
                    <a:pt x="477823" y="126985"/>
                  </a:lnTo>
                  <a:lnTo>
                    <a:pt x="496786" y="166932"/>
                  </a:lnTo>
                  <a:lnTo>
                    <a:pt x="508695" y="210316"/>
                  </a:lnTo>
                  <a:lnTo>
                    <a:pt x="512825" y="256412"/>
                  </a:lnTo>
                  <a:lnTo>
                    <a:pt x="508695" y="302509"/>
                  </a:lnTo>
                  <a:lnTo>
                    <a:pt x="496786" y="345893"/>
                  </a:lnTo>
                  <a:lnTo>
                    <a:pt x="477823" y="385840"/>
                  </a:lnTo>
                  <a:lnTo>
                    <a:pt x="452528" y="421626"/>
                  </a:lnTo>
                  <a:lnTo>
                    <a:pt x="421626" y="452528"/>
                  </a:lnTo>
                  <a:lnTo>
                    <a:pt x="385840" y="477823"/>
                  </a:lnTo>
                  <a:lnTo>
                    <a:pt x="345893" y="496786"/>
                  </a:lnTo>
                  <a:lnTo>
                    <a:pt x="302509" y="508695"/>
                  </a:lnTo>
                  <a:lnTo>
                    <a:pt x="256412" y="512825"/>
                  </a:lnTo>
                  <a:close/>
                </a:path>
              </a:pathLst>
            </a:custGeom>
            <a:solidFill>
              <a:srgbClr val="F1A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11498193" y="8453251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79">
                  <a:moveTo>
                    <a:pt x="9" y="256351"/>
                  </a:moveTo>
                  <a:lnTo>
                    <a:pt x="4146" y="210268"/>
                  </a:lnTo>
                  <a:lnTo>
                    <a:pt x="16057" y="166898"/>
                  </a:lnTo>
                  <a:lnTo>
                    <a:pt x="35018" y="126965"/>
                  </a:lnTo>
                  <a:lnTo>
                    <a:pt x="60305" y="91191"/>
                  </a:lnTo>
                  <a:lnTo>
                    <a:pt x="91197" y="60297"/>
                  </a:lnTo>
                  <a:lnTo>
                    <a:pt x="126970" y="35007"/>
                  </a:lnTo>
                  <a:lnTo>
                    <a:pt x="166903" y="16043"/>
                  </a:lnTo>
                  <a:lnTo>
                    <a:pt x="210274" y="4129"/>
                  </a:lnTo>
                  <a:lnTo>
                    <a:pt x="256361" y="0"/>
                  </a:lnTo>
                  <a:lnTo>
                    <a:pt x="302452" y="4108"/>
                  </a:lnTo>
                  <a:lnTo>
                    <a:pt x="345834" y="16003"/>
                  </a:lnTo>
                  <a:lnTo>
                    <a:pt x="385784" y="34954"/>
                  </a:lnTo>
                  <a:lnTo>
                    <a:pt x="421577" y="60238"/>
                  </a:lnTo>
                  <a:lnTo>
                    <a:pt x="452490" y="91133"/>
                  </a:lnTo>
                  <a:lnTo>
                    <a:pt x="477797" y="126916"/>
                  </a:lnTo>
                  <a:lnTo>
                    <a:pt x="496774" y="166865"/>
                  </a:lnTo>
                  <a:lnTo>
                    <a:pt x="508695" y="210254"/>
                  </a:lnTo>
                  <a:lnTo>
                    <a:pt x="512834" y="256361"/>
                  </a:lnTo>
                  <a:lnTo>
                    <a:pt x="508709" y="302471"/>
                  </a:lnTo>
                  <a:lnTo>
                    <a:pt x="496801" y="345868"/>
                  </a:lnTo>
                  <a:lnTo>
                    <a:pt x="477833" y="385828"/>
                  </a:lnTo>
                  <a:lnTo>
                    <a:pt x="452530" y="421624"/>
                  </a:lnTo>
                  <a:lnTo>
                    <a:pt x="421616" y="452534"/>
                  </a:lnTo>
                  <a:lnTo>
                    <a:pt x="385816" y="477832"/>
                  </a:lnTo>
                  <a:lnTo>
                    <a:pt x="345855" y="496793"/>
                  </a:lnTo>
                  <a:lnTo>
                    <a:pt x="302458" y="508695"/>
                  </a:lnTo>
                  <a:lnTo>
                    <a:pt x="256351" y="512815"/>
                  </a:lnTo>
                  <a:lnTo>
                    <a:pt x="210248" y="508670"/>
                  </a:lnTo>
                  <a:lnTo>
                    <a:pt x="166864" y="496747"/>
                  </a:lnTo>
                  <a:lnTo>
                    <a:pt x="126922" y="477769"/>
                  </a:lnTo>
                  <a:lnTo>
                    <a:pt x="91144" y="452463"/>
                  </a:lnTo>
                  <a:lnTo>
                    <a:pt x="60253" y="421552"/>
                  </a:lnTo>
                  <a:lnTo>
                    <a:pt x="34972" y="385762"/>
                  </a:lnTo>
                  <a:lnTo>
                    <a:pt x="16024" y="345816"/>
                  </a:lnTo>
                  <a:lnTo>
                    <a:pt x="4129" y="302438"/>
                  </a:lnTo>
                  <a:lnTo>
                    <a:pt x="0" y="256350"/>
                  </a:lnTo>
                </a:path>
              </a:pathLst>
            </a:custGeom>
            <a:ln w="38100">
              <a:solidFill>
                <a:srgbClr val="F1A8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8" name="object 108"/>
          <p:cNvSpPr txBox="1"/>
          <p:nvPr/>
        </p:nvSpPr>
        <p:spPr>
          <a:xfrm>
            <a:off x="11678974" y="8507221"/>
            <a:ext cx="15113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b="1" spc="-50" dirty="0">
                <a:solidFill>
                  <a:srgbClr val="0A1F4A"/>
                </a:solidFill>
                <a:latin typeface="Calibri"/>
                <a:cs typeface="Calibri"/>
              </a:rPr>
              <a:t>3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12153391" y="8255802"/>
            <a:ext cx="4300220" cy="57721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700" b="1" spc="-10" dirty="0">
                <a:solidFill>
                  <a:srgbClr val="0A1F4A"/>
                </a:solidFill>
                <a:latin typeface="Calibri"/>
                <a:cs typeface="Calibri"/>
              </a:rPr>
              <a:t>Output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400" i="1" dirty="0">
                <a:solidFill>
                  <a:srgbClr val="5B6474"/>
                </a:solidFill>
                <a:latin typeface="Calibri"/>
                <a:cs typeface="Calibri"/>
              </a:rPr>
              <a:t>Minimum total-time route to hospital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0" name="object 1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525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A1F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41679" y="496560"/>
            <a:ext cx="6196330" cy="112839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  <a:tabLst>
                <a:tab pos="443865" algn="l"/>
                <a:tab pos="661035" algn="l"/>
              </a:tabLst>
            </a:pPr>
            <a:r>
              <a:rPr sz="1650" b="1" dirty="0">
                <a:solidFill>
                  <a:srgbClr val="F1A800"/>
                </a:solidFill>
                <a:latin typeface="Calibri"/>
                <a:cs typeface="Calibri"/>
              </a:rPr>
              <a:t>0 6	·	A R C H I T E C T U R E</a:t>
            </a:r>
            <a:r>
              <a:rPr lang="en-US" sz="1650" b="1" dirty="0">
                <a:solidFill>
                  <a:srgbClr val="F1A800"/>
                </a:solidFill>
                <a:latin typeface="Calibri"/>
                <a:cs typeface="Calibri"/>
              </a:rPr>
              <a:t> </a:t>
            </a:r>
            <a:r>
              <a:rPr sz="1650" b="1" dirty="0">
                <a:solidFill>
                  <a:srgbClr val="F1A800"/>
                </a:solidFill>
                <a:latin typeface="Calibri"/>
                <a:cs typeface="Calibri"/>
              </a:rPr>
              <a:t>&amp;</a:t>
            </a:r>
            <a:r>
              <a:rPr lang="en-US" sz="1650" b="1" dirty="0">
                <a:solidFill>
                  <a:srgbClr val="F1A800"/>
                </a:solidFill>
                <a:latin typeface="Calibri"/>
                <a:cs typeface="Calibri"/>
              </a:rPr>
              <a:t> </a:t>
            </a:r>
            <a:r>
              <a:rPr sz="1650" b="1" dirty="0">
                <a:solidFill>
                  <a:srgbClr val="F1A800"/>
                </a:solidFill>
                <a:latin typeface="Calibri"/>
                <a:cs typeface="Calibri"/>
              </a:rPr>
              <a:t>I M P A C T</a:t>
            </a:r>
            <a:endParaRPr sz="16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4200" b="1" dirty="0">
                <a:solidFill>
                  <a:srgbClr val="FFFFFF"/>
                </a:solidFill>
                <a:latin typeface="Cambria"/>
                <a:cs typeface="Cambria"/>
              </a:rPr>
              <a:t>Architecture &amp; Impact</a:t>
            </a:r>
            <a:endParaRPr sz="42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161799" y="750951"/>
            <a:ext cx="370205" cy="333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b="1" spc="-20" dirty="0">
                <a:solidFill>
                  <a:srgbClr val="5B6474"/>
                </a:solidFill>
                <a:latin typeface="Calibri"/>
                <a:cs typeface="Calibri"/>
              </a:rPr>
              <a:t>DSIRT</a:t>
            </a:r>
            <a:endParaRPr sz="1200">
              <a:latin typeface="Calibri"/>
              <a:cs typeface="Calibri"/>
            </a:endParaRPr>
          </a:p>
          <a:p>
            <a:pPr marL="34290">
              <a:lnSpc>
                <a:spcPts val="1430"/>
              </a:lnSpc>
            </a:pPr>
            <a:r>
              <a:rPr sz="1200" b="1" spc="-20" dirty="0">
                <a:solidFill>
                  <a:srgbClr val="5B6474"/>
                </a:solidFill>
                <a:latin typeface="Calibri"/>
                <a:cs typeface="Calibri"/>
              </a:rPr>
              <a:t>Logo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07451" y="479488"/>
            <a:ext cx="878966" cy="87896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853285" y="588654"/>
            <a:ext cx="933450" cy="65721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5831393" y="698627"/>
            <a:ext cx="15875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50" dirty="0">
                <a:solidFill>
                  <a:srgbClr val="F1A800"/>
                </a:solidFill>
                <a:latin typeface="Calibri"/>
                <a:cs typeface="Calibri"/>
              </a:rPr>
              <a:t>×</a:t>
            </a:r>
            <a:endParaRPr sz="21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032860" y="588654"/>
            <a:ext cx="933450" cy="65721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7282576" y="750951"/>
            <a:ext cx="300990" cy="333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">
              <a:lnSpc>
                <a:spcPts val="1135"/>
              </a:lnSpc>
            </a:pPr>
            <a:r>
              <a:rPr sz="1200" b="1" spc="-25" dirty="0">
                <a:solidFill>
                  <a:srgbClr val="5B6474"/>
                </a:solidFill>
                <a:latin typeface="Calibri"/>
                <a:cs typeface="Calibri"/>
              </a:rPr>
              <a:t>DGU</a:t>
            </a:r>
            <a:endParaRPr sz="1200">
              <a:latin typeface="Calibri"/>
              <a:cs typeface="Calibri"/>
            </a:endParaRPr>
          </a:p>
          <a:p>
            <a:pPr>
              <a:lnSpc>
                <a:spcPts val="1430"/>
              </a:lnSpc>
            </a:pPr>
            <a:r>
              <a:rPr sz="1200" b="1" spc="-25" dirty="0">
                <a:solidFill>
                  <a:srgbClr val="5B6474"/>
                </a:solidFill>
                <a:latin typeface="Calibri"/>
                <a:cs typeface="Calibri"/>
              </a:rPr>
              <a:t>Logo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144427" y="602932"/>
            <a:ext cx="713803" cy="713803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1274442" y="2467734"/>
            <a:ext cx="15340965" cy="876300"/>
            <a:chOff x="1274442" y="2467734"/>
            <a:chExt cx="15340965" cy="876300"/>
          </a:xfrm>
        </p:grpSpPr>
        <p:sp>
          <p:nvSpPr>
            <p:cNvPr id="12" name="object 12"/>
            <p:cNvSpPr/>
            <p:nvPr/>
          </p:nvSpPr>
          <p:spPr>
            <a:xfrm>
              <a:off x="1636390" y="2888719"/>
              <a:ext cx="14969490" cy="38735"/>
            </a:xfrm>
            <a:custGeom>
              <a:avLst/>
              <a:gdLst/>
              <a:ahLst/>
              <a:cxnLst/>
              <a:rect l="l" t="t" r="r" b="b"/>
              <a:pathLst>
                <a:path w="14969490" h="38735">
                  <a:moveTo>
                    <a:pt x="0" y="0"/>
                  </a:moveTo>
                  <a:lnTo>
                    <a:pt x="14969488" y="38145"/>
                  </a:lnTo>
                </a:path>
              </a:pathLst>
            </a:custGeom>
            <a:ln w="19049">
              <a:solidFill>
                <a:srgbClr val="F1A8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93494" y="2486786"/>
              <a:ext cx="842010" cy="842010"/>
            </a:xfrm>
            <a:custGeom>
              <a:avLst/>
              <a:gdLst/>
              <a:ahLst/>
              <a:cxnLst/>
              <a:rect l="l" t="t" r="r" b="b"/>
              <a:pathLst>
                <a:path w="842010" h="842010">
                  <a:moveTo>
                    <a:pt x="421004" y="842010"/>
                  </a:moveTo>
                  <a:lnTo>
                    <a:pt x="371908" y="839177"/>
                  </a:lnTo>
                  <a:lnTo>
                    <a:pt x="324475" y="830890"/>
                  </a:lnTo>
                  <a:lnTo>
                    <a:pt x="279021" y="817465"/>
                  </a:lnTo>
                  <a:lnTo>
                    <a:pt x="235861" y="799217"/>
                  </a:lnTo>
                  <a:lnTo>
                    <a:pt x="195313" y="776462"/>
                  </a:lnTo>
                  <a:lnTo>
                    <a:pt x="157691" y="749517"/>
                  </a:lnTo>
                  <a:lnTo>
                    <a:pt x="123313" y="718697"/>
                  </a:lnTo>
                  <a:lnTo>
                    <a:pt x="92493" y="684318"/>
                  </a:lnTo>
                  <a:lnTo>
                    <a:pt x="65547" y="646696"/>
                  </a:lnTo>
                  <a:lnTo>
                    <a:pt x="42793" y="606148"/>
                  </a:lnTo>
                  <a:lnTo>
                    <a:pt x="24545" y="562988"/>
                  </a:lnTo>
                  <a:lnTo>
                    <a:pt x="11119" y="517534"/>
                  </a:lnTo>
                  <a:lnTo>
                    <a:pt x="2832" y="470101"/>
                  </a:lnTo>
                  <a:lnTo>
                    <a:pt x="0" y="421004"/>
                  </a:lnTo>
                  <a:lnTo>
                    <a:pt x="2832" y="371908"/>
                  </a:lnTo>
                  <a:lnTo>
                    <a:pt x="11119" y="324475"/>
                  </a:lnTo>
                  <a:lnTo>
                    <a:pt x="24545" y="279021"/>
                  </a:lnTo>
                  <a:lnTo>
                    <a:pt x="42793" y="235861"/>
                  </a:lnTo>
                  <a:lnTo>
                    <a:pt x="65547" y="195313"/>
                  </a:lnTo>
                  <a:lnTo>
                    <a:pt x="92493" y="157691"/>
                  </a:lnTo>
                  <a:lnTo>
                    <a:pt x="123313" y="123313"/>
                  </a:lnTo>
                  <a:lnTo>
                    <a:pt x="157691" y="92493"/>
                  </a:lnTo>
                  <a:lnTo>
                    <a:pt x="195313" y="65547"/>
                  </a:lnTo>
                  <a:lnTo>
                    <a:pt x="235861" y="42793"/>
                  </a:lnTo>
                  <a:lnTo>
                    <a:pt x="279021" y="24545"/>
                  </a:lnTo>
                  <a:lnTo>
                    <a:pt x="324475" y="11119"/>
                  </a:lnTo>
                  <a:lnTo>
                    <a:pt x="371908" y="2832"/>
                  </a:lnTo>
                  <a:lnTo>
                    <a:pt x="421004" y="0"/>
                  </a:lnTo>
                  <a:lnTo>
                    <a:pt x="470101" y="2832"/>
                  </a:lnTo>
                  <a:lnTo>
                    <a:pt x="517534" y="11119"/>
                  </a:lnTo>
                  <a:lnTo>
                    <a:pt x="562988" y="24545"/>
                  </a:lnTo>
                  <a:lnTo>
                    <a:pt x="606148" y="42793"/>
                  </a:lnTo>
                  <a:lnTo>
                    <a:pt x="646696" y="65547"/>
                  </a:lnTo>
                  <a:lnTo>
                    <a:pt x="684318" y="92493"/>
                  </a:lnTo>
                  <a:lnTo>
                    <a:pt x="718696" y="123313"/>
                  </a:lnTo>
                  <a:lnTo>
                    <a:pt x="749516" y="157691"/>
                  </a:lnTo>
                  <a:lnTo>
                    <a:pt x="776462" y="195313"/>
                  </a:lnTo>
                  <a:lnTo>
                    <a:pt x="799216" y="235861"/>
                  </a:lnTo>
                  <a:lnTo>
                    <a:pt x="817464" y="279021"/>
                  </a:lnTo>
                  <a:lnTo>
                    <a:pt x="830890" y="324475"/>
                  </a:lnTo>
                  <a:lnTo>
                    <a:pt x="839177" y="371908"/>
                  </a:lnTo>
                  <a:lnTo>
                    <a:pt x="842009" y="421004"/>
                  </a:lnTo>
                  <a:lnTo>
                    <a:pt x="839177" y="470101"/>
                  </a:lnTo>
                  <a:lnTo>
                    <a:pt x="830890" y="517534"/>
                  </a:lnTo>
                  <a:lnTo>
                    <a:pt x="817464" y="562988"/>
                  </a:lnTo>
                  <a:lnTo>
                    <a:pt x="799216" y="606148"/>
                  </a:lnTo>
                  <a:lnTo>
                    <a:pt x="776462" y="646696"/>
                  </a:lnTo>
                  <a:lnTo>
                    <a:pt x="749516" y="684318"/>
                  </a:lnTo>
                  <a:lnTo>
                    <a:pt x="718696" y="718697"/>
                  </a:lnTo>
                  <a:lnTo>
                    <a:pt x="684318" y="749517"/>
                  </a:lnTo>
                  <a:lnTo>
                    <a:pt x="646696" y="776462"/>
                  </a:lnTo>
                  <a:lnTo>
                    <a:pt x="606148" y="799217"/>
                  </a:lnTo>
                  <a:lnTo>
                    <a:pt x="562988" y="817465"/>
                  </a:lnTo>
                  <a:lnTo>
                    <a:pt x="517534" y="830890"/>
                  </a:lnTo>
                  <a:lnTo>
                    <a:pt x="470101" y="839177"/>
                  </a:lnTo>
                  <a:lnTo>
                    <a:pt x="421004" y="842010"/>
                  </a:lnTo>
                  <a:close/>
                </a:path>
              </a:pathLst>
            </a:custGeom>
            <a:solidFill>
              <a:srgbClr val="F1A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93492" y="2486784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838119" y="475684"/>
                  </a:moveTo>
                  <a:lnTo>
                    <a:pt x="830900" y="517510"/>
                  </a:lnTo>
                  <a:lnTo>
                    <a:pt x="817475" y="562971"/>
                  </a:lnTo>
                  <a:lnTo>
                    <a:pt x="799226" y="606138"/>
                  </a:lnTo>
                  <a:lnTo>
                    <a:pt x="776469" y="646692"/>
                  </a:lnTo>
                  <a:lnTo>
                    <a:pt x="749520" y="684320"/>
                  </a:lnTo>
                  <a:lnTo>
                    <a:pt x="718695" y="718703"/>
                  </a:lnTo>
                  <a:lnTo>
                    <a:pt x="684310" y="749527"/>
                  </a:lnTo>
                  <a:lnTo>
                    <a:pt x="646682" y="776474"/>
                  </a:lnTo>
                  <a:lnTo>
                    <a:pt x="606126" y="799229"/>
                  </a:lnTo>
                  <a:lnTo>
                    <a:pt x="562960" y="817476"/>
                  </a:lnTo>
                  <a:lnTo>
                    <a:pt x="517498" y="830899"/>
                  </a:lnTo>
                  <a:lnTo>
                    <a:pt x="475682" y="838107"/>
                  </a:lnTo>
                </a:path>
                <a:path w="838200" h="838200">
                  <a:moveTo>
                    <a:pt x="366328" y="838132"/>
                  </a:moveTo>
                  <a:lnTo>
                    <a:pt x="324479" y="830886"/>
                  </a:lnTo>
                  <a:lnTo>
                    <a:pt x="278967" y="817443"/>
                  </a:lnTo>
                  <a:lnTo>
                    <a:pt x="235808" y="799188"/>
                  </a:lnTo>
                  <a:lnTo>
                    <a:pt x="195263" y="776427"/>
                  </a:lnTo>
                  <a:lnTo>
                    <a:pt x="157645" y="749475"/>
                  </a:lnTo>
                  <a:lnTo>
                    <a:pt x="123271" y="718650"/>
                  </a:lnTo>
                  <a:lnTo>
                    <a:pt x="92457" y="684268"/>
                  </a:lnTo>
                  <a:lnTo>
                    <a:pt x="65519" y="646643"/>
                  </a:lnTo>
                  <a:lnTo>
                    <a:pt x="42771" y="606094"/>
                  </a:lnTo>
                  <a:lnTo>
                    <a:pt x="24531" y="562935"/>
                  </a:lnTo>
                  <a:lnTo>
                    <a:pt x="11112" y="517483"/>
                  </a:lnTo>
                  <a:lnTo>
                    <a:pt x="2832" y="470054"/>
                  </a:lnTo>
                  <a:lnTo>
                    <a:pt x="0" y="420962"/>
                  </a:lnTo>
                  <a:lnTo>
                    <a:pt x="2841" y="371872"/>
                  </a:lnTo>
                  <a:lnTo>
                    <a:pt x="11131" y="324446"/>
                  </a:lnTo>
                  <a:lnTo>
                    <a:pt x="24557" y="278999"/>
                  </a:lnTo>
                  <a:lnTo>
                    <a:pt x="42805" y="235847"/>
                  </a:lnTo>
                  <a:lnTo>
                    <a:pt x="65557" y="195305"/>
                  </a:lnTo>
                  <a:lnTo>
                    <a:pt x="92499" y="157689"/>
                  </a:lnTo>
                  <a:lnTo>
                    <a:pt x="123314" y="123316"/>
                  </a:lnTo>
                  <a:lnTo>
                    <a:pt x="157687" y="92500"/>
                  </a:lnTo>
                  <a:lnTo>
                    <a:pt x="195303" y="65557"/>
                  </a:lnTo>
                  <a:lnTo>
                    <a:pt x="235844" y="42803"/>
                  </a:lnTo>
                  <a:lnTo>
                    <a:pt x="278997" y="24555"/>
                  </a:lnTo>
                  <a:lnTo>
                    <a:pt x="324444" y="11127"/>
                  </a:lnTo>
                  <a:lnTo>
                    <a:pt x="371871" y="2837"/>
                  </a:lnTo>
                  <a:lnTo>
                    <a:pt x="420962" y="0"/>
                  </a:lnTo>
                  <a:lnTo>
                    <a:pt x="470055" y="2826"/>
                  </a:lnTo>
                  <a:lnTo>
                    <a:pt x="517486" y="11107"/>
                  </a:lnTo>
                  <a:lnTo>
                    <a:pt x="562939" y="24525"/>
                  </a:lnTo>
                  <a:lnTo>
                    <a:pt x="606099" y="42767"/>
                  </a:lnTo>
                  <a:lnTo>
                    <a:pt x="646650" y="65515"/>
                  </a:lnTo>
                  <a:lnTo>
                    <a:pt x="684275" y="92455"/>
                  </a:lnTo>
                  <a:lnTo>
                    <a:pt x="718658" y="123270"/>
                  </a:lnTo>
                  <a:lnTo>
                    <a:pt x="749484" y="157645"/>
                  </a:lnTo>
                  <a:lnTo>
                    <a:pt x="776436" y="195264"/>
                  </a:lnTo>
                  <a:lnTo>
                    <a:pt x="799197" y="235812"/>
                  </a:lnTo>
                  <a:lnTo>
                    <a:pt x="817452" y="278972"/>
                  </a:lnTo>
                  <a:lnTo>
                    <a:pt x="830884" y="324429"/>
                  </a:lnTo>
                  <a:lnTo>
                    <a:pt x="838132" y="366328"/>
                  </a:lnTo>
                </a:path>
              </a:pathLst>
            </a:custGeom>
            <a:ln w="38099">
              <a:solidFill>
                <a:srgbClr val="F1A8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638875" y="2712211"/>
            <a:ext cx="15113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b="1" spc="-50" dirty="0">
                <a:solidFill>
                  <a:srgbClr val="0A1F4A"/>
                </a:solidFill>
                <a:latin typeface="Calibri"/>
                <a:cs typeface="Calibri"/>
              </a:rPr>
              <a:t>1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007730" y="2467734"/>
            <a:ext cx="876300" cy="876300"/>
            <a:chOff x="7007730" y="2467734"/>
            <a:chExt cx="876300" cy="876300"/>
          </a:xfrm>
        </p:grpSpPr>
        <p:sp>
          <p:nvSpPr>
            <p:cNvPr id="20" name="object 20"/>
            <p:cNvSpPr/>
            <p:nvPr/>
          </p:nvSpPr>
          <p:spPr>
            <a:xfrm>
              <a:off x="7026783" y="2486786"/>
              <a:ext cx="842010" cy="842010"/>
            </a:xfrm>
            <a:custGeom>
              <a:avLst/>
              <a:gdLst/>
              <a:ahLst/>
              <a:cxnLst/>
              <a:rect l="l" t="t" r="r" b="b"/>
              <a:pathLst>
                <a:path w="842009" h="842010">
                  <a:moveTo>
                    <a:pt x="421004" y="842010"/>
                  </a:moveTo>
                  <a:lnTo>
                    <a:pt x="371908" y="839177"/>
                  </a:lnTo>
                  <a:lnTo>
                    <a:pt x="324475" y="830890"/>
                  </a:lnTo>
                  <a:lnTo>
                    <a:pt x="279021" y="817465"/>
                  </a:lnTo>
                  <a:lnTo>
                    <a:pt x="235861" y="799217"/>
                  </a:lnTo>
                  <a:lnTo>
                    <a:pt x="195313" y="776462"/>
                  </a:lnTo>
                  <a:lnTo>
                    <a:pt x="157691" y="749517"/>
                  </a:lnTo>
                  <a:lnTo>
                    <a:pt x="123313" y="718697"/>
                  </a:lnTo>
                  <a:lnTo>
                    <a:pt x="92493" y="684318"/>
                  </a:lnTo>
                  <a:lnTo>
                    <a:pt x="65547" y="646696"/>
                  </a:lnTo>
                  <a:lnTo>
                    <a:pt x="42793" y="606148"/>
                  </a:lnTo>
                  <a:lnTo>
                    <a:pt x="24545" y="562988"/>
                  </a:lnTo>
                  <a:lnTo>
                    <a:pt x="11119" y="517534"/>
                  </a:lnTo>
                  <a:lnTo>
                    <a:pt x="2832" y="470101"/>
                  </a:lnTo>
                  <a:lnTo>
                    <a:pt x="0" y="421004"/>
                  </a:lnTo>
                  <a:lnTo>
                    <a:pt x="2832" y="371908"/>
                  </a:lnTo>
                  <a:lnTo>
                    <a:pt x="11119" y="324475"/>
                  </a:lnTo>
                  <a:lnTo>
                    <a:pt x="24545" y="279021"/>
                  </a:lnTo>
                  <a:lnTo>
                    <a:pt x="42793" y="235861"/>
                  </a:lnTo>
                  <a:lnTo>
                    <a:pt x="65547" y="195313"/>
                  </a:lnTo>
                  <a:lnTo>
                    <a:pt x="92493" y="157691"/>
                  </a:lnTo>
                  <a:lnTo>
                    <a:pt x="123313" y="123313"/>
                  </a:lnTo>
                  <a:lnTo>
                    <a:pt x="157691" y="92493"/>
                  </a:lnTo>
                  <a:lnTo>
                    <a:pt x="195313" y="65547"/>
                  </a:lnTo>
                  <a:lnTo>
                    <a:pt x="235861" y="42793"/>
                  </a:lnTo>
                  <a:lnTo>
                    <a:pt x="279021" y="24545"/>
                  </a:lnTo>
                  <a:lnTo>
                    <a:pt x="324475" y="11119"/>
                  </a:lnTo>
                  <a:lnTo>
                    <a:pt x="371908" y="2832"/>
                  </a:lnTo>
                  <a:lnTo>
                    <a:pt x="421004" y="0"/>
                  </a:lnTo>
                  <a:lnTo>
                    <a:pt x="470101" y="2832"/>
                  </a:lnTo>
                  <a:lnTo>
                    <a:pt x="517534" y="11119"/>
                  </a:lnTo>
                  <a:lnTo>
                    <a:pt x="562988" y="24545"/>
                  </a:lnTo>
                  <a:lnTo>
                    <a:pt x="606148" y="42793"/>
                  </a:lnTo>
                  <a:lnTo>
                    <a:pt x="646696" y="65547"/>
                  </a:lnTo>
                  <a:lnTo>
                    <a:pt x="684318" y="92493"/>
                  </a:lnTo>
                  <a:lnTo>
                    <a:pt x="718697" y="123313"/>
                  </a:lnTo>
                  <a:lnTo>
                    <a:pt x="749517" y="157691"/>
                  </a:lnTo>
                  <a:lnTo>
                    <a:pt x="776462" y="195313"/>
                  </a:lnTo>
                  <a:lnTo>
                    <a:pt x="799216" y="235861"/>
                  </a:lnTo>
                  <a:lnTo>
                    <a:pt x="817464" y="279021"/>
                  </a:lnTo>
                  <a:lnTo>
                    <a:pt x="830890" y="324475"/>
                  </a:lnTo>
                  <a:lnTo>
                    <a:pt x="839177" y="371908"/>
                  </a:lnTo>
                  <a:lnTo>
                    <a:pt x="842009" y="421004"/>
                  </a:lnTo>
                  <a:lnTo>
                    <a:pt x="839177" y="470101"/>
                  </a:lnTo>
                  <a:lnTo>
                    <a:pt x="830890" y="517534"/>
                  </a:lnTo>
                  <a:lnTo>
                    <a:pt x="817464" y="562988"/>
                  </a:lnTo>
                  <a:lnTo>
                    <a:pt x="799216" y="606148"/>
                  </a:lnTo>
                  <a:lnTo>
                    <a:pt x="776462" y="646696"/>
                  </a:lnTo>
                  <a:lnTo>
                    <a:pt x="749517" y="684318"/>
                  </a:lnTo>
                  <a:lnTo>
                    <a:pt x="718697" y="718697"/>
                  </a:lnTo>
                  <a:lnTo>
                    <a:pt x="684318" y="749517"/>
                  </a:lnTo>
                  <a:lnTo>
                    <a:pt x="646696" y="776462"/>
                  </a:lnTo>
                  <a:lnTo>
                    <a:pt x="606148" y="799217"/>
                  </a:lnTo>
                  <a:lnTo>
                    <a:pt x="562988" y="817465"/>
                  </a:lnTo>
                  <a:lnTo>
                    <a:pt x="517534" y="830890"/>
                  </a:lnTo>
                  <a:lnTo>
                    <a:pt x="470101" y="839177"/>
                  </a:lnTo>
                  <a:lnTo>
                    <a:pt x="421004" y="842010"/>
                  </a:lnTo>
                  <a:close/>
                </a:path>
              </a:pathLst>
            </a:custGeom>
            <a:solidFill>
              <a:srgbClr val="F1A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26780" y="2486784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838119" y="475684"/>
                  </a:moveTo>
                  <a:lnTo>
                    <a:pt x="830900" y="517510"/>
                  </a:lnTo>
                  <a:lnTo>
                    <a:pt x="817475" y="562971"/>
                  </a:lnTo>
                  <a:lnTo>
                    <a:pt x="799226" y="606138"/>
                  </a:lnTo>
                  <a:lnTo>
                    <a:pt x="776469" y="646692"/>
                  </a:lnTo>
                  <a:lnTo>
                    <a:pt x="749520" y="684320"/>
                  </a:lnTo>
                  <a:lnTo>
                    <a:pt x="718695" y="718703"/>
                  </a:lnTo>
                  <a:lnTo>
                    <a:pt x="684310" y="749527"/>
                  </a:lnTo>
                  <a:lnTo>
                    <a:pt x="646682" y="776474"/>
                  </a:lnTo>
                  <a:lnTo>
                    <a:pt x="606126" y="799229"/>
                  </a:lnTo>
                  <a:lnTo>
                    <a:pt x="562959" y="817476"/>
                  </a:lnTo>
                  <a:lnTo>
                    <a:pt x="517498" y="830899"/>
                  </a:lnTo>
                  <a:lnTo>
                    <a:pt x="475682" y="838107"/>
                  </a:lnTo>
                </a:path>
                <a:path w="838200" h="838200">
                  <a:moveTo>
                    <a:pt x="366328" y="838132"/>
                  </a:moveTo>
                  <a:lnTo>
                    <a:pt x="324479" y="830886"/>
                  </a:lnTo>
                  <a:lnTo>
                    <a:pt x="278967" y="817443"/>
                  </a:lnTo>
                  <a:lnTo>
                    <a:pt x="235808" y="799188"/>
                  </a:lnTo>
                  <a:lnTo>
                    <a:pt x="195262" y="776427"/>
                  </a:lnTo>
                  <a:lnTo>
                    <a:pt x="157645" y="749475"/>
                  </a:lnTo>
                  <a:lnTo>
                    <a:pt x="123271" y="718650"/>
                  </a:lnTo>
                  <a:lnTo>
                    <a:pt x="92457" y="684268"/>
                  </a:lnTo>
                  <a:lnTo>
                    <a:pt x="65519" y="646643"/>
                  </a:lnTo>
                  <a:lnTo>
                    <a:pt x="42771" y="606094"/>
                  </a:lnTo>
                  <a:lnTo>
                    <a:pt x="24531" y="562935"/>
                  </a:lnTo>
                  <a:lnTo>
                    <a:pt x="11112" y="517483"/>
                  </a:lnTo>
                  <a:lnTo>
                    <a:pt x="2832" y="470054"/>
                  </a:lnTo>
                  <a:lnTo>
                    <a:pt x="0" y="420962"/>
                  </a:lnTo>
                  <a:lnTo>
                    <a:pt x="2841" y="371872"/>
                  </a:lnTo>
                  <a:lnTo>
                    <a:pt x="11131" y="324446"/>
                  </a:lnTo>
                  <a:lnTo>
                    <a:pt x="24557" y="278999"/>
                  </a:lnTo>
                  <a:lnTo>
                    <a:pt x="42805" y="235847"/>
                  </a:lnTo>
                  <a:lnTo>
                    <a:pt x="65557" y="195305"/>
                  </a:lnTo>
                  <a:lnTo>
                    <a:pt x="92499" y="157690"/>
                  </a:lnTo>
                  <a:lnTo>
                    <a:pt x="123314" y="123316"/>
                  </a:lnTo>
                  <a:lnTo>
                    <a:pt x="157687" y="92500"/>
                  </a:lnTo>
                  <a:lnTo>
                    <a:pt x="195302" y="65557"/>
                  </a:lnTo>
                  <a:lnTo>
                    <a:pt x="235844" y="42804"/>
                  </a:lnTo>
                  <a:lnTo>
                    <a:pt x="278996" y="24555"/>
                  </a:lnTo>
                  <a:lnTo>
                    <a:pt x="324444" y="11127"/>
                  </a:lnTo>
                  <a:lnTo>
                    <a:pt x="371871" y="2837"/>
                  </a:lnTo>
                  <a:lnTo>
                    <a:pt x="420962" y="0"/>
                  </a:lnTo>
                  <a:lnTo>
                    <a:pt x="470055" y="2826"/>
                  </a:lnTo>
                  <a:lnTo>
                    <a:pt x="517486" y="11107"/>
                  </a:lnTo>
                  <a:lnTo>
                    <a:pt x="562939" y="24525"/>
                  </a:lnTo>
                  <a:lnTo>
                    <a:pt x="606099" y="42767"/>
                  </a:lnTo>
                  <a:lnTo>
                    <a:pt x="646650" y="65515"/>
                  </a:lnTo>
                  <a:lnTo>
                    <a:pt x="684275" y="92455"/>
                  </a:lnTo>
                  <a:lnTo>
                    <a:pt x="718658" y="123270"/>
                  </a:lnTo>
                  <a:lnTo>
                    <a:pt x="749484" y="157645"/>
                  </a:lnTo>
                  <a:lnTo>
                    <a:pt x="776436" y="195264"/>
                  </a:lnTo>
                  <a:lnTo>
                    <a:pt x="799197" y="235812"/>
                  </a:lnTo>
                  <a:lnTo>
                    <a:pt x="817452" y="278972"/>
                  </a:lnTo>
                  <a:lnTo>
                    <a:pt x="830884" y="324429"/>
                  </a:lnTo>
                  <a:lnTo>
                    <a:pt x="838131" y="366328"/>
                  </a:lnTo>
                </a:path>
              </a:pathLst>
            </a:custGeom>
            <a:ln w="38099">
              <a:solidFill>
                <a:srgbClr val="F1A8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372163" y="2712211"/>
            <a:ext cx="15113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b="1" spc="-50" dirty="0">
                <a:solidFill>
                  <a:srgbClr val="0A1F4A"/>
                </a:solidFill>
                <a:latin typeface="Calibri"/>
                <a:cs typeface="Calibri"/>
              </a:rPr>
              <a:t>2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2741017" y="2467734"/>
            <a:ext cx="876300" cy="876300"/>
            <a:chOff x="12741017" y="2467734"/>
            <a:chExt cx="876300" cy="876300"/>
          </a:xfrm>
        </p:grpSpPr>
        <p:sp>
          <p:nvSpPr>
            <p:cNvPr id="27" name="object 27"/>
            <p:cNvSpPr/>
            <p:nvPr/>
          </p:nvSpPr>
          <p:spPr>
            <a:xfrm>
              <a:off x="12760070" y="2486786"/>
              <a:ext cx="842010" cy="842010"/>
            </a:xfrm>
            <a:custGeom>
              <a:avLst/>
              <a:gdLst/>
              <a:ahLst/>
              <a:cxnLst/>
              <a:rect l="l" t="t" r="r" b="b"/>
              <a:pathLst>
                <a:path w="842009" h="842010">
                  <a:moveTo>
                    <a:pt x="421004" y="842010"/>
                  </a:moveTo>
                  <a:lnTo>
                    <a:pt x="371908" y="839177"/>
                  </a:lnTo>
                  <a:lnTo>
                    <a:pt x="324475" y="830890"/>
                  </a:lnTo>
                  <a:lnTo>
                    <a:pt x="279021" y="817465"/>
                  </a:lnTo>
                  <a:lnTo>
                    <a:pt x="235861" y="799217"/>
                  </a:lnTo>
                  <a:lnTo>
                    <a:pt x="195313" y="776462"/>
                  </a:lnTo>
                  <a:lnTo>
                    <a:pt x="157691" y="749517"/>
                  </a:lnTo>
                  <a:lnTo>
                    <a:pt x="123313" y="718697"/>
                  </a:lnTo>
                  <a:lnTo>
                    <a:pt x="92493" y="684318"/>
                  </a:lnTo>
                  <a:lnTo>
                    <a:pt x="65547" y="646696"/>
                  </a:lnTo>
                  <a:lnTo>
                    <a:pt x="42793" y="606148"/>
                  </a:lnTo>
                  <a:lnTo>
                    <a:pt x="24545" y="562988"/>
                  </a:lnTo>
                  <a:lnTo>
                    <a:pt x="11119" y="517534"/>
                  </a:lnTo>
                  <a:lnTo>
                    <a:pt x="2832" y="470101"/>
                  </a:lnTo>
                  <a:lnTo>
                    <a:pt x="0" y="421004"/>
                  </a:lnTo>
                  <a:lnTo>
                    <a:pt x="2832" y="371908"/>
                  </a:lnTo>
                  <a:lnTo>
                    <a:pt x="11119" y="324475"/>
                  </a:lnTo>
                  <a:lnTo>
                    <a:pt x="24545" y="279021"/>
                  </a:lnTo>
                  <a:lnTo>
                    <a:pt x="42793" y="235861"/>
                  </a:lnTo>
                  <a:lnTo>
                    <a:pt x="65547" y="195313"/>
                  </a:lnTo>
                  <a:lnTo>
                    <a:pt x="92493" y="157691"/>
                  </a:lnTo>
                  <a:lnTo>
                    <a:pt x="123313" y="123313"/>
                  </a:lnTo>
                  <a:lnTo>
                    <a:pt x="157691" y="92493"/>
                  </a:lnTo>
                  <a:lnTo>
                    <a:pt x="195313" y="65547"/>
                  </a:lnTo>
                  <a:lnTo>
                    <a:pt x="235861" y="42793"/>
                  </a:lnTo>
                  <a:lnTo>
                    <a:pt x="279021" y="24545"/>
                  </a:lnTo>
                  <a:lnTo>
                    <a:pt x="324475" y="11119"/>
                  </a:lnTo>
                  <a:lnTo>
                    <a:pt x="371908" y="2832"/>
                  </a:lnTo>
                  <a:lnTo>
                    <a:pt x="421004" y="0"/>
                  </a:lnTo>
                  <a:lnTo>
                    <a:pt x="470101" y="2832"/>
                  </a:lnTo>
                  <a:lnTo>
                    <a:pt x="517534" y="11119"/>
                  </a:lnTo>
                  <a:lnTo>
                    <a:pt x="562988" y="24545"/>
                  </a:lnTo>
                  <a:lnTo>
                    <a:pt x="606148" y="42793"/>
                  </a:lnTo>
                  <a:lnTo>
                    <a:pt x="646696" y="65547"/>
                  </a:lnTo>
                  <a:lnTo>
                    <a:pt x="684318" y="92493"/>
                  </a:lnTo>
                  <a:lnTo>
                    <a:pt x="718697" y="123313"/>
                  </a:lnTo>
                  <a:lnTo>
                    <a:pt x="749517" y="157691"/>
                  </a:lnTo>
                  <a:lnTo>
                    <a:pt x="776462" y="195313"/>
                  </a:lnTo>
                  <a:lnTo>
                    <a:pt x="799216" y="235861"/>
                  </a:lnTo>
                  <a:lnTo>
                    <a:pt x="817464" y="279021"/>
                  </a:lnTo>
                  <a:lnTo>
                    <a:pt x="830890" y="324475"/>
                  </a:lnTo>
                  <a:lnTo>
                    <a:pt x="839177" y="371908"/>
                  </a:lnTo>
                  <a:lnTo>
                    <a:pt x="842009" y="421004"/>
                  </a:lnTo>
                  <a:lnTo>
                    <a:pt x="839177" y="470101"/>
                  </a:lnTo>
                  <a:lnTo>
                    <a:pt x="830890" y="517534"/>
                  </a:lnTo>
                  <a:lnTo>
                    <a:pt x="817464" y="562988"/>
                  </a:lnTo>
                  <a:lnTo>
                    <a:pt x="799216" y="606148"/>
                  </a:lnTo>
                  <a:lnTo>
                    <a:pt x="776462" y="646696"/>
                  </a:lnTo>
                  <a:lnTo>
                    <a:pt x="749517" y="684318"/>
                  </a:lnTo>
                  <a:lnTo>
                    <a:pt x="718697" y="718697"/>
                  </a:lnTo>
                  <a:lnTo>
                    <a:pt x="684318" y="749517"/>
                  </a:lnTo>
                  <a:lnTo>
                    <a:pt x="646696" y="776462"/>
                  </a:lnTo>
                  <a:lnTo>
                    <a:pt x="606148" y="799217"/>
                  </a:lnTo>
                  <a:lnTo>
                    <a:pt x="562988" y="817465"/>
                  </a:lnTo>
                  <a:lnTo>
                    <a:pt x="517534" y="830890"/>
                  </a:lnTo>
                  <a:lnTo>
                    <a:pt x="470101" y="839177"/>
                  </a:lnTo>
                  <a:lnTo>
                    <a:pt x="421004" y="842010"/>
                  </a:lnTo>
                  <a:close/>
                </a:path>
              </a:pathLst>
            </a:custGeom>
            <a:solidFill>
              <a:srgbClr val="F1A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2760067" y="2486784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838118" y="475684"/>
                  </a:moveTo>
                  <a:lnTo>
                    <a:pt x="830900" y="517510"/>
                  </a:lnTo>
                  <a:lnTo>
                    <a:pt x="817475" y="562971"/>
                  </a:lnTo>
                  <a:lnTo>
                    <a:pt x="799226" y="606138"/>
                  </a:lnTo>
                  <a:lnTo>
                    <a:pt x="776469" y="646692"/>
                  </a:lnTo>
                  <a:lnTo>
                    <a:pt x="749520" y="684320"/>
                  </a:lnTo>
                  <a:lnTo>
                    <a:pt x="718695" y="718703"/>
                  </a:lnTo>
                  <a:lnTo>
                    <a:pt x="684310" y="749527"/>
                  </a:lnTo>
                  <a:lnTo>
                    <a:pt x="646682" y="776474"/>
                  </a:lnTo>
                  <a:lnTo>
                    <a:pt x="606126" y="799229"/>
                  </a:lnTo>
                  <a:lnTo>
                    <a:pt x="562959" y="817477"/>
                  </a:lnTo>
                  <a:lnTo>
                    <a:pt x="517498" y="830899"/>
                  </a:lnTo>
                  <a:lnTo>
                    <a:pt x="475682" y="838107"/>
                  </a:lnTo>
                </a:path>
                <a:path w="838200" h="838200">
                  <a:moveTo>
                    <a:pt x="366328" y="838132"/>
                  </a:moveTo>
                  <a:lnTo>
                    <a:pt x="324479" y="830886"/>
                  </a:lnTo>
                  <a:lnTo>
                    <a:pt x="278967" y="817443"/>
                  </a:lnTo>
                  <a:lnTo>
                    <a:pt x="235808" y="799188"/>
                  </a:lnTo>
                  <a:lnTo>
                    <a:pt x="195262" y="776427"/>
                  </a:lnTo>
                  <a:lnTo>
                    <a:pt x="157645" y="749475"/>
                  </a:lnTo>
                  <a:lnTo>
                    <a:pt x="123271" y="718650"/>
                  </a:lnTo>
                  <a:lnTo>
                    <a:pt x="92457" y="684267"/>
                  </a:lnTo>
                  <a:lnTo>
                    <a:pt x="65519" y="646643"/>
                  </a:lnTo>
                  <a:lnTo>
                    <a:pt x="42771" y="606094"/>
                  </a:lnTo>
                  <a:lnTo>
                    <a:pt x="24531" y="562935"/>
                  </a:lnTo>
                  <a:lnTo>
                    <a:pt x="11112" y="517483"/>
                  </a:lnTo>
                  <a:lnTo>
                    <a:pt x="2832" y="470054"/>
                  </a:lnTo>
                  <a:lnTo>
                    <a:pt x="0" y="420962"/>
                  </a:lnTo>
                  <a:lnTo>
                    <a:pt x="2841" y="371872"/>
                  </a:lnTo>
                  <a:lnTo>
                    <a:pt x="11131" y="324446"/>
                  </a:lnTo>
                  <a:lnTo>
                    <a:pt x="24557" y="278999"/>
                  </a:lnTo>
                  <a:lnTo>
                    <a:pt x="42805" y="235847"/>
                  </a:lnTo>
                  <a:lnTo>
                    <a:pt x="65557" y="195305"/>
                  </a:lnTo>
                  <a:lnTo>
                    <a:pt x="92499" y="157690"/>
                  </a:lnTo>
                  <a:lnTo>
                    <a:pt x="123314" y="123316"/>
                  </a:lnTo>
                  <a:lnTo>
                    <a:pt x="157687" y="92500"/>
                  </a:lnTo>
                  <a:lnTo>
                    <a:pt x="195302" y="65557"/>
                  </a:lnTo>
                  <a:lnTo>
                    <a:pt x="235844" y="42804"/>
                  </a:lnTo>
                  <a:lnTo>
                    <a:pt x="278996" y="24555"/>
                  </a:lnTo>
                  <a:lnTo>
                    <a:pt x="324444" y="11127"/>
                  </a:lnTo>
                  <a:lnTo>
                    <a:pt x="371871" y="2837"/>
                  </a:lnTo>
                  <a:lnTo>
                    <a:pt x="420962" y="0"/>
                  </a:lnTo>
                  <a:lnTo>
                    <a:pt x="470055" y="2826"/>
                  </a:lnTo>
                  <a:lnTo>
                    <a:pt x="517486" y="11107"/>
                  </a:lnTo>
                  <a:lnTo>
                    <a:pt x="562939" y="24525"/>
                  </a:lnTo>
                  <a:lnTo>
                    <a:pt x="606099" y="42766"/>
                  </a:lnTo>
                  <a:lnTo>
                    <a:pt x="646650" y="65515"/>
                  </a:lnTo>
                  <a:lnTo>
                    <a:pt x="684275" y="92454"/>
                  </a:lnTo>
                  <a:lnTo>
                    <a:pt x="718658" y="123270"/>
                  </a:lnTo>
                  <a:lnTo>
                    <a:pt x="749484" y="157645"/>
                  </a:lnTo>
                  <a:lnTo>
                    <a:pt x="776436" y="195264"/>
                  </a:lnTo>
                  <a:lnTo>
                    <a:pt x="799197" y="235812"/>
                  </a:lnTo>
                  <a:lnTo>
                    <a:pt x="817452" y="278972"/>
                  </a:lnTo>
                  <a:lnTo>
                    <a:pt x="830884" y="324429"/>
                  </a:lnTo>
                  <a:lnTo>
                    <a:pt x="838131" y="366328"/>
                  </a:lnTo>
                </a:path>
              </a:pathLst>
            </a:custGeom>
            <a:ln w="38099">
              <a:solidFill>
                <a:srgbClr val="F1A8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3105451" y="2712211"/>
            <a:ext cx="15113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b="1" spc="-50" dirty="0">
                <a:solidFill>
                  <a:srgbClr val="0A1F4A"/>
                </a:solidFill>
                <a:latin typeface="Calibri"/>
                <a:cs typeface="Calibri"/>
              </a:rPr>
              <a:t>3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32948" y="3613308"/>
            <a:ext cx="5391150" cy="1894839"/>
            <a:chOff x="732948" y="3613308"/>
            <a:chExt cx="5391150" cy="1894839"/>
          </a:xfrm>
        </p:grpSpPr>
        <p:sp>
          <p:nvSpPr>
            <p:cNvPr id="17" name="object 17"/>
            <p:cNvSpPr/>
            <p:nvPr/>
          </p:nvSpPr>
          <p:spPr>
            <a:xfrm>
              <a:off x="747236" y="3627596"/>
              <a:ext cx="5363845" cy="1866264"/>
            </a:xfrm>
            <a:custGeom>
              <a:avLst/>
              <a:gdLst/>
              <a:ahLst/>
              <a:cxnLst/>
              <a:rect l="l" t="t" r="r" b="b"/>
              <a:pathLst>
                <a:path w="5363845" h="1866264">
                  <a:moveTo>
                    <a:pt x="5252942" y="1865947"/>
                  </a:moveTo>
                  <a:lnTo>
                    <a:pt x="110585" y="1865947"/>
                  </a:lnTo>
                  <a:lnTo>
                    <a:pt x="67548" y="1857254"/>
                  </a:lnTo>
                  <a:lnTo>
                    <a:pt x="32396" y="1833550"/>
                  </a:lnTo>
                  <a:lnTo>
                    <a:pt x="8693" y="1798398"/>
                  </a:lnTo>
                  <a:lnTo>
                    <a:pt x="0" y="1755362"/>
                  </a:lnTo>
                  <a:lnTo>
                    <a:pt x="0" y="110585"/>
                  </a:lnTo>
                  <a:lnTo>
                    <a:pt x="8693" y="67548"/>
                  </a:lnTo>
                  <a:lnTo>
                    <a:pt x="32396" y="32396"/>
                  </a:lnTo>
                  <a:lnTo>
                    <a:pt x="67548" y="8693"/>
                  </a:lnTo>
                  <a:lnTo>
                    <a:pt x="110585" y="0"/>
                  </a:lnTo>
                  <a:lnTo>
                    <a:pt x="5252942" y="0"/>
                  </a:lnTo>
                  <a:lnTo>
                    <a:pt x="5295978" y="8693"/>
                  </a:lnTo>
                  <a:lnTo>
                    <a:pt x="5331130" y="32396"/>
                  </a:lnTo>
                  <a:lnTo>
                    <a:pt x="5354834" y="67548"/>
                  </a:lnTo>
                  <a:lnTo>
                    <a:pt x="5363527" y="110585"/>
                  </a:lnTo>
                  <a:lnTo>
                    <a:pt x="5363527" y="1755362"/>
                  </a:lnTo>
                  <a:lnTo>
                    <a:pt x="5354834" y="1798398"/>
                  </a:lnTo>
                  <a:lnTo>
                    <a:pt x="5331130" y="1833550"/>
                  </a:lnTo>
                  <a:lnTo>
                    <a:pt x="5295978" y="1857254"/>
                  </a:lnTo>
                  <a:lnTo>
                    <a:pt x="5252942" y="1865947"/>
                  </a:lnTo>
                  <a:close/>
                </a:path>
              </a:pathLst>
            </a:custGeom>
            <a:solidFill>
              <a:srgbClr val="1732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47236" y="3627596"/>
              <a:ext cx="5362575" cy="1866264"/>
            </a:xfrm>
            <a:custGeom>
              <a:avLst/>
              <a:gdLst/>
              <a:ahLst/>
              <a:cxnLst/>
              <a:rect l="l" t="t" r="r" b="b"/>
              <a:pathLst>
                <a:path w="5362575" h="1866264">
                  <a:moveTo>
                    <a:pt x="5362574" y="1759211"/>
                  </a:moveTo>
                  <a:lnTo>
                    <a:pt x="5354676" y="1798312"/>
                  </a:lnTo>
                  <a:lnTo>
                    <a:pt x="5330973" y="1833462"/>
                  </a:lnTo>
                  <a:lnTo>
                    <a:pt x="5295823" y="1857165"/>
                  </a:lnTo>
                  <a:lnTo>
                    <a:pt x="5252789" y="1865858"/>
                  </a:lnTo>
                  <a:lnTo>
                    <a:pt x="110678" y="1865858"/>
                  </a:lnTo>
                  <a:lnTo>
                    <a:pt x="67643" y="1857165"/>
                  </a:lnTo>
                  <a:lnTo>
                    <a:pt x="32493" y="1833462"/>
                  </a:lnTo>
                  <a:lnTo>
                    <a:pt x="8791" y="1798312"/>
                  </a:lnTo>
                  <a:lnTo>
                    <a:pt x="0" y="1755278"/>
                  </a:lnTo>
                  <a:lnTo>
                    <a:pt x="3" y="110560"/>
                  </a:lnTo>
                  <a:lnTo>
                    <a:pt x="8791" y="67545"/>
                  </a:lnTo>
                  <a:lnTo>
                    <a:pt x="32494" y="32395"/>
                  </a:lnTo>
                  <a:lnTo>
                    <a:pt x="67643" y="8692"/>
                  </a:lnTo>
                  <a:lnTo>
                    <a:pt x="110678" y="0"/>
                  </a:lnTo>
                  <a:lnTo>
                    <a:pt x="5252789" y="0"/>
                  </a:lnTo>
                  <a:lnTo>
                    <a:pt x="5295823" y="8692"/>
                  </a:lnTo>
                  <a:lnTo>
                    <a:pt x="5330973" y="32395"/>
                  </a:lnTo>
                  <a:lnTo>
                    <a:pt x="5354676" y="67545"/>
                  </a:lnTo>
                  <a:lnTo>
                    <a:pt x="5362574" y="106646"/>
                  </a:lnTo>
                </a:path>
              </a:pathLst>
            </a:custGeom>
            <a:ln w="28574">
              <a:solidFill>
                <a:srgbClr val="2E4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084579" y="3670837"/>
            <a:ext cx="3721735" cy="990600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2400" b="1" dirty="0">
                <a:solidFill>
                  <a:srgbClr val="F1A800"/>
                </a:solidFill>
                <a:latin typeface="Calibri"/>
                <a:cs typeface="Calibri"/>
              </a:rPr>
              <a:t>Architecture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950" i="1" dirty="0">
                <a:solidFill>
                  <a:srgbClr val="FFFFFF"/>
                </a:solidFill>
                <a:latin typeface="Calibri"/>
                <a:cs typeface="Calibri"/>
              </a:rPr>
              <a:t>Call → Questions → Duplicate Check → Priority → Allocation → Routing → Approval → Dashboard</a:t>
            </a:r>
            <a:endParaRPr sz="1950" dirty="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466236" y="3613308"/>
            <a:ext cx="5391150" cy="1894839"/>
            <a:chOff x="6466236" y="3613308"/>
            <a:chExt cx="5391150" cy="1894839"/>
          </a:xfrm>
        </p:grpSpPr>
        <p:sp>
          <p:nvSpPr>
            <p:cNvPr id="24" name="object 24"/>
            <p:cNvSpPr/>
            <p:nvPr/>
          </p:nvSpPr>
          <p:spPr>
            <a:xfrm>
              <a:off x="6480524" y="3627596"/>
              <a:ext cx="5363845" cy="1866264"/>
            </a:xfrm>
            <a:custGeom>
              <a:avLst/>
              <a:gdLst/>
              <a:ahLst/>
              <a:cxnLst/>
              <a:rect l="l" t="t" r="r" b="b"/>
              <a:pathLst>
                <a:path w="5363845" h="1866264">
                  <a:moveTo>
                    <a:pt x="5252942" y="1865947"/>
                  </a:moveTo>
                  <a:lnTo>
                    <a:pt x="110585" y="1865947"/>
                  </a:lnTo>
                  <a:lnTo>
                    <a:pt x="67548" y="1857254"/>
                  </a:lnTo>
                  <a:lnTo>
                    <a:pt x="32396" y="1833550"/>
                  </a:lnTo>
                  <a:lnTo>
                    <a:pt x="8693" y="1798398"/>
                  </a:lnTo>
                  <a:lnTo>
                    <a:pt x="0" y="1755362"/>
                  </a:lnTo>
                  <a:lnTo>
                    <a:pt x="0" y="110585"/>
                  </a:lnTo>
                  <a:lnTo>
                    <a:pt x="8693" y="67548"/>
                  </a:lnTo>
                  <a:lnTo>
                    <a:pt x="32396" y="32396"/>
                  </a:lnTo>
                  <a:lnTo>
                    <a:pt x="67548" y="8693"/>
                  </a:lnTo>
                  <a:lnTo>
                    <a:pt x="110585" y="0"/>
                  </a:lnTo>
                  <a:lnTo>
                    <a:pt x="5252942" y="0"/>
                  </a:lnTo>
                  <a:lnTo>
                    <a:pt x="5295978" y="8693"/>
                  </a:lnTo>
                  <a:lnTo>
                    <a:pt x="5331130" y="32396"/>
                  </a:lnTo>
                  <a:lnTo>
                    <a:pt x="5354834" y="67548"/>
                  </a:lnTo>
                  <a:lnTo>
                    <a:pt x="5363527" y="110585"/>
                  </a:lnTo>
                  <a:lnTo>
                    <a:pt x="5363527" y="1755362"/>
                  </a:lnTo>
                  <a:lnTo>
                    <a:pt x="5354834" y="1798398"/>
                  </a:lnTo>
                  <a:lnTo>
                    <a:pt x="5331130" y="1833550"/>
                  </a:lnTo>
                  <a:lnTo>
                    <a:pt x="5295978" y="1857254"/>
                  </a:lnTo>
                  <a:lnTo>
                    <a:pt x="5252942" y="1865947"/>
                  </a:lnTo>
                  <a:close/>
                </a:path>
              </a:pathLst>
            </a:custGeom>
            <a:solidFill>
              <a:srgbClr val="1732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480524" y="3627596"/>
              <a:ext cx="5362575" cy="1866264"/>
            </a:xfrm>
            <a:custGeom>
              <a:avLst/>
              <a:gdLst/>
              <a:ahLst/>
              <a:cxnLst/>
              <a:rect l="l" t="t" r="r" b="b"/>
              <a:pathLst>
                <a:path w="5362575" h="1866264">
                  <a:moveTo>
                    <a:pt x="5362574" y="1759211"/>
                  </a:moveTo>
                  <a:lnTo>
                    <a:pt x="5354676" y="1798312"/>
                  </a:lnTo>
                  <a:lnTo>
                    <a:pt x="5330973" y="1833462"/>
                  </a:lnTo>
                  <a:lnTo>
                    <a:pt x="5295823" y="1857165"/>
                  </a:lnTo>
                  <a:lnTo>
                    <a:pt x="5252789" y="1865858"/>
                  </a:lnTo>
                  <a:lnTo>
                    <a:pt x="110678" y="1865858"/>
                  </a:lnTo>
                  <a:lnTo>
                    <a:pt x="67643" y="1857165"/>
                  </a:lnTo>
                  <a:lnTo>
                    <a:pt x="32494" y="1833462"/>
                  </a:lnTo>
                  <a:lnTo>
                    <a:pt x="8791" y="1798312"/>
                  </a:lnTo>
                  <a:lnTo>
                    <a:pt x="0" y="1755278"/>
                  </a:lnTo>
                  <a:lnTo>
                    <a:pt x="3" y="110560"/>
                  </a:lnTo>
                  <a:lnTo>
                    <a:pt x="8791" y="67545"/>
                  </a:lnTo>
                  <a:lnTo>
                    <a:pt x="32494" y="32395"/>
                  </a:lnTo>
                  <a:lnTo>
                    <a:pt x="67643" y="8692"/>
                  </a:lnTo>
                  <a:lnTo>
                    <a:pt x="110678" y="0"/>
                  </a:lnTo>
                  <a:lnTo>
                    <a:pt x="5252789" y="0"/>
                  </a:lnTo>
                  <a:lnTo>
                    <a:pt x="5295823" y="8692"/>
                  </a:lnTo>
                  <a:lnTo>
                    <a:pt x="5330973" y="32395"/>
                  </a:lnTo>
                  <a:lnTo>
                    <a:pt x="5354676" y="67545"/>
                  </a:lnTo>
                  <a:lnTo>
                    <a:pt x="5362574" y="106646"/>
                  </a:lnTo>
                </a:path>
              </a:pathLst>
            </a:custGeom>
            <a:ln w="28574">
              <a:solidFill>
                <a:srgbClr val="2E4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817867" y="3670837"/>
            <a:ext cx="3841115" cy="1591461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2400" b="1" dirty="0">
                <a:solidFill>
                  <a:srgbClr val="F1A800"/>
                </a:solidFill>
                <a:latin typeface="Calibri"/>
                <a:cs typeface="Calibri"/>
              </a:rPr>
              <a:t>Stack &amp; Benefits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950" i="1" dirty="0">
                <a:solidFill>
                  <a:srgbClr val="FFFFFF"/>
                </a:solidFill>
                <a:latin typeface="Calibri"/>
                <a:cs typeface="Calibri"/>
              </a:rPr>
              <a:t>React, </a:t>
            </a:r>
            <a:r>
              <a:rPr sz="1950" i="1" dirty="0" err="1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lang="en-US" sz="1950" i="1" dirty="0" err="1">
                <a:solidFill>
                  <a:srgbClr val="FFFFFF"/>
                </a:solidFill>
                <a:latin typeface="Calibri"/>
                <a:cs typeface="Calibri"/>
              </a:rPr>
              <a:t>astAPI</a:t>
            </a:r>
            <a:r>
              <a:rPr sz="1950" i="1" dirty="0">
                <a:solidFill>
                  <a:srgbClr val="FFFFFF"/>
                </a:solidFill>
                <a:latin typeface="Calibri"/>
                <a:cs typeface="Calibri"/>
              </a:rPr>
              <a:t>, PostgreSQL, OpenStreetMap; focused questions, fewer duplicates</a:t>
            </a:r>
            <a:endParaRPr sz="1950" dirty="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2199525" y="3613308"/>
            <a:ext cx="5391150" cy="1894839"/>
            <a:chOff x="12199525" y="3613308"/>
            <a:chExt cx="5391150" cy="1894839"/>
          </a:xfrm>
        </p:grpSpPr>
        <p:sp>
          <p:nvSpPr>
            <p:cNvPr id="31" name="object 31"/>
            <p:cNvSpPr/>
            <p:nvPr/>
          </p:nvSpPr>
          <p:spPr>
            <a:xfrm>
              <a:off x="12213811" y="3627596"/>
              <a:ext cx="5363845" cy="1866264"/>
            </a:xfrm>
            <a:custGeom>
              <a:avLst/>
              <a:gdLst/>
              <a:ahLst/>
              <a:cxnLst/>
              <a:rect l="l" t="t" r="r" b="b"/>
              <a:pathLst>
                <a:path w="5363844" h="1866264">
                  <a:moveTo>
                    <a:pt x="5252942" y="1865947"/>
                  </a:moveTo>
                  <a:lnTo>
                    <a:pt x="110585" y="1865947"/>
                  </a:lnTo>
                  <a:lnTo>
                    <a:pt x="67548" y="1857254"/>
                  </a:lnTo>
                  <a:lnTo>
                    <a:pt x="32396" y="1833550"/>
                  </a:lnTo>
                  <a:lnTo>
                    <a:pt x="8693" y="1798398"/>
                  </a:lnTo>
                  <a:lnTo>
                    <a:pt x="0" y="1755362"/>
                  </a:lnTo>
                  <a:lnTo>
                    <a:pt x="0" y="110585"/>
                  </a:lnTo>
                  <a:lnTo>
                    <a:pt x="8693" y="67548"/>
                  </a:lnTo>
                  <a:lnTo>
                    <a:pt x="32396" y="32396"/>
                  </a:lnTo>
                  <a:lnTo>
                    <a:pt x="67548" y="8693"/>
                  </a:lnTo>
                  <a:lnTo>
                    <a:pt x="110585" y="0"/>
                  </a:lnTo>
                  <a:lnTo>
                    <a:pt x="5252942" y="0"/>
                  </a:lnTo>
                  <a:lnTo>
                    <a:pt x="5295978" y="8693"/>
                  </a:lnTo>
                  <a:lnTo>
                    <a:pt x="5331130" y="32396"/>
                  </a:lnTo>
                  <a:lnTo>
                    <a:pt x="5354834" y="67548"/>
                  </a:lnTo>
                  <a:lnTo>
                    <a:pt x="5363527" y="110585"/>
                  </a:lnTo>
                  <a:lnTo>
                    <a:pt x="5363527" y="1755362"/>
                  </a:lnTo>
                  <a:lnTo>
                    <a:pt x="5354834" y="1798398"/>
                  </a:lnTo>
                  <a:lnTo>
                    <a:pt x="5331130" y="1833550"/>
                  </a:lnTo>
                  <a:lnTo>
                    <a:pt x="5295978" y="1857254"/>
                  </a:lnTo>
                  <a:lnTo>
                    <a:pt x="5252942" y="1865947"/>
                  </a:lnTo>
                  <a:close/>
                </a:path>
              </a:pathLst>
            </a:custGeom>
            <a:solidFill>
              <a:srgbClr val="1732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2213812" y="3627596"/>
              <a:ext cx="5362575" cy="1866264"/>
            </a:xfrm>
            <a:custGeom>
              <a:avLst/>
              <a:gdLst/>
              <a:ahLst/>
              <a:cxnLst/>
              <a:rect l="l" t="t" r="r" b="b"/>
              <a:pathLst>
                <a:path w="5362575" h="1866264">
                  <a:moveTo>
                    <a:pt x="5362574" y="1759211"/>
                  </a:moveTo>
                  <a:lnTo>
                    <a:pt x="5354676" y="1798312"/>
                  </a:lnTo>
                  <a:lnTo>
                    <a:pt x="5330973" y="1833462"/>
                  </a:lnTo>
                  <a:lnTo>
                    <a:pt x="5295823" y="1857165"/>
                  </a:lnTo>
                  <a:lnTo>
                    <a:pt x="5252788" y="1865858"/>
                  </a:lnTo>
                  <a:lnTo>
                    <a:pt x="110678" y="1865858"/>
                  </a:lnTo>
                  <a:lnTo>
                    <a:pt x="67643" y="1857165"/>
                  </a:lnTo>
                  <a:lnTo>
                    <a:pt x="32494" y="1833462"/>
                  </a:lnTo>
                  <a:lnTo>
                    <a:pt x="8791" y="1798312"/>
                  </a:lnTo>
                  <a:lnTo>
                    <a:pt x="0" y="1755278"/>
                  </a:lnTo>
                  <a:lnTo>
                    <a:pt x="3" y="110560"/>
                  </a:lnTo>
                  <a:lnTo>
                    <a:pt x="8791" y="67545"/>
                  </a:lnTo>
                  <a:lnTo>
                    <a:pt x="32493" y="32395"/>
                  </a:lnTo>
                  <a:lnTo>
                    <a:pt x="67643" y="8692"/>
                  </a:lnTo>
                  <a:lnTo>
                    <a:pt x="110678" y="0"/>
                  </a:lnTo>
                  <a:lnTo>
                    <a:pt x="5252788" y="0"/>
                  </a:lnTo>
                  <a:lnTo>
                    <a:pt x="5295823" y="8692"/>
                  </a:lnTo>
                  <a:lnTo>
                    <a:pt x="5330973" y="32395"/>
                  </a:lnTo>
                  <a:lnTo>
                    <a:pt x="5354676" y="67545"/>
                  </a:lnTo>
                  <a:lnTo>
                    <a:pt x="5362574" y="106646"/>
                  </a:lnTo>
                </a:path>
              </a:pathLst>
            </a:custGeom>
            <a:ln w="28574">
              <a:solidFill>
                <a:srgbClr val="2E4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2551155" y="3670837"/>
            <a:ext cx="3252470" cy="990600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2400" b="1" dirty="0">
                <a:solidFill>
                  <a:srgbClr val="F1A800"/>
                </a:solidFill>
                <a:latin typeface="Calibri"/>
                <a:cs typeface="Calibri"/>
              </a:rPr>
              <a:t>Evaluation Metrics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950" i="1" dirty="0">
                <a:solidFill>
                  <a:srgbClr val="FFFFFF"/>
                </a:solidFill>
                <a:latin typeface="Calibri"/>
                <a:cs typeface="Calibri"/>
              </a:rPr>
              <a:t>Duplicate accuracy, false merges, dispatch time, route accuracy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52001" y="6096444"/>
            <a:ext cx="16779875" cy="14604"/>
          </a:xfrm>
          <a:custGeom>
            <a:avLst/>
            <a:gdLst/>
            <a:ahLst/>
            <a:cxnLst/>
            <a:rect l="l" t="t" r="r" b="b"/>
            <a:pathLst>
              <a:path w="16779875" h="14604">
                <a:moveTo>
                  <a:pt x="0" y="0"/>
                </a:moveTo>
                <a:lnTo>
                  <a:pt x="16779433" y="14349"/>
                </a:lnTo>
              </a:path>
            </a:pathLst>
          </a:custGeom>
          <a:ln w="9524">
            <a:solidFill>
              <a:srgbClr val="2E4A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373186" y="5955664"/>
            <a:ext cx="5537200" cy="2778125"/>
          </a:xfrm>
          <a:prstGeom prst="rect">
            <a:avLst/>
          </a:prstGeom>
        </p:spPr>
        <p:txBody>
          <a:bodyPr vert="horz" wrap="square" lIns="0" tIns="5099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15"/>
              </a:spcBef>
            </a:pPr>
            <a:r>
              <a:rPr sz="7200" b="1" dirty="0">
                <a:solidFill>
                  <a:srgbClr val="FFFFFF"/>
                </a:solidFill>
                <a:latin typeface="Cambria"/>
                <a:cs typeface="Cambria"/>
              </a:rPr>
              <a:t>Thank You</a:t>
            </a:r>
            <a:endParaRPr sz="72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305"/>
              </a:spcBef>
              <a:tabLst>
                <a:tab pos="1958975" algn="l"/>
                <a:tab pos="2248535" algn="l"/>
              </a:tabLst>
            </a:pPr>
            <a:r>
              <a:rPr sz="2400" dirty="0">
                <a:solidFill>
                  <a:srgbClr val="F1A800"/>
                </a:solidFill>
                <a:latin typeface="Calibri"/>
                <a:cs typeface="Calibri"/>
              </a:rPr>
              <a:t>JARVIS  •  Adaptive Questioning · Duplicate Detection · Priority Allocation &amp; Routing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595"/>
              </a:spcBef>
              <a:tabLst>
                <a:tab pos="2892425" algn="l"/>
              </a:tabLst>
            </a:pPr>
            <a:r>
              <a:rPr sz="1950" i="1" dirty="0">
                <a:solidFill>
                  <a:srgbClr val="CADBFB"/>
                </a:solidFill>
                <a:latin typeface="Calibri"/>
                <a:cs typeface="Calibri"/>
              </a:rPr>
              <a:t>Prototype needs clinical validation, privacy safeguards &amp; authorization before 108 integration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525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</TotalTime>
  <Words>879</Words>
  <Application>Microsoft Office PowerPoint</Application>
  <PresentationFormat>Custom</PresentationFormat>
  <Paragraphs>189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Calibri</vt:lpstr>
      <vt:lpstr>Cambria</vt:lpstr>
      <vt:lpstr>Office Theme</vt:lpstr>
      <vt:lpstr>PowerPoint Presentation</vt:lpstr>
      <vt:lpstr>PowerPoint Presentation</vt:lpstr>
      <vt:lpstr>Adaptive Questioning &amp; Priority</vt:lpstr>
      <vt:lpstr>Duplicate Emergency Call Detection</vt:lpstr>
      <vt:lpstr>Allocation &amp; Hospital Routing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“INTELLATHON -26</dc:title>
  <dc:creator>TAMIZHAN KAVIN</dc:creator>
  <cp:keywords>DAHW7_AMIU4,BAEiBvnHsjQ</cp:keywords>
  <cp:lastModifiedBy>Sakthi prani</cp:lastModifiedBy>
  <cp:revision>3</cp:revision>
  <dcterms:created xsi:type="dcterms:W3CDTF">2026-10-14T10:24:48Z</dcterms:created>
  <dcterms:modified xsi:type="dcterms:W3CDTF">2026-10-14T13:20:39Z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2026-10-07T00:00:00Z</vt:filetime>
  </property>
  <property fmtid="{D5CDD505-2E9C-101B-9397-08002B2CF9AE}" pid="4" name="Creator">
    <vt:lpwstr>Canva</vt:lpwstr>
  </property>
  <property fmtid="{D5CDD505-2E9C-101B-9397-08002B2CF9AE}" pid="5" name="LastSaved">
    <vt:filetime>2026-10-14T00:00:00Z</vt:filetime>
  </property>
  <property fmtid="{D5CDD505-2E9C-101B-9397-08002B2CF9AE}" pid="6" name="Producer">
    <vt:lpwstr>Canva</vt:lpwstr>
  </property>
</Properties>
</file>